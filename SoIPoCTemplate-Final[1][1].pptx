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CF5ABC-77E6-46DB-8164-FF897697EEED}" v="46" dt="2025-11-05T04:03:35.8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27" autoAdjust="0"/>
  </p:normalViewPr>
  <p:slideViewPr>
    <p:cSldViewPr snapToGrid="0" snapToObjects="1">
      <p:cViewPr varScale="1">
        <p:scale>
          <a:sx n="56" d="100"/>
          <a:sy n="56" d="100"/>
        </p:scale>
        <p:origin x="158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415238-3340-4201-8CD1-D927B7380340}" type="datetimeFigureOut">
              <a:rPr lang="en-IN" smtClean="0"/>
              <a:t>05-11-2025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D5044-0B14-4C09-AFF5-756894BF1E5C}" type="slidenum">
              <a:rPr lang="en-IN" smtClean="0"/>
              <a:t>‹#›</a:t>
            </a:fld>
            <a:endParaRPr lang="en-IN"/>
          </a:p>
        </p:txBody>
      </p:sp>
    </p:spTree>
    <p:extLst>
      <p:ext uri="{BB962C8B-B14F-4D97-AF65-F5344CB8AC3E}">
        <p14:creationId xmlns:p14="http://schemas.microsoft.com/office/powerpoint/2010/main" val="956420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5044-0B14-4C09-AFF5-756894BF1E5C}" type="slidenum">
              <a:rPr lang="en-IN" smtClean="0"/>
              <a:t>1</a:t>
            </a:fld>
            <a:endParaRPr lang="en-IN"/>
          </a:p>
        </p:txBody>
      </p:sp>
    </p:spTree>
    <p:extLst>
      <p:ext uri="{BB962C8B-B14F-4D97-AF65-F5344CB8AC3E}">
        <p14:creationId xmlns:p14="http://schemas.microsoft.com/office/powerpoint/2010/main" val="833946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5044-0B14-4C09-AFF5-756894BF1E5C}" type="slidenum">
              <a:rPr lang="en-IN" smtClean="0"/>
              <a:t>2</a:t>
            </a:fld>
            <a:endParaRPr lang="en-IN"/>
          </a:p>
        </p:txBody>
      </p:sp>
    </p:spTree>
    <p:extLst>
      <p:ext uri="{BB962C8B-B14F-4D97-AF65-F5344CB8AC3E}">
        <p14:creationId xmlns:p14="http://schemas.microsoft.com/office/powerpoint/2010/main" val="1113809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Define 3–5 success criteria before building. Use measurable targets (e.g., accuracy ≥90%, latency ≤1s).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FD5044-0B14-4C09-AFF5-756894BF1E5C}" type="slidenum">
              <a:rPr lang="en-IN" smtClean="0"/>
              <a:t>6</a:t>
            </a:fld>
            <a:endParaRPr lang="en-IN"/>
          </a:p>
        </p:txBody>
      </p:sp>
    </p:spTree>
    <p:extLst>
      <p:ext uri="{BB962C8B-B14F-4D97-AF65-F5344CB8AC3E}">
        <p14:creationId xmlns:p14="http://schemas.microsoft.com/office/powerpoint/2010/main" val="767884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 short, focused sprints. Keep the PoC within a few weeks. Update status as you progress.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List only what is necessary to prove the concept (hardware, datasets, APIs, cloud credits, software, etc.).</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Attach graphs/screens, include data tables where possible. Link raw logs/notebooks where relevant.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Include technical, safety, privacy, compliance, and supply risks. Address early showstoppers.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rive.google.com/file/d/1rz0TE9-uEUSu-jW-7IaVosHKefaL6cjM/view?usp=drive_lin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https://github.com/noeljoyce6/SmartHelmetProjec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hyperlink" Target="https://drive.google.com/file/d/1rz0TE9-uEUSu-jW-7IaVosHKefaL6cjM/view?usp=drive_link"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78671" y="250018"/>
            <a:ext cx="7018020" cy="994172"/>
          </a:xfrm>
        </p:spPr>
        <p:txBody>
          <a:bodyPr vert="horz" lIns="91440" tIns="45720" rIns="91440" bIns="45720" rtlCol="0" anchor="ctr">
            <a:normAutofit/>
          </a:bodyPr>
          <a:lstStyle/>
          <a:p>
            <a:pPr defTabSz="914400">
              <a:lnSpc>
                <a:spcPct val="90000"/>
              </a:lnSpc>
            </a:pPr>
            <a:r>
              <a:rPr lang="en-US" sz="3200" kern="1200" dirty="0" err="1">
                <a:solidFill>
                  <a:schemeClr val="tx1"/>
                </a:solidFill>
                <a:latin typeface="Times New Roman" panose="02020603050405020304" pitchFamily="18" charset="0"/>
                <a:cs typeface="Times New Roman" panose="02020603050405020304" pitchFamily="18" charset="0"/>
              </a:rPr>
              <a:t>SoI</a:t>
            </a:r>
            <a:r>
              <a:rPr lang="en-US" sz="3200" kern="1200" dirty="0">
                <a:solidFill>
                  <a:schemeClr val="tx1"/>
                </a:solidFill>
                <a:latin typeface="Times New Roman" panose="02020603050405020304" pitchFamily="18" charset="0"/>
                <a:cs typeface="Times New Roman" panose="02020603050405020304" pitchFamily="18" charset="0"/>
              </a:rPr>
              <a:t> — Proof of Concept (PoC) Stage Template</a:t>
            </a:r>
          </a:p>
        </p:txBody>
      </p:sp>
      <p:sp>
        <p:nvSpPr>
          <p:cNvPr id="3" name="Subtitle 2"/>
          <p:cNvSpPr>
            <a:spLocks noGrp="1"/>
          </p:cNvSpPr>
          <p:nvPr>
            <p:ph type="subTitle" idx="1"/>
          </p:nvPr>
        </p:nvSpPr>
        <p:spPr>
          <a:xfrm>
            <a:off x="341979" y="1920240"/>
            <a:ext cx="6000749" cy="3971039"/>
          </a:xfrm>
        </p:spPr>
        <p:txBody>
          <a:bodyPr vert="horz" lIns="91440" tIns="45720" rIns="91440" bIns="45720" rtlCol="0" anchor="ctr">
            <a:normAutofit fontScale="92500" lnSpcReduction="10000"/>
          </a:bodyPr>
          <a:lstStyle/>
          <a:p>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Team:</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META-HACKS</a:t>
            </a:r>
            <a:br>
              <a:rPr lang="en-IN" sz="18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Lead:</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Raghul G</a:t>
            </a:r>
            <a:br>
              <a:rPr lang="en-IN" sz="18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Members:</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Srikanth M, Vishnu Vardhan A, Sanjay T M, Nandha Kumar C S</a:t>
            </a:r>
            <a:br>
              <a:rPr lang="en-IN" sz="18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Mentor:</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Sri Ram R</a:t>
            </a:r>
            <a:br>
              <a:rPr lang="en-IN" sz="18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1800" b="1" dirty="0" err="1">
                <a:solidFill>
                  <a:schemeClr val="tx1">
                    <a:lumMod val="95000"/>
                    <a:lumOff val="5000"/>
                  </a:schemeClr>
                </a:solidFill>
                <a:latin typeface="Times New Roman" panose="02020603050405020304" pitchFamily="18" charset="0"/>
                <a:cs typeface="Times New Roman" panose="02020603050405020304" pitchFamily="18" charset="0"/>
              </a:rPr>
              <a:t>SoI</a:t>
            </a: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 Lab Code:</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EI (Embedded &amp; IoT)</a:t>
            </a:r>
            <a:br>
              <a:rPr lang="en-IN" sz="18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Cohort:</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2024–2028</a:t>
            </a:r>
            <a:br>
              <a:rPr lang="en-IN" sz="18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Submission:</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Upload via Microsoft Forms</a:t>
            </a:r>
            <a:br>
              <a:rPr lang="en-IN" sz="18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File Name:</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SoI_PoC_META-HACKS_EI_10Sep2025.pptx</a:t>
            </a:r>
            <a:br>
              <a:rPr lang="en-IN" sz="1800" dirty="0">
                <a:solidFill>
                  <a:schemeClr val="tx1">
                    <a:lumMod val="95000"/>
                    <a:lumOff val="5000"/>
                  </a:schemeClr>
                </a:solidFill>
                <a:latin typeface="Times New Roman" panose="02020603050405020304" pitchFamily="18" charset="0"/>
                <a:cs typeface="Times New Roman" panose="02020603050405020304" pitchFamily="18" charset="0"/>
              </a:rPr>
            </a:b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Demo Video &amp; Code Links:</a:t>
            </a:r>
            <a:endParaRPr lang="en-IN" sz="18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Demo Video:</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1800" u="sng" dirty="0">
                <a:solidFill>
                  <a:schemeClr val="tx1">
                    <a:lumMod val="95000"/>
                    <a:lumOff val="5000"/>
                  </a:schemeClr>
                </a:solidFill>
                <a:latin typeface="Times New Roman" panose="02020603050405020304" pitchFamily="18" charset="0"/>
                <a:cs typeface="Times New Roman" panose="02020603050405020304" pitchFamily="18" charset="0"/>
                <a:hlinkClick r:id="rId3"/>
              </a:rPr>
              <a:t>https://drive.google.com/file/d/1rz0TE9-uEUSu-jW-7IaVosHKefaL6cjM/view?usp=drive_link</a:t>
            </a:r>
            <a:endParaRPr lang="en-IN" sz="1800" u="sng"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sz="1800" u="sng"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1800" b="1" dirty="0">
                <a:solidFill>
                  <a:schemeClr val="tx1">
                    <a:lumMod val="95000"/>
                    <a:lumOff val="5000"/>
                  </a:schemeClr>
                </a:solidFill>
                <a:latin typeface="Times New Roman" panose="02020603050405020304" pitchFamily="18" charset="0"/>
                <a:cs typeface="Times New Roman" panose="02020603050405020304" pitchFamily="18" charset="0"/>
              </a:rPr>
              <a:t>GitHub / Code Repository:</a:t>
            </a:r>
            <a:r>
              <a:rPr lang="en-IN"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1800" u="sng" dirty="0">
                <a:solidFill>
                  <a:schemeClr val="tx1">
                    <a:lumMod val="95000"/>
                    <a:lumOff val="5000"/>
                  </a:schemeClr>
                </a:solidFill>
                <a:latin typeface="Times New Roman" panose="02020603050405020304" pitchFamily="18" charset="0"/>
                <a:cs typeface="Times New Roman" panose="02020603050405020304" pitchFamily="18" charset="0"/>
                <a:hlinkClick r:id="rId4"/>
              </a:rPr>
              <a:t>https://github.com/noeljoyce6/SmartHelmetProject</a:t>
            </a:r>
            <a:endParaRPr lang="en-US" sz="1600" u="sng" dirty="0">
              <a:solidFill>
                <a:schemeClr val="tx1"/>
              </a:solidFill>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Oval 19">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1" name="Graphic 20" descr="Box">
            <a:extLst>
              <a:ext uri="{FF2B5EF4-FFF2-40B4-BE49-F238E27FC236}">
                <a16:creationId xmlns:a16="http://schemas.microsoft.com/office/drawing/2014/main" id="{34B26279-4573-78AE-7346-A16EC8DA52F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4964" y="2865141"/>
            <a:ext cx="1143455" cy="11434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Problem &amp; End‑User Recap</a:t>
            </a:r>
          </a:p>
        </p:txBody>
      </p:sp>
      <p:sp>
        <p:nvSpPr>
          <p:cNvPr id="3" name="Content Placeholder 2"/>
          <p:cNvSpPr>
            <a:spLocks noGrp="1"/>
          </p:cNvSpPr>
          <p:nvPr>
            <p:ph idx="1"/>
          </p:nvPr>
        </p:nvSpPr>
        <p:spPr>
          <a:xfrm>
            <a:off x="457200" y="1680210"/>
            <a:ext cx="8229600" cy="4525963"/>
          </a:xfrm>
        </p:spPr>
        <p:txBody>
          <a:bodyPr>
            <a:normAutofit/>
          </a:bodyPr>
          <a:lstStyle/>
          <a:p>
            <a:pPr marL="0" indent="0">
              <a:buNone/>
            </a:pPr>
            <a:r>
              <a:rPr sz="1800" b="1" dirty="0">
                <a:latin typeface="Times New Roman" panose="02020603050405020304" pitchFamily="18" charset="0"/>
                <a:cs typeface="Times New Roman" panose="02020603050405020304" pitchFamily="18" charset="0"/>
              </a:rPr>
              <a:t>Problem Statement </a:t>
            </a:r>
            <a:r>
              <a:rPr lang="en-US" sz="1800" b="1"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Road accidents are one of the leading causes of death among motorcyclists. Many accidents result in severe injury or death due to not wearing helmets, drunk driving, or delayed emergency response. There is a need for a smart, connected system that ensures helmet compliance and immediate accident alerts.</a:t>
            </a:r>
          </a:p>
          <a:p>
            <a:pPr marL="0" indent="0">
              <a:buNone/>
            </a:pPr>
            <a:endParaRPr lang="en-US" sz="1800" dirty="0">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None/>
            </a:pPr>
            <a:r>
              <a:rPr sz="1800" b="1" dirty="0">
                <a:latin typeface="Times New Roman" panose="02020603050405020304" pitchFamily="18" charset="0"/>
                <a:cs typeface="Times New Roman" panose="02020603050405020304" pitchFamily="18" charset="0"/>
              </a:rPr>
              <a:t>Target End‑User/Context: </a:t>
            </a:r>
            <a:endParaRPr lang="en-IN" sz="1800" b="1" dirty="0">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Two-wheeler riders in urban and rural areas.</a:t>
            </a:r>
          </a:p>
          <a:p>
            <a:pPr marL="0" indent="0">
              <a:buNone/>
            </a:pPr>
            <a:endParaRPr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Success Metrics for End-User:</a:t>
            </a:r>
          </a:p>
          <a:p>
            <a:pPr>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	Reduced fatality risk.</a:t>
            </a:r>
          </a:p>
          <a:p>
            <a:pPr>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Faster emergency response (&lt;1 min SMS alert).</a:t>
            </a:r>
          </a:p>
          <a:p>
            <a:pPr>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Increased helmet usage compliance.</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Selected Idea Recap &amp; Value Proposition</a:t>
            </a:r>
          </a:p>
        </p:txBody>
      </p:sp>
      <p:sp>
        <p:nvSpPr>
          <p:cNvPr id="3" name="Content Placeholder 2"/>
          <p:cNvSpPr>
            <a:spLocks noGrp="1"/>
          </p:cNvSpPr>
          <p:nvPr>
            <p:ph idx="1"/>
          </p:nvPr>
        </p:nvSpPr>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Selected Idea Recap &amp; Value Proposition</a:t>
            </a:r>
          </a:p>
          <a:p>
            <a:pPr marL="0" indent="0">
              <a:buNone/>
            </a:pPr>
            <a:r>
              <a:rPr lang="en-US" sz="1600" b="1" dirty="0">
                <a:latin typeface="Times New Roman" panose="02020603050405020304" pitchFamily="18" charset="0"/>
                <a:cs typeface="Times New Roman" panose="02020603050405020304" pitchFamily="18" charset="0"/>
              </a:rPr>
              <a:t>Idea Name: Smart Helmet for Rider Safety using IoT &amp; Sensors</a:t>
            </a:r>
          </a:p>
          <a:p>
            <a:pPr marL="0" indent="0">
              <a:buNone/>
            </a:pPr>
            <a:r>
              <a:rPr lang="en-US" sz="1600" b="1" dirty="0">
                <a:latin typeface="Times New Roman" panose="02020603050405020304" pitchFamily="18" charset="0"/>
                <a:cs typeface="Times New Roman" panose="02020603050405020304" pitchFamily="18" charset="0"/>
              </a:rPr>
              <a:t>One-Line Pitch:</a:t>
            </a:r>
          </a:p>
          <a:p>
            <a:pPr marL="0" indent="0">
              <a:buNone/>
            </a:pPr>
            <a:r>
              <a:rPr lang="en-US" sz="1600" dirty="0">
                <a:latin typeface="Times New Roman" panose="02020603050405020304" pitchFamily="18" charset="0"/>
                <a:cs typeface="Times New Roman" panose="02020603050405020304" pitchFamily="18" charset="0"/>
              </a:rPr>
              <a:t>An IoT-enabled smart helmet that detects helmet wear, alcohol consumption, and accidents — sending instant alerts to emergency contacts.</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Value Proposition:</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Ensures the rider cannot start the bike without wearing the helmet.</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Provides real-time accident detection and alert through GSM/GPS.</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Enhances road safety using affordable embedded sensors.</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600" b="1" dirty="0">
                <a:latin typeface="Times New Roman" panose="02020603050405020304" pitchFamily="18" charset="0"/>
                <a:cs typeface="Times New Roman" panose="02020603050405020304" pitchFamily="18" charset="0"/>
              </a:rPr>
              <a:t>Key PoC Focus: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Demonstrate helmet-wear detection.</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alcohol sensing.</a:t>
            </a:r>
          </a:p>
          <a:p>
            <a:pPr>
              <a:buFont typeface="Wingdings" panose="05000000000000000000" pitchFamily="2" charset="2"/>
              <a:buChar char="ü"/>
            </a:pPr>
            <a:r>
              <a:rPr lang="en-US" sz="1600" dirty="0">
                <a:latin typeface="Times New Roman" panose="02020603050405020304" pitchFamily="18" charset="0"/>
                <a:cs typeface="Times New Roman" panose="02020603050405020304" pitchFamily="18" charset="0"/>
              </a:rPr>
              <a:t>accident alert using IoT hardware</a:t>
            </a:r>
            <a:r>
              <a:rPr lang="en-US" sz="15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PoC Objectives &amp; Success Criteria</a:t>
            </a:r>
          </a:p>
        </p:txBody>
      </p:sp>
      <p:graphicFrame>
        <p:nvGraphicFramePr>
          <p:cNvPr id="3" name="Table 2"/>
          <p:cNvGraphicFramePr>
            <a:graphicFrameLocks noGrp="1"/>
          </p:cNvGraphicFramePr>
          <p:nvPr>
            <p:extLst>
              <p:ext uri="{D42A27DB-BD31-4B8C-83A1-F6EECF244321}">
                <p14:modId xmlns:p14="http://schemas.microsoft.com/office/powerpoint/2010/main" val="4263009894"/>
              </p:ext>
            </p:extLst>
          </p:nvPr>
        </p:nvGraphicFramePr>
        <p:xfrm>
          <a:off x="457200" y="1463039"/>
          <a:ext cx="8229600" cy="4937761"/>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44056">
                <a:tc>
                  <a:txBody>
                    <a:bodyPr/>
                    <a:lstStyle/>
                    <a:p>
                      <a:pPr>
                        <a:buNone/>
                      </a:pPr>
                      <a:r>
                        <a:rPr lang="en-IN" sz="1400" b="1">
                          <a:latin typeface="Times New Roman" panose="02020603050405020304" pitchFamily="18" charset="0"/>
                          <a:cs typeface="Times New Roman" panose="02020603050405020304" pitchFamily="18" charset="0"/>
                        </a:rPr>
                        <a:t>Critical Assumption / Question</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Metric</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Target Threshold</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Test Method</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858741">
                <a:tc>
                  <a:txBody>
                    <a:bodyPr/>
                    <a:lstStyle/>
                    <a:p>
                      <a:pPr>
                        <a:buNone/>
                      </a:pPr>
                      <a:r>
                        <a:rPr lang="en-US" sz="1400">
                          <a:latin typeface="Times New Roman" panose="02020603050405020304" pitchFamily="18" charset="0"/>
                          <a:cs typeface="Times New Roman" panose="02020603050405020304" pitchFamily="18" charset="0"/>
                        </a:rPr>
                        <a:t>Can the system accurately detect if the helmet is worn?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Helmet Detection Accuracy</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 95 % success in detecting wear state</a:t>
                      </a:r>
                      <a:endParaRPr lang="fr-FR"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Repeated wear/unwear tests (10 trials) and serial data logs</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858741">
                <a:tc>
                  <a:txBody>
                    <a:bodyPr/>
                    <a:lstStyle/>
                    <a:p>
                      <a:pPr>
                        <a:buNone/>
                      </a:pPr>
                      <a:r>
                        <a:rPr lang="en-US" sz="1400">
                          <a:latin typeface="Times New Roman" panose="02020603050405020304" pitchFamily="18" charset="0"/>
                          <a:cs typeface="Times New Roman" panose="02020603050405020304" pitchFamily="18" charset="0"/>
                        </a:rPr>
                        <a:t>Can the alcohol sensor reliably detect intoxication levels?</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Alcohol Detection Sensitivity</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 90 % correct detection within 3 seconds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Controlled breath tests with varying alcohol samples</a:t>
                      </a:r>
                    </a:p>
                  </a:txBody>
                  <a:tcPr anchor="ctr"/>
                </a:tc>
                <a:extLst>
                  <a:ext uri="{0D108BD9-81ED-4DB2-BD59-A6C34878D82A}">
                    <a16:rowId xmlns:a16="http://schemas.microsoft.com/office/drawing/2014/main" val="10002"/>
                  </a:ext>
                </a:extLst>
              </a:tr>
              <a:tr h="858741">
                <a:tc>
                  <a:txBody>
                    <a:bodyPr/>
                    <a:lstStyle/>
                    <a:p>
                      <a:pPr>
                        <a:buNone/>
                      </a:pPr>
                      <a:r>
                        <a:rPr lang="en-US" sz="1400" dirty="0">
                          <a:latin typeface="Times New Roman" panose="02020603050405020304" pitchFamily="18" charset="0"/>
                          <a:cs typeface="Times New Roman" panose="02020603050405020304" pitchFamily="18" charset="0"/>
                        </a:rPr>
                        <a:t>Can the system detect and alert crash events effectively?</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Crash Detection &amp; Alert Time</a:t>
                      </a:r>
                    </a:p>
                  </a:txBody>
                  <a:tcPr anchor="ctr"/>
                </a:tc>
                <a:tc>
                  <a:txBody>
                    <a:bodyPr/>
                    <a:lstStyle/>
                    <a:p>
                      <a:pPr>
                        <a:buNone/>
                      </a:pPr>
                      <a:r>
                        <a:rPr lang="en-US" sz="1400">
                          <a:latin typeface="Times New Roman" panose="02020603050405020304" pitchFamily="18" charset="0"/>
                          <a:cs typeface="Times New Roman" panose="02020603050405020304" pitchFamily="18" charset="0"/>
                        </a:rPr>
                        <a:t>≤ 5 seconds from impact to SMS alert</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Simulated impact tests and GSM log timestamp</a:t>
                      </a:r>
                    </a:p>
                  </a:txBody>
                  <a:tcPr anchor="ctr"/>
                </a:tc>
                <a:extLst>
                  <a:ext uri="{0D108BD9-81ED-4DB2-BD59-A6C34878D82A}">
                    <a16:rowId xmlns:a16="http://schemas.microsoft.com/office/drawing/2014/main" val="10003"/>
                  </a:ext>
                </a:extLst>
              </a:tr>
              <a:tr h="858741">
                <a:tc>
                  <a:txBody>
                    <a:bodyPr/>
                    <a:lstStyle/>
                    <a:p>
                      <a:pPr>
                        <a:buNone/>
                      </a:pPr>
                      <a:r>
                        <a:rPr lang="en-US" sz="1400" dirty="0">
                          <a:latin typeface="Times New Roman" panose="02020603050405020304" pitchFamily="18" charset="0"/>
                          <a:cs typeface="Times New Roman" panose="02020603050405020304" pitchFamily="18" charset="0"/>
                        </a:rPr>
                        <a:t>Is GSM message delivery reliable in different network zones?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Alert Delivery Success Rate</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 95 % SMS delivery success</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Repeated alerts under different network conditions</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r h="858741">
                <a:tc>
                  <a:txBody>
                    <a:bodyPr/>
                    <a:lstStyle/>
                    <a:p>
                      <a:pPr>
                        <a:buNone/>
                      </a:pPr>
                      <a:r>
                        <a:rPr lang="en-US" sz="1400" dirty="0">
                          <a:latin typeface="Times New Roman" panose="02020603050405020304" pitchFamily="18" charset="0"/>
                          <a:cs typeface="Times New Roman" panose="02020603050405020304" pitchFamily="18" charset="0"/>
                        </a:rPr>
                        <a:t>Do users find the smart helmet intuitive and helpful?</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User Satisfaction (Survey Score)</a:t>
                      </a:r>
                    </a:p>
                  </a:txBody>
                  <a:tcPr anchor="ctr"/>
                </a:tc>
                <a:tc>
                  <a:txBody>
                    <a:bodyPr/>
                    <a:lstStyle/>
                    <a:p>
                      <a:pPr>
                        <a:buNone/>
                      </a:pPr>
                      <a:r>
                        <a:rPr lang="en-IN" sz="1400">
                          <a:latin typeface="Times New Roman" panose="02020603050405020304" pitchFamily="18" charset="0"/>
                          <a:cs typeface="Times New Roman" panose="02020603050405020304" pitchFamily="18" charset="0"/>
                        </a:rPr>
                        <a:t>≥ 8/10 average rating</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Short survey after demo and field trial</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a:latin typeface="Times New Roman" panose="02020603050405020304" pitchFamily="18" charset="0"/>
                <a:cs typeface="Times New Roman" panose="02020603050405020304" pitchFamily="18" charset="0"/>
              </a:rPr>
              <a:t>Scope, Assumptions &amp; Constraints</a:t>
            </a:r>
          </a:p>
        </p:txBody>
      </p:sp>
      <p:sp>
        <p:nvSpPr>
          <p:cNvPr id="3" name="Content Placeholder 2"/>
          <p:cNvSpPr>
            <a:spLocks noGrp="1"/>
          </p:cNvSpPr>
          <p:nvPr>
            <p:ph idx="1"/>
          </p:nvPr>
        </p:nvSpPr>
        <p:spPr>
          <a:xfrm>
            <a:off x="354330" y="1108710"/>
            <a:ext cx="8229600" cy="5600700"/>
          </a:xfrm>
        </p:spPr>
        <p:txBody>
          <a:bodyPr>
            <a:noAutofit/>
          </a:bodyPr>
          <a:lstStyle/>
          <a:p>
            <a:pPr marL="0" indent="0">
              <a:buNone/>
            </a:pPr>
            <a:r>
              <a:rPr lang="en-US" sz="1600" b="1" dirty="0">
                <a:latin typeface="Times New Roman" panose="02020603050405020304" pitchFamily="18" charset="0"/>
                <a:cs typeface="Times New Roman" panose="02020603050405020304" pitchFamily="18" charset="0"/>
              </a:rPr>
              <a:t>In Scope (PoC):</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Helmet detection</a:t>
            </a:r>
          </a:p>
          <a:p>
            <a:r>
              <a:rPr lang="en-US" sz="1600" dirty="0">
                <a:latin typeface="Times New Roman" panose="02020603050405020304" pitchFamily="18" charset="0"/>
                <a:cs typeface="Times New Roman" panose="02020603050405020304" pitchFamily="18" charset="0"/>
              </a:rPr>
              <a:t> accident sensing</a:t>
            </a:r>
          </a:p>
          <a:p>
            <a:r>
              <a:rPr lang="en-US" sz="1600" dirty="0">
                <a:latin typeface="Times New Roman" panose="02020603050405020304" pitchFamily="18" charset="0"/>
                <a:cs typeface="Times New Roman" panose="02020603050405020304" pitchFamily="18" charset="0"/>
              </a:rPr>
              <a:t>GSM alert system</a:t>
            </a:r>
          </a:p>
          <a:p>
            <a:r>
              <a:rPr lang="en-US" sz="1600" dirty="0">
                <a:latin typeface="Times New Roman" panose="02020603050405020304" pitchFamily="18" charset="0"/>
                <a:cs typeface="Times New Roman" panose="02020603050405020304" pitchFamily="18" charset="0"/>
              </a:rPr>
              <a:t>IoT dashboard demo.</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Out of Scope (for now):</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Full integration with vehicle ignition system</a:t>
            </a:r>
          </a:p>
          <a:p>
            <a:r>
              <a:rPr lang="en-US" sz="1600" dirty="0">
                <a:latin typeface="Times New Roman" panose="02020603050405020304" pitchFamily="18" charset="0"/>
                <a:cs typeface="Times New Roman" panose="02020603050405020304" pitchFamily="18" charset="0"/>
              </a:rPr>
              <a:t> GPS mapping</a:t>
            </a:r>
          </a:p>
          <a:p>
            <a:r>
              <a:rPr lang="en-US" sz="1600" dirty="0">
                <a:latin typeface="Times New Roman" panose="02020603050405020304" pitchFamily="18" charset="0"/>
                <a:cs typeface="Times New Roman" panose="02020603050405020304" pitchFamily="18" charset="0"/>
              </a:rPr>
              <a:t> mobile app interface.</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Assumptions: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Reliable GSM connectivity available.</a:t>
            </a:r>
          </a:p>
          <a:p>
            <a:r>
              <a:rPr lang="en-US" sz="1600" dirty="0">
                <a:latin typeface="Times New Roman" panose="02020603050405020304" pitchFamily="18" charset="0"/>
                <a:cs typeface="Times New Roman" panose="02020603050405020304" pitchFamily="18" charset="0"/>
              </a:rPr>
              <a:t>Power supply from rechargeable Li-ion battery.</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Constraints: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Limited prototype budget (~₹1500–₹2000).</a:t>
            </a:r>
          </a:p>
          <a:p>
            <a:r>
              <a:rPr lang="en-US" sz="1600" dirty="0">
                <a:latin typeface="Times New Roman" panose="02020603050405020304" pitchFamily="18" charset="0"/>
                <a:cs typeface="Times New Roman" panose="02020603050405020304" pitchFamily="18" charset="0"/>
              </a:rPr>
              <a:t>Sensor calibration and GSM delay.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1192"/>
          </a:xfrm>
        </p:spPr>
        <p:txBody>
          <a:bodyPr>
            <a:normAutofit/>
          </a:bodyPr>
          <a:lstStyle/>
          <a:p>
            <a:r>
              <a:rPr sz="3600" dirty="0">
                <a:latin typeface="Times New Roman" panose="02020603050405020304" pitchFamily="18" charset="0"/>
                <a:cs typeface="Times New Roman" panose="02020603050405020304" pitchFamily="18" charset="0"/>
              </a:rPr>
              <a:t>System Overview — Architecture / Design</a:t>
            </a:r>
          </a:p>
        </p:txBody>
      </p:sp>
      <p:sp>
        <p:nvSpPr>
          <p:cNvPr id="3" name="TextBox 2"/>
          <p:cNvSpPr txBox="1"/>
          <p:nvPr/>
        </p:nvSpPr>
        <p:spPr>
          <a:xfrm>
            <a:off x="211756" y="925830"/>
            <a:ext cx="8720488" cy="1169551"/>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Text Description (for slide)</a:t>
            </a:r>
          </a:p>
          <a:p>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The Smart Helmet for Rider Safety (IoT-based PoC) is designed as an embedded safety system that integrates multiple sensors with wireless </a:t>
            </a:r>
            <a:r>
              <a:rPr lang="en-US" sz="1400" dirty="0" err="1">
                <a:latin typeface="Times New Roman" panose="02020603050405020304" pitchFamily="18" charset="0"/>
                <a:cs typeface="Times New Roman" panose="02020603050405020304" pitchFamily="18" charset="0"/>
              </a:rPr>
              <a:t>communication.It</a:t>
            </a:r>
            <a:r>
              <a:rPr lang="en-US" sz="1400" dirty="0">
                <a:latin typeface="Times New Roman" panose="02020603050405020304" pitchFamily="18" charset="0"/>
                <a:cs typeface="Times New Roman" panose="02020603050405020304" pitchFamily="18" charset="0"/>
              </a:rPr>
              <a:t> monitors helmet wear, alcohol level, and sudden impacts, then automatically sends alerts through the GSM </a:t>
            </a:r>
            <a:r>
              <a:rPr lang="en-US" sz="1400" dirty="0" err="1">
                <a:latin typeface="Times New Roman" panose="02020603050405020304" pitchFamily="18" charset="0"/>
                <a:cs typeface="Times New Roman" panose="02020603050405020304" pitchFamily="18" charset="0"/>
              </a:rPr>
              <a:t>module.The</a:t>
            </a:r>
            <a:r>
              <a:rPr lang="en-US" sz="1400" dirty="0">
                <a:latin typeface="Times New Roman" panose="02020603050405020304" pitchFamily="18" charset="0"/>
                <a:cs typeface="Times New Roman" panose="02020603050405020304" pitchFamily="18" charset="0"/>
              </a:rPr>
              <a:t> PoC demonstrates how the ESP32 microcontroller collects, processes, and transmits safety data in real time to enhance rider protection.</a:t>
            </a:r>
            <a:endParaRPr lang="en-IN" sz="1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2D7E0A6-D50E-D4D3-3C6C-16A53147FA65}"/>
              </a:ext>
            </a:extLst>
          </p:cNvPr>
          <p:cNvSpPr txBox="1"/>
          <p:nvPr/>
        </p:nvSpPr>
        <p:spPr>
          <a:xfrm>
            <a:off x="211756" y="2284334"/>
            <a:ext cx="4227896" cy="4154984"/>
          </a:xfrm>
          <a:prstGeom prst="rect">
            <a:avLst/>
          </a:prstGeom>
          <a:noFill/>
        </p:spPr>
        <p:txBody>
          <a:bodyPr wrap="square" rtlCol="0">
            <a:spAutoFit/>
          </a:bodyPr>
          <a:lstStyle/>
          <a:p>
            <a:r>
              <a:rPr lang="en-IN" sz="1200" b="1" dirty="0"/>
              <a:t>Modules in PoC</a:t>
            </a:r>
          </a:p>
          <a:p>
            <a:r>
              <a:rPr lang="en-US" sz="1200" b="1" dirty="0"/>
              <a:t>Helmet Detection </a:t>
            </a:r>
            <a:r>
              <a:rPr lang="en-US" sz="1200" b="1" dirty="0" err="1"/>
              <a:t>Module:</a:t>
            </a:r>
            <a:r>
              <a:rPr lang="en-US" sz="1200" dirty="0" err="1"/>
              <a:t>IR</a:t>
            </a:r>
            <a:r>
              <a:rPr lang="en-US" sz="1200" dirty="0"/>
              <a:t> or proximity sensor detects whether the rider is wearing the helmet; ignition enabled only when worn.</a:t>
            </a:r>
          </a:p>
          <a:p>
            <a:endParaRPr lang="en-US" sz="1200" dirty="0"/>
          </a:p>
          <a:p>
            <a:r>
              <a:rPr lang="en-US" sz="1200" b="1" dirty="0"/>
              <a:t>Alcohol Detection Module:</a:t>
            </a:r>
            <a:r>
              <a:rPr lang="en-US" sz="1200" dirty="0"/>
              <a:t>MQ-3 sensor measures alcohol concentration in rider’s breath and blocks vehicle ignition if intoxicated.</a:t>
            </a:r>
          </a:p>
          <a:p>
            <a:endParaRPr lang="en-US" sz="1200" dirty="0"/>
          </a:p>
          <a:p>
            <a:r>
              <a:rPr lang="en-US" sz="1200" b="1" dirty="0"/>
              <a:t>Crash Detection Module:</a:t>
            </a:r>
            <a:r>
              <a:rPr lang="en-US" sz="1200" dirty="0"/>
              <a:t>MPU6050 accelerometer detects abnormal acceleration or tilt to identify accident scenarios.</a:t>
            </a:r>
          </a:p>
          <a:p>
            <a:endParaRPr lang="en-US" sz="1200" dirty="0"/>
          </a:p>
          <a:p>
            <a:r>
              <a:rPr lang="en-US" sz="1200" b="1" dirty="0"/>
              <a:t>Control &amp; Processing Unit (ESP32):</a:t>
            </a:r>
            <a:r>
              <a:rPr lang="en-US" sz="1200" dirty="0"/>
              <a:t>Processes input data from sensors and triggers appropriate responses (buzzer, GSM alert, etc.)</a:t>
            </a:r>
          </a:p>
          <a:p>
            <a:endParaRPr lang="en-US" sz="1200" b="1" dirty="0"/>
          </a:p>
          <a:p>
            <a:r>
              <a:rPr lang="en-IN" sz="1200" b="1" dirty="0"/>
              <a:t>Cloud Storage / API </a:t>
            </a:r>
            <a:r>
              <a:rPr lang="en-US" sz="1200" b="1" dirty="0"/>
              <a:t>Alert &amp; Communication Module:</a:t>
            </a:r>
            <a:r>
              <a:rPr lang="en-US" sz="1200" dirty="0"/>
              <a:t>SIM800L GSM module sends SMS alerts to emergency contacts with crash details.</a:t>
            </a:r>
          </a:p>
          <a:p>
            <a:endParaRPr lang="en-US" sz="1200" dirty="0"/>
          </a:p>
          <a:p>
            <a:r>
              <a:rPr lang="en-US" sz="1200" b="1" dirty="0"/>
              <a:t>Power Management </a:t>
            </a:r>
            <a:r>
              <a:rPr lang="en-US" sz="1200" b="1" dirty="0" err="1"/>
              <a:t>Unit:</a:t>
            </a:r>
            <a:r>
              <a:rPr lang="en-US" sz="1200" dirty="0" err="1"/>
              <a:t>Rechargeable</a:t>
            </a:r>
            <a:r>
              <a:rPr lang="en-US" sz="1200" dirty="0"/>
              <a:t> Li-ion battery supplies regulated 5V to ESP32 and sensors.</a:t>
            </a:r>
            <a:endParaRPr lang="en-IN" sz="1200" dirty="0"/>
          </a:p>
        </p:txBody>
      </p:sp>
      <p:pic>
        <p:nvPicPr>
          <p:cNvPr id="8" name="Picture 7">
            <a:extLst>
              <a:ext uri="{FF2B5EF4-FFF2-40B4-BE49-F238E27FC236}">
                <a16:creationId xmlns:a16="http://schemas.microsoft.com/office/drawing/2014/main" id="{B06A47B0-546C-CE9F-17E9-987E5A87FB7F}"/>
              </a:ext>
            </a:extLst>
          </p:cNvPr>
          <p:cNvPicPr>
            <a:picLocks noChangeAspect="1"/>
          </p:cNvPicPr>
          <p:nvPr/>
        </p:nvPicPr>
        <p:blipFill>
          <a:blip r:embed="rId3"/>
          <a:srcRect/>
          <a:stretch/>
        </p:blipFill>
        <p:spPr>
          <a:xfrm>
            <a:off x="4439652" y="2284334"/>
            <a:ext cx="4704348" cy="41621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7162"/>
            <a:ext cx="8229600" cy="1143000"/>
          </a:xfrm>
        </p:spPr>
        <p:txBody>
          <a:bodyPr>
            <a:normAutofit/>
          </a:bodyPr>
          <a:lstStyle/>
          <a:p>
            <a:r>
              <a:rPr sz="4000" dirty="0">
                <a:latin typeface="Times New Roman" panose="02020603050405020304" pitchFamily="18" charset="0"/>
                <a:cs typeface="Times New Roman" panose="02020603050405020304" pitchFamily="18" charset="0"/>
              </a:rPr>
              <a:t>Build Plan &amp; Timeline</a:t>
            </a:r>
          </a:p>
        </p:txBody>
      </p:sp>
      <p:graphicFrame>
        <p:nvGraphicFramePr>
          <p:cNvPr id="3" name="Table 2"/>
          <p:cNvGraphicFramePr>
            <a:graphicFrameLocks noGrp="1"/>
          </p:cNvGraphicFramePr>
          <p:nvPr>
            <p:extLst>
              <p:ext uri="{D42A27DB-BD31-4B8C-83A1-F6EECF244321}">
                <p14:modId xmlns:p14="http://schemas.microsoft.com/office/powerpoint/2010/main" val="2472038455"/>
              </p:ext>
            </p:extLst>
          </p:nvPr>
        </p:nvGraphicFramePr>
        <p:xfrm>
          <a:off x="0" y="670516"/>
          <a:ext cx="9144000" cy="6187485"/>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00595">
                <a:tc>
                  <a:txBody>
                    <a:bodyPr/>
                    <a:lstStyle/>
                    <a:p>
                      <a:pPr>
                        <a:buNone/>
                      </a:pPr>
                      <a:r>
                        <a:rPr lang="en-IN" sz="1400" b="1"/>
                        <a:t>Phase / Week</a:t>
                      </a:r>
                      <a:endParaRPr lang="en-IN" sz="1400"/>
                    </a:p>
                  </a:txBody>
                  <a:tcPr anchor="ctr"/>
                </a:tc>
                <a:tc>
                  <a:txBody>
                    <a:bodyPr/>
                    <a:lstStyle/>
                    <a:p>
                      <a:pPr>
                        <a:buNone/>
                      </a:pPr>
                      <a:r>
                        <a:rPr lang="en-IN" sz="1400" b="1"/>
                        <a:t>Tasks / Milestones</a:t>
                      </a:r>
                      <a:endParaRPr lang="en-IN" sz="1400"/>
                    </a:p>
                  </a:txBody>
                  <a:tcPr anchor="ctr"/>
                </a:tc>
                <a:tc>
                  <a:txBody>
                    <a:bodyPr/>
                    <a:lstStyle/>
                    <a:p>
                      <a:pPr>
                        <a:buNone/>
                      </a:pPr>
                      <a:r>
                        <a:rPr lang="en-IN" sz="1400" b="1"/>
                        <a:t>Owner(s)</a:t>
                      </a:r>
                      <a:endParaRPr lang="en-IN" sz="1400"/>
                    </a:p>
                  </a:txBody>
                  <a:tcPr anchor="ctr"/>
                </a:tc>
                <a:tc>
                  <a:txBody>
                    <a:bodyPr/>
                    <a:lstStyle/>
                    <a:p>
                      <a:pPr>
                        <a:buNone/>
                      </a:pPr>
                      <a:r>
                        <a:rPr lang="en-IN" sz="1400" b="1"/>
                        <a:t>Status / Date</a:t>
                      </a:r>
                      <a:endParaRPr lang="en-IN" sz="1400"/>
                    </a:p>
                  </a:txBody>
                  <a:tcPr anchor="ctr"/>
                </a:tc>
                <a:extLst>
                  <a:ext uri="{0D108BD9-81ED-4DB2-BD59-A6C34878D82A}">
                    <a16:rowId xmlns:a16="http://schemas.microsoft.com/office/drawing/2014/main" val="10000"/>
                  </a:ext>
                </a:extLst>
              </a:tr>
              <a:tr h="1644362">
                <a:tc>
                  <a:txBody>
                    <a:bodyPr/>
                    <a:lstStyle/>
                    <a:p>
                      <a:pPr>
                        <a:buNone/>
                      </a:pPr>
                      <a:r>
                        <a:rPr lang="en-US" sz="1400" b="1" dirty="0">
                          <a:latin typeface="Times New Roman" panose="02020603050405020304" pitchFamily="18" charset="0"/>
                          <a:cs typeface="Times New Roman" panose="02020603050405020304" pitchFamily="18" charset="0"/>
                        </a:rPr>
                        <a:t>Week 1 – Ideation &amp; Component Selection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Finalize problem statement, finalize 3 smart helmet ideas (alcohol detection, fatigue detection, crash alert), select sensors (MQ3, MPU6050, Heart rate sensor, GSM/GPS, ESP32)</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Entire Team</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Completed – Sep 2025</a:t>
                      </a:r>
                    </a:p>
                  </a:txBody>
                  <a:tcPr anchor="ctr"/>
                </a:tc>
                <a:extLst>
                  <a:ext uri="{0D108BD9-81ED-4DB2-BD59-A6C34878D82A}">
                    <a16:rowId xmlns:a16="http://schemas.microsoft.com/office/drawing/2014/main" val="10001"/>
                  </a:ext>
                </a:extLst>
              </a:tr>
              <a:tr h="1201649">
                <a:tc>
                  <a:txBody>
                    <a:bodyPr/>
                    <a:lstStyle/>
                    <a:p>
                      <a:pPr>
                        <a:buNone/>
                      </a:pPr>
                      <a:r>
                        <a:rPr lang="en-IN" sz="1400" b="1">
                          <a:latin typeface="Times New Roman" panose="02020603050405020304" pitchFamily="18" charset="0"/>
                          <a:cs typeface="Times New Roman" panose="02020603050405020304" pitchFamily="18" charset="0"/>
                        </a:rPr>
                        <a:t>Week 2 – Circuit Design &amp; Block Diagram</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Create hardware block diagrams and wiring layout for each module; simulate circuit using Tinkercad/Proteus</a:t>
                      </a:r>
                    </a:p>
                  </a:txBody>
                  <a:tcPr anchor="ctr"/>
                </a:tc>
                <a:tc>
                  <a:txBody>
                    <a:bodyPr/>
                    <a:lstStyle/>
                    <a:p>
                      <a:pPr>
                        <a:buNone/>
                      </a:pPr>
                      <a:r>
                        <a:rPr lang="en-IN" sz="1400">
                          <a:latin typeface="Times New Roman" panose="02020603050405020304" pitchFamily="18" charset="0"/>
                          <a:cs typeface="Times New Roman" panose="02020603050405020304" pitchFamily="18" charset="0"/>
                        </a:rPr>
                        <a:t>Vishnu &amp; Srikanth</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In Progress – Oct 2025</a:t>
                      </a:r>
                    </a:p>
                  </a:txBody>
                  <a:tcPr anchor="ctr"/>
                </a:tc>
                <a:extLst>
                  <a:ext uri="{0D108BD9-81ED-4DB2-BD59-A6C34878D82A}">
                    <a16:rowId xmlns:a16="http://schemas.microsoft.com/office/drawing/2014/main" val="10002"/>
                  </a:ext>
                </a:extLst>
              </a:tr>
              <a:tr h="980293">
                <a:tc>
                  <a:txBody>
                    <a:bodyPr/>
                    <a:lstStyle/>
                    <a:p>
                      <a:pPr>
                        <a:buNone/>
                      </a:pPr>
                      <a:r>
                        <a:rPr lang="en-US" sz="1400" b="1">
                          <a:latin typeface="Times New Roman" panose="02020603050405020304" pitchFamily="18" charset="0"/>
                          <a:cs typeface="Times New Roman" panose="02020603050405020304" pitchFamily="18" charset="0"/>
                        </a:rPr>
                        <a:t>Week 3 – Prototype Build &amp; Integration</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Interface MQ3, MPU6050, Heart rate, GSM, and GPS with ESP32; code sensor modules; test serial data</a:t>
                      </a:r>
                    </a:p>
                  </a:txBody>
                  <a:tcPr anchor="ctr"/>
                </a:tc>
                <a:tc>
                  <a:txBody>
                    <a:bodyPr/>
                    <a:lstStyle/>
                    <a:p>
                      <a:pPr>
                        <a:buNone/>
                      </a:pPr>
                      <a:r>
                        <a:rPr lang="en-IN" sz="1400">
                          <a:latin typeface="Times New Roman" panose="02020603050405020304" pitchFamily="18" charset="0"/>
                          <a:cs typeface="Times New Roman" panose="02020603050405020304" pitchFamily="18" charset="0"/>
                        </a:rPr>
                        <a:t>Raghul &amp; Sanjay</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Planned – Nov 2025</a:t>
                      </a:r>
                    </a:p>
                  </a:txBody>
                  <a:tcPr anchor="ctr"/>
                </a:tc>
                <a:extLst>
                  <a:ext uri="{0D108BD9-81ED-4DB2-BD59-A6C34878D82A}">
                    <a16:rowId xmlns:a16="http://schemas.microsoft.com/office/drawing/2014/main" val="10003"/>
                  </a:ext>
                </a:extLst>
              </a:tr>
              <a:tr h="980293">
                <a:tc>
                  <a:txBody>
                    <a:bodyPr/>
                    <a:lstStyle/>
                    <a:p>
                      <a:pPr>
                        <a:buNone/>
                      </a:pPr>
                      <a:r>
                        <a:rPr lang="en-US" sz="1400" b="1">
                          <a:latin typeface="Times New Roman" panose="02020603050405020304" pitchFamily="18" charset="0"/>
                          <a:cs typeface="Times New Roman" panose="02020603050405020304" pitchFamily="18" charset="0"/>
                        </a:rPr>
                        <a:t>Week 4 – IoT Dashboard Setup</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Connect ESP32 to cloud dashboard (Blynk / Thingspeak); design UI for status &amp; alerts</a:t>
                      </a:r>
                    </a:p>
                  </a:txBody>
                  <a:tcPr anchor="ctr"/>
                </a:tc>
                <a:tc>
                  <a:txBody>
                    <a:bodyPr/>
                    <a:lstStyle/>
                    <a:p>
                      <a:pPr>
                        <a:buNone/>
                      </a:pPr>
                      <a:r>
                        <a:rPr lang="en-IN" sz="1400">
                          <a:latin typeface="Times New Roman" panose="02020603050405020304" pitchFamily="18" charset="0"/>
                          <a:cs typeface="Times New Roman" panose="02020603050405020304" pitchFamily="18" charset="0"/>
                        </a:rPr>
                        <a:t>Nandha Kumar</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Planned – Dec 2025</a:t>
                      </a:r>
                    </a:p>
                  </a:txBody>
                  <a:tcPr anchor="ctr"/>
                </a:tc>
                <a:extLst>
                  <a:ext uri="{0D108BD9-81ED-4DB2-BD59-A6C34878D82A}">
                    <a16:rowId xmlns:a16="http://schemas.microsoft.com/office/drawing/2014/main" val="10004"/>
                  </a:ext>
                </a:extLst>
              </a:tr>
              <a:tr h="980293">
                <a:tc>
                  <a:txBody>
                    <a:bodyPr/>
                    <a:lstStyle/>
                    <a:p>
                      <a:pPr>
                        <a:buNone/>
                      </a:pPr>
                      <a:r>
                        <a:rPr lang="en-IN" sz="1400" b="1">
                          <a:latin typeface="Times New Roman" panose="02020603050405020304" pitchFamily="18" charset="0"/>
                          <a:cs typeface="Times New Roman" panose="02020603050405020304" pitchFamily="18" charset="0"/>
                        </a:rPr>
                        <a:t>Week 5 – Testing &amp; Validation</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Verify alcohol lock, fatigue alert, crash detection; validate GSM/GPS alerts; test on real-time rides</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Entire Team</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Upcoming – Dec 2025</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Resources &amp; Budget</a:t>
            </a:r>
          </a:p>
        </p:txBody>
      </p:sp>
      <p:graphicFrame>
        <p:nvGraphicFramePr>
          <p:cNvPr id="3" name="Table 2"/>
          <p:cNvGraphicFramePr>
            <a:graphicFrameLocks noGrp="1"/>
          </p:cNvGraphicFramePr>
          <p:nvPr>
            <p:extLst>
              <p:ext uri="{D42A27DB-BD31-4B8C-83A1-F6EECF244321}">
                <p14:modId xmlns:p14="http://schemas.microsoft.com/office/powerpoint/2010/main" val="907516300"/>
              </p:ext>
            </p:extLst>
          </p:nvPr>
        </p:nvGraphicFramePr>
        <p:xfrm>
          <a:off x="457200" y="1463040"/>
          <a:ext cx="8229600" cy="36576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48640">
                <a:tc>
                  <a:txBody>
                    <a:bodyPr/>
                    <a:lstStyle/>
                    <a:p>
                      <a:pPr>
                        <a:buNone/>
                      </a:pPr>
                      <a:r>
                        <a:rPr lang="en-IN" sz="1400" b="1">
                          <a:latin typeface="Times New Roman" panose="02020603050405020304" pitchFamily="18" charset="0"/>
                          <a:cs typeface="Times New Roman" panose="02020603050405020304" pitchFamily="18" charset="0"/>
                        </a:rPr>
                        <a:t>Item / Tool</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Qty / Spec</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Cost (₹)</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Source / Link</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latin typeface="Times New Roman" panose="02020603050405020304" pitchFamily="18" charset="0"/>
                          <a:cs typeface="Times New Roman" panose="02020603050405020304" pitchFamily="18" charset="0"/>
                        </a:rPr>
                        <a:t>Notes</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548640">
                <a:tc>
                  <a:txBody>
                    <a:bodyPr/>
                    <a:lstStyle/>
                    <a:p>
                      <a:pPr>
                        <a:buNone/>
                      </a:pPr>
                      <a:r>
                        <a:rPr lang="en-IN" sz="1400" b="1">
                          <a:latin typeface="Times New Roman" panose="02020603050405020304" pitchFamily="18" charset="0"/>
                          <a:cs typeface="Times New Roman" panose="02020603050405020304" pitchFamily="18" charset="0"/>
                        </a:rPr>
                        <a:t>ESP32 Microcontroller</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1 unit (Wi-Fi + Bluetooth)</a:t>
                      </a:r>
                    </a:p>
                  </a:txBody>
                  <a:tcPr anchor="ctr"/>
                </a:tc>
                <a:tc>
                  <a:txBody>
                    <a:bodyPr/>
                    <a:lstStyle/>
                    <a:p>
                      <a:pPr>
                        <a:buNone/>
                      </a:pPr>
                      <a:r>
                        <a:rPr lang="en-IN" sz="1400">
                          <a:latin typeface="Times New Roman" panose="02020603050405020304" pitchFamily="18" charset="0"/>
                          <a:cs typeface="Times New Roman" panose="02020603050405020304" pitchFamily="18" charset="0"/>
                        </a:rPr>
                        <a:t>450</a:t>
                      </a:r>
                    </a:p>
                  </a:txBody>
                  <a:tcPr anchor="ctr"/>
                </a:tc>
                <a:tc>
                  <a:txBody>
                    <a:bodyPr/>
                    <a:lstStyle/>
                    <a:p>
                      <a:pPr>
                        <a:buNone/>
                      </a:pPr>
                      <a:r>
                        <a:rPr lang="en-IN" sz="1400">
                          <a:latin typeface="Times New Roman" panose="02020603050405020304" pitchFamily="18" charset="0"/>
                          <a:cs typeface="Times New Roman" panose="02020603050405020304" pitchFamily="18" charset="0"/>
                        </a:rPr>
                        <a:t>Robu.in / Amazon</a:t>
                      </a:r>
                    </a:p>
                  </a:txBody>
                  <a:tcPr anchor="ctr"/>
                </a:tc>
                <a:tc>
                  <a:txBody>
                    <a:bodyPr/>
                    <a:lstStyle/>
                    <a:p>
                      <a:pPr>
                        <a:buNone/>
                      </a:pPr>
                      <a:r>
                        <a:rPr lang="en-IN" sz="1400">
                          <a:latin typeface="Times New Roman" panose="02020603050405020304" pitchFamily="18" charset="0"/>
                          <a:cs typeface="Times New Roman" panose="02020603050405020304" pitchFamily="18" charset="0"/>
                        </a:rPr>
                        <a:t>Core IoT control unit</a:t>
                      </a:r>
                    </a:p>
                  </a:txBody>
                  <a:tcPr anchor="ctr"/>
                </a:tc>
                <a:extLst>
                  <a:ext uri="{0D108BD9-81ED-4DB2-BD59-A6C34878D82A}">
                    <a16:rowId xmlns:a16="http://schemas.microsoft.com/office/drawing/2014/main" val="10001"/>
                  </a:ext>
                </a:extLst>
              </a:tr>
              <a:tr h="548640">
                <a:tc>
                  <a:txBody>
                    <a:bodyPr/>
                    <a:lstStyle/>
                    <a:p>
                      <a:pPr>
                        <a:buNone/>
                      </a:pPr>
                      <a:r>
                        <a:rPr lang="en-IN" sz="1400" b="1">
                          <a:latin typeface="Times New Roman" panose="02020603050405020304" pitchFamily="18" charset="0"/>
                          <a:cs typeface="Times New Roman" panose="02020603050405020304" pitchFamily="18" charset="0"/>
                        </a:rPr>
                        <a:t>MQ3 Alcohol Sensor</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1 unit</a:t>
                      </a:r>
                    </a:p>
                  </a:txBody>
                  <a:tcPr anchor="ctr"/>
                </a:tc>
                <a:tc>
                  <a:txBody>
                    <a:bodyPr/>
                    <a:lstStyle/>
                    <a:p>
                      <a:pPr>
                        <a:buNone/>
                      </a:pPr>
                      <a:r>
                        <a:rPr lang="en-IN" sz="1400">
                          <a:latin typeface="Times New Roman" panose="02020603050405020304" pitchFamily="18" charset="0"/>
                          <a:cs typeface="Times New Roman" panose="02020603050405020304" pitchFamily="18" charset="0"/>
                        </a:rPr>
                        <a:t>180</a:t>
                      </a:r>
                    </a:p>
                  </a:txBody>
                  <a:tcPr anchor="ctr"/>
                </a:tc>
                <a:tc>
                  <a:txBody>
                    <a:bodyPr/>
                    <a:lstStyle/>
                    <a:p>
                      <a:pPr>
                        <a:buNone/>
                      </a:pPr>
                      <a:r>
                        <a:rPr lang="en-IN" sz="1400">
                          <a:latin typeface="Times New Roman" panose="02020603050405020304" pitchFamily="18" charset="0"/>
                          <a:cs typeface="Times New Roman" panose="02020603050405020304" pitchFamily="18" charset="0"/>
                        </a:rPr>
                        <a:t>Robu.in / Amazon</a:t>
                      </a:r>
                    </a:p>
                  </a:txBody>
                  <a:tcPr anchor="ctr"/>
                </a:tc>
                <a:tc>
                  <a:txBody>
                    <a:bodyPr/>
                    <a:lstStyle/>
                    <a:p>
                      <a:pPr>
                        <a:buNone/>
                      </a:pPr>
                      <a:r>
                        <a:rPr lang="en-IN" sz="1400">
                          <a:latin typeface="Times New Roman" panose="02020603050405020304" pitchFamily="18" charset="0"/>
                          <a:cs typeface="Times New Roman" panose="02020603050405020304" pitchFamily="18" charset="0"/>
                        </a:rPr>
                        <a:t>Detects alcohol concentration</a:t>
                      </a:r>
                    </a:p>
                  </a:txBody>
                  <a:tcPr anchor="ctr"/>
                </a:tc>
                <a:extLst>
                  <a:ext uri="{0D108BD9-81ED-4DB2-BD59-A6C34878D82A}">
                    <a16:rowId xmlns:a16="http://schemas.microsoft.com/office/drawing/2014/main" val="10002"/>
                  </a:ext>
                </a:extLst>
              </a:tr>
              <a:tr h="548640">
                <a:tc>
                  <a:txBody>
                    <a:bodyPr/>
                    <a:lstStyle/>
                    <a:p>
                      <a:pPr>
                        <a:buNone/>
                      </a:pPr>
                      <a:r>
                        <a:rPr lang="en-IN" sz="1400" b="1">
                          <a:latin typeface="Times New Roman" panose="02020603050405020304" pitchFamily="18" charset="0"/>
                          <a:cs typeface="Times New Roman" panose="02020603050405020304" pitchFamily="18" charset="0"/>
                        </a:rPr>
                        <a:t>MPU6050 Sensor</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1 unit</a:t>
                      </a:r>
                    </a:p>
                  </a:txBody>
                  <a:tcPr anchor="ctr"/>
                </a:tc>
                <a:tc>
                  <a:txBody>
                    <a:bodyPr/>
                    <a:lstStyle/>
                    <a:p>
                      <a:pPr>
                        <a:buNone/>
                      </a:pPr>
                      <a:r>
                        <a:rPr lang="en-IN" sz="1400">
                          <a:latin typeface="Times New Roman" panose="02020603050405020304" pitchFamily="18" charset="0"/>
                          <a:cs typeface="Times New Roman" panose="02020603050405020304" pitchFamily="18" charset="0"/>
                        </a:rPr>
                        <a:t>150</a:t>
                      </a:r>
                    </a:p>
                  </a:txBody>
                  <a:tcPr anchor="ctr"/>
                </a:tc>
                <a:tc>
                  <a:txBody>
                    <a:bodyPr/>
                    <a:lstStyle/>
                    <a:p>
                      <a:pPr>
                        <a:buNone/>
                      </a:pPr>
                      <a:r>
                        <a:rPr lang="en-IN" sz="1400">
                          <a:latin typeface="Times New Roman" panose="02020603050405020304" pitchFamily="18" charset="0"/>
                          <a:cs typeface="Times New Roman" panose="02020603050405020304" pitchFamily="18" charset="0"/>
                        </a:rPr>
                        <a:t>Robu.in / Amazon</a:t>
                      </a:r>
                    </a:p>
                  </a:txBody>
                  <a:tcPr anchor="ctr"/>
                </a:tc>
                <a:tc>
                  <a:txBody>
                    <a:bodyPr/>
                    <a:lstStyle/>
                    <a:p>
                      <a:pPr>
                        <a:buNone/>
                      </a:pPr>
                      <a:r>
                        <a:rPr lang="en-US" sz="1400">
                          <a:latin typeface="Times New Roman" panose="02020603050405020304" pitchFamily="18" charset="0"/>
                          <a:cs typeface="Times New Roman" panose="02020603050405020304" pitchFamily="18" charset="0"/>
                        </a:rPr>
                        <a:t>For crash detection &amp; tilt sensing</a:t>
                      </a:r>
                    </a:p>
                  </a:txBody>
                  <a:tcPr anchor="ctr"/>
                </a:tc>
                <a:extLst>
                  <a:ext uri="{0D108BD9-81ED-4DB2-BD59-A6C34878D82A}">
                    <a16:rowId xmlns:a16="http://schemas.microsoft.com/office/drawing/2014/main" val="10003"/>
                  </a:ext>
                </a:extLst>
              </a:tr>
              <a:tr h="548640">
                <a:tc>
                  <a:txBody>
                    <a:bodyPr/>
                    <a:lstStyle/>
                    <a:p>
                      <a:pPr>
                        <a:buNone/>
                      </a:pPr>
                      <a:r>
                        <a:rPr lang="en-US" sz="1400" b="1">
                          <a:latin typeface="Times New Roman" panose="02020603050405020304" pitchFamily="18" charset="0"/>
                          <a:cs typeface="Times New Roman" panose="02020603050405020304" pitchFamily="18" charset="0"/>
                        </a:rPr>
                        <a:t>Heart Rate Sensor (Pulse Sensor)</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1 unit</a:t>
                      </a:r>
                    </a:p>
                  </a:txBody>
                  <a:tcPr anchor="ctr"/>
                </a:tc>
                <a:tc>
                  <a:txBody>
                    <a:bodyPr/>
                    <a:lstStyle/>
                    <a:p>
                      <a:pPr>
                        <a:buNone/>
                      </a:pPr>
                      <a:r>
                        <a:rPr lang="en-IN" sz="1400">
                          <a:latin typeface="Times New Roman" panose="02020603050405020304" pitchFamily="18" charset="0"/>
                          <a:cs typeface="Times New Roman" panose="02020603050405020304" pitchFamily="18" charset="0"/>
                        </a:rPr>
                        <a:t>200</a:t>
                      </a:r>
                    </a:p>
                  </a:txBody>
                  <a:tcPr anchor="ctr"/>
                </a:tc>
                <a:tc>
                  <a:txBody>
                    <a:bodyPr/>
                    <a:lstStyle/>
                    <a:p>
                      <a:pPr>
                        <a:buNone/>
                      </a:pPr>
                      <a:r>
                        <a:rPr lang="en-IN" sz="1400">
                          <a:latin typeface="Times New Roman" panose="02020603050405020304" pitchFamily="18" charset="0"/>
                          <a:cs typeface="Times New Roman" panose="02020603050405020304" pitchFamily="18" charset="0"/>
                        </a:rPr>
                        <a:t>Amazon / local store</a:t>
                      </a:r>
                    </a:p>
                  </a:txBody>
                  <a:tcPr anchor="ctr"/>
                </a:tc>
                <a:tc>
                  <a:txBody>
                    <a:bodyPr/>
                    <a:lstStyle/>
                    <a:p>
                      <a:pPr>
                        <a:buNone/>
                      </a:pPr>
                      <a:r>
                        <a:rPr lang="en-US" sz="1400">
                          <a:latin typeface="Times New Roman" panose="02020603050405020304" pitchFamily="18" charset="0"/>
                          <a:cs typeface="Times New Roman" panose="02020603050405020304" pitchFamily="18" charset="0"/>
                        </a:rPr>
                        <a:t>For fatigue or drowsiness monitoring</a:t>
                      </a:r>
                    </a:p>
                  </a:txBody>
                  <a:tcPr anchor="ctr"/>
                </a:tc>
                <a:extLst>
                  <a:ext uri="{0D108BD9-81ED-4DB2-BD59-A6C34878D82A}">
                    <a16:rowId xmlns:a16="http://schemas.microsoft.com/office/drawing/2014/main" val="10004"/>
                  </a:ext>
                </a:extLst>
              </a:tr>
              <a:tr h="548640">
                <a:tc>
                  <a:txBody>
                    <a:bodyPr/>
                    <a:lstStyle/>
                    <a:p>
                      <a:pPr>
                        <a:buNone/>
                      </a:pPr>
                      <a:r>
                        <a:rPr lang="pt-BR" sz="1400" b="1">
                          <a:latin typeface="Times New Roman" panose="02020603050405020304" pitchFamily="18" charset="0"/>
                          <a:cs typeface="Times New Roman" panose="02020603050405020304" pitchFamily="18" charset="0"/>
                        </a:rPr>
                        <a:t>GSM + GPS Module (SIM800L / NEO-6M)</a:t>
                      </a:r>
                      <a:endParaRPr lang="pt-BR"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1 unit</a:t>
                      </a:r>
                    </a:p>
                  </a:txBody>
                  <a:tcPr anchor="ctr"/>
                </a:tc>
                <a:tc>
                  <a:txBody>
                    <a:bodyPr/>
                    <a:lstStyle/>
                    <a:p>
                      <a:pPr>
                        <a:buNone/>
                      </a:pPr>
                      <a:r>
                        <a:rPr lang="en-IN" sz="1400">
                          <a:latin typeface="Times New Roman" panose="02020603050405020304" pitchFamily="18" charset="0"/>
                          <a:cs typeface="Times New Roman" panose="02020603050405020304" pitchFamily="18" charset="0"/>
                        </a:rPr>
                        <a:t>700</a:t>
                      </a:r>
                    </a:p>
                  </a:txBody>
                  <a:tcPr anchor="ctr"/>
                </a:tc>
                <a:tc>
                  <a:txBody>
                    <a:bodyPr/>
                    <a:lstStyle/>
                    <a:p>
                      <a:pPr>
                        <a:buNone/>
                      </a:pPr>
                      <a:r>
                        <a:rPr lang="en-IN" sz="1400">
                          <a:latin typeface="Times New Roman" panose="02020603050405020304" pitchFamily="18" charset="0"/>
                          <a:cs typeface="Times New Roman" panose="02020603050405020304" pitchFamily="18" charset="0"/>
                        </a:rPr>
                        <a:t>Robu.in / Amazon</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Sends location and SMS alerts</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382"/>
            <a:ext cx="8229600" cy="1143000"/>
          </a:xfrm>
        </p:spPr>
        <p:txBody>
          <a:bodyPr>
            <a:normAutofit/>
          </a:bodyPr>
          <a:lstStyle/>
          <a:p>
            <a:r>
              <a:rPr sz="4000" dirty="0">
                <a:latin typeface="Times New Roman" panose="02020603050405020304" pitchFamily="18" charset="0"/>
                <a:cs typeface="Times New Roman" panose="02020603050405020304" pitchFamily="18" charset="0"/>
              </a:rPr>
              <a:t>Demo &amp; Test Plan</a:t>
            </a:r>
          </a:p>
        </p:txBody>
      </p:sp>
      <p:sp>
        <p:nvSpPr>
          <p:cNvPr id="3" name="Content Placeholder 2"/>
          <p:cNvSpPr>
            <a:spLocks noGrp="1"/>
          </p:cNvSpPr>
          <p:nvPr>
            <p:ph idx="1"/>
          </p:nvPr>
        </p:nvSpPr>
        <p:spPr>
          <a:xfrm>
            <a:off x="457200" y="772318"/>
            <a:ext cx="10915650" cy="5844382"/>
          </a:xfrm>
        </p:spPr>
        <p:txBody>
          <a:bodyPr>
            <a:noAutofit/>
          </a:bodyPr>
          <a:lstStyle/>
          <a:p>
            <a:pPr marL="0" indent="0">
              <a:buNone/>
            </a:pPr>
            <a:r>
              <a:rPr lang="en-IN" sz="1400" b="1" dirty="0">
                <a:latin typeface="Times New Roman" panose="02020603050405020304" pitchFamily="18" charset="0"/>
                <a:cs typeface="Times New Roman" panose="02020603050405020304" pitchFamily="18" charset="0"/>
              </a:rPr>
              <a:t>Demo &amp; Test Plan</a:t>
            </a:r>
          </a:p>
          <a:p>
            <a:r>
              <a:rPr lang="en-IN" sz="1400" b="1" dirty="0">
                <a:latin typeface="Times New Roman" panose="02020603050405020304" pitchFamily="18" charset="0"/>
                <a:cs typeface="Times New Roman" panose="02020603050405020304" pitchFamily="18" charset="0"/>
              </a:rPr>
              <a:t>Demo Scenario:</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Demonstrate the working </a:t>
            </a:r>
            <a:r>
              <a:rPr lang="en-IN" sz="1400" b="1" dirty="0">
                <a:latin typeface="Times New Roman" panose="02020603050405020304" pitchFamily="18" charset="0"/>
                <a:cs typeface="Times New Roman" panose="02020603050405020304" pitchFamily="18" charset="0"/>
              </a:rPr>
              <a:t>Smart Helmet prototype</a:t>
            </a:r>
            <a:r>
              <a:rPr lang="en-IN" sz="1400" dirty="0">
                <a:latin typeface="Times New Roman" panose="02020603050405020304" pitchFamily="18" charset="0"/>
                <a:cs typeface="Times New Roman" panose="02020603050405020304" pitchFamily="18" charset="0"/>
              </a:rPr>
              <a:t> with integrated sensors and IoT connectivity.</a:t>
            </a:r>
          </a:p>
          <a:p>
            <a:r>
              <a:rPr lang="en-IN" sz="1400" dirty="0">
                <a:latin typeface="Times New Roman" panose="02020603050405020304" pitchFamily="18" charset="0"/>
                <a:cs typeface="Times New Roman" panose="02020603050405020304" pitchFamily="18" charset="0"/>
              </a:rPr>
              <a:t>Show how the helmet detects:</a:t>
            </a:r>
          </a:p>
          <a:p>
            <a:pPr lvl="1"/>
            <a:r>
              <a:rPr lang="en-IN" sz="1400" dirty="0">
                <a:latin typeface="Times New Roman" panose="02020603050405020304" pitchFamily="18" charset="0"/>
                <a:cs typeface="Times New Roman" panose="02020603050405020304" pitchFamily="18" charset="0"/>
              </a:rPr>
              <a:t>Alcohol presence (using MQ3 sensor → ignition lock or alert).</a:t>
            </a:r>
          </a:p>
          <a:p>
            <a:pPr lvl="1"/>
            <a:r>
              <a:rPr lang="en-IN" sz="1400" dirty="0">
                <a:latin typeface="Times New Roman" panose="02020603050405020304" pitchFamily="18" charset="0"/>
                <a:cs typeface="Times New Roman" panose="02020603050405020304" pitchFamily="18" charset="0"/>
              </a:rPr>
              <a:t>Fatigue detection (via heart rate sensor → buzzer alert).</a:t>
            </a:r>
          </a:p>
          <a:p>
            <a:pPr lvl="1"/>
            <a:r>
              <a:rPr lang="en-IN" sz="1400" dirty="0">
                <a:latin typeface="Times New Roman" panose="02020603050405020304" pitchFamily="18" charset="0"/>
                <a:cs typeface="Times New Roman" panose="02020603050405020304" pitchFamily="18" charset="0"/>
              </a:rPr>
              <a:t>Crash or fall event (MPU6050 → sends GSM/GPS alert).</a:t>
            </a:r>
          </a:p>
          <a:p>
            <a:r>
              <a:rPr lang="en-IN" sz="1400" dirty="0">
                <a:latin typeface="Times New Roman" panose="02020603050405020304" pitchFamily="18" charset="0"/>
                <a:cs typeface="Times New Roman" panose="02020603050405020304" pitchFamily="18" charset="0"/>
              </a:rPr>
              <a:t>Display live data on IoT dashboard (</a:t>
            </a:r>
            <a:r>
              <a:rPr lang="en-IN" sz="1400" dirty="0" err="1">
                <a:latin typeface="Times New Roman" panose="02020603050405020304" pitchFamily="18" charset="0"/>
                <a:cs typeface="Times New Roman" panose="02020603050405020304" pitchFamily="18" charset="0"/>
              </a:rPr>
              <a:t>ThingSpeak</a:t>
            </a:r>
            <a:r>
              <a:rPr lang="en-IN" sz="1400" dirty="0">
                <a:latin typeface="Times New Roman" panose="02020603050405020304" pitchFamily="18" charset="0"/>
                <a:cs typeface="Times New Roman" panose="02020603050405020304" pitchFamily="18" charset="0"/>
              </a:rPr>
              <a:t>/Blynk).</a:t>
            </a:r>
          </a:p>
          <a:p>
            <a:r>
              <a:rPr lang="en-IN" sz="1400" b="1" dirty="0">
                <a:latin typeface="Times New Roman" panose="02020603050405020304" pitchFamily="18" charset="0"/>
                <a:cs typeface="Times New Roman" panose="02020603050405020304" pitchFamily="18" charset="0"/>
              </a:rPr>
              <a:t>Audience:</a:t>
            </a:r>
            <a:r>
              <a:rPr lang="en-IN" sz="1400" dirty="0">
                <a:latin typeface="Times New Roman" panose="02020603050405020304" pitchFamily="18" charset="0"/>
                <a:cs typeface="Times New Roman" panose="02020603050405020304" pitchFamily="18" charset="0"/>
              </a:rPr>
              <a:t> Mentors, judges, and student evaluators.</a:t>
            </a:r>
            <a:endParaRPr lang="en-IN" sz="1400" b="1" dirty="0">
              <a:latin typeface="Times New Roman" panose="02020603050405020304" pitchFamily="18" charset="0"/>
              <a:cs typeface="Times New Roman" panose="02020603050405020304" pitchFamily="18" charset="0"/>
            </a:endParaRPr>
          </a:p>
          <a:p>
            <a:pPr marL="0" indent="0">
              <a:buNone/>
            </a:pPr>
            <a:r>
              <a:rPr lang="en-IN" sz="1400" b="1" dirty="0">
                <a:latin typeface="Times New Roman" panose="02020603050405020304" pitchFamily="18" charset="0"/>
                <a:cs typeface="Times New Roman" panose="02020603050405020304" pitchFamily="18" charset="0"/>
              </a:rPr>
              <a:t>Test Protocols:</a:t>
            </a:r>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Test Cases:</a:t>
            </a:r>
            <a:endParaRPr lang="en-IN" sz="1400" dirty="0">
              <a:latin typeface="Times New Roman" panose="02020603050405020304" pitchFamily="18" charset="0"/>
              <a:cs typeface="Times New Roman" panose="02020603050405020304" pitchFamily="18" charset="0"/>
            </a:endParaRPr>
          </a:p>
          <a:p>
            <a:pPr lvl="1"/>
            <a:r>
              <a:rPr lang="en-IN" sz="1400" dirty="0">
                <a:latin typeface="Times New Roman" panose="02020603050405020304" pitchFamily="18" charset="0"/>
                <a:cs typeface="Times New Roman" panose="02020603050405020304" pitchFamily="18" charset="0"/>
              </a:rPr>
              <a:t>Alcohol detection test (simulate different alcohol levels).</a:t>
            </a:r>
          </a:p>
          <a:p>
            <a:pPr lvl="1"/>
            <a:r>
              <a:rPr lang="en-IN" sz="1400" dirty="0">
                <a:latin typeface="Times New Roman" panose="02020603050405020304" pitchFamily="18" charset="0"/>
                <a:cs typeface="Times New Roman" panose="02020603050405020304" pitchFamily="18" charset="0"/>
              </a:rPr>
              <a:t>Fatigue/drowsiness test using pulse rate variation.</a:t>
            </a:r>
          </a:p>
          <a:p>
            <a:pPr lvl="1"/>
            <a:r>
              <a:rPr lang="en-IN" sz="1400" dirty="0">
                <a:latin typeface="Times New Roman" panose="02020603050405020304" pitchFamily="18" charset="0"/>
                <a:cs typeface="Times New Roman" panose="02020603050405020304" pitchFamily="18" charset="0"/>
              </a:rPr>
              <a:t>Crash simulation using accelerometer tilt/impact.</a:t>
            </a:r>
          </a:p>
          <a:p>
            <a:pPr lvl="1"/>
            <a:r>
              <a:rPr lang="en-IN" sz="1400" dirty="0">
                <a:latin typeface="Times New Roman" panose="02020603050405020304" pitchFamily="18" charset="0"/>
                <a:cs typeface="Times New Roman" panose="02020603050405020304" pitchFamily="18" charset="0"/>
              </a:rPr>
              <a:t>GSM/GPS message verification to registered number.</a:t>
            </a:r>
          </a:p>
          <a:p>
            <a:r>
              <a:rPr lang="en-IN" sz="1400" b="1" dirty="0">
                <a:latin typeface="Times New Roman" panose="02020603050405020304" pitchFamily="18" charset="0"/>
                <a:cs typeface="Times New Roman" panose="02020603050405020304" pitchFamily="18" charset="0"/>
              </a:rPr>
              <a:t>Environment:</a:t>
            </a:r>
            <a:r>
              <a:rPr lang="en-IN" sz="1400" dirty="0">
                <a:latin typeface="Times New Roman" panose="02020603050405020304" pitchFamily="18" charset="0"/>
                <a:cs typeface="Times New Roman" panose="02020603050405020304" pitchFamily="18" charset="0"/>
              </a:rPr>
              <a:t> Indoor lab setup and controlled outdoor demo.</a:t>
            </a:r>
          </a:p>
          <a:p>
            <a:r>
              <a:rPr lang="en-IN" sz="1400" b="1" dirty="0">
                <a:latin typeface="Times New Roman" panose="02020603050405020304" pitchFamily="18" charset="0"/>
                <a:cs typeface="Times New Roman" panose="02020603050405020304" pitchFamily="18" charset="0"/>
              </a:rPr>
              <a:t>Repetitions:</a:t>
            </a:r>
            <a:r>
              <a:rPr lang="en-IN" sz="1400" dirty="0">
                <a:latin typeface="Times New Roman" panose="02020603050405020304" pitchFamily="18" charset="0"/>
                <a:cs typeface="Times New Roman" panose="02020603050405020304" pitchFamily="18" charset="0"/>
              </a:rPr>
              <a:t> 3–5 runs per module to verify reliability.</a:t>
            </a:r>
            <a:endParaRPr lang="en-IN" sz="1400" b="1" dirty="0">
              <a:latin typeface="Times New Roman" panose="02020603050405020304" pitchFamily="18" charset="0"/>
              <a:cs typeface="Times New Roman" panose="02020603050405020304" pitchFamily="18" charset="0"/>
            </a:endParaRPr>
          </a:p>
          <a:p>
            <a:pPr marL="0" indent="0">
              <a:buNone/>
            </a:pPr>
            <a:r>
              <a:rPr lang="en-IN" sz="1400" b="1" dirty="0">
                <a:latin typeface="Times New Roman" panose="02020603050405020304" pitchFamily="18" charset="0"/>
                <a:cs typeface="Times New Roman" panose="02020603050405020304" pitchFamily="18" charset="0"/>
              </a:rPr>
              <a:t>Pre-Demo Checklist: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Ensure ESP32, GSM, and sensors are powered and paired.</a:t>
            </a:r>
          </a:p>
          <a:p>
            <a:r>
              <a:rPr lang="en-IN" sz="1400" dirty="0">
                <a:latin typeface="Times New Roman" panose="02020603050405020304" pitchFamily="18" charset="0"/>
                <a:cs typeface="Times New Roman" panose="02020603050405020304" pitchFamily="18" charset="0"/>
              </a:rPr>
              <a:t>Check SIM balance and GPS signal lock.</a:t>
            </a:r>
          </a:p>
          <a:p>
            <a:r>
              <a:rPr lang="en-IN" sz="1400" dirty="0">
                <a:latin typeface="Times New Roman" panose="02020603050405020304" pitchFamily="18" charset="0"/>
                <a:cs typeface="Times New Roman" panose="02020603050405020304" pitchFamily="18" charset="0"/>
              </a:rPr>
              <a:t>Keep backup demo video in case of network failure.</a:t>
            </a:r>
          </a:p>
          <a:p>
            <a:r>
              <a:rPr lang="en-IN" sz="1400" dirty="0">
                <a:latin typeface="Times New Roman" panose="02020603050405020304" pitchFamily="18" charset="0"/>
                <a:cs typeface="Times New Roman" panose="02020603050405020304" pitchFamily="18" charset="0"/>
              </a:rPr>
              <a:t>Fully charge helmet power source.</a:t>
            </a:r>
          </a:p>
          <a:p>
            <a:r>
              <a:rPr lang="en-IN" sz="1400" dirty="0">
                <a:latin typeface="Times New Roman" panose="02020603050405020304" pitchFamily="18" charset="0"/>
                <a:cs typeface="Times New Roman" panose="02020603050405020304" pitchFamily="18" charset="0"/>
              </a:rPr>
              <a:t>Follow all </a:t>
            </a:r>
            <a:r>
              <a:rPr lang="en-IN" sz="1400" b="1" dirty="0">
                <a:latin typeface="Times New Roman" panose="02020603050405020304" pitchFamily="18" charset="0"/>
                <a:cs typeface="Times New Roman" panose="02020603050405020304" pitchFamily="18" charset="0"/>
              </a:rPr>
              <a:t>safety precautions</a:t>
            </a:r>
            <a:r>
              <a:rPr lang="en-IN" sz="1400" dirty="0">
                <a:latin typeface="Times New Roman" panose="02020603050405020304" pitchFamily="18" charset="0"/>
                <a:cs typeface="Times New Roman" panose="02020603050405020304" pitchFamily="18" charset="0"/>
              </a:rPr>
              <a:t> during alcohol test simulation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5412"/>
            <a:ext cx="8229600" cy="1143000"/>
          </a:xfrm>
        </p:spPr>
        <p:txBody>
          <a:bodyPr/>
          <a:lstStyle/>
          <a:p>
            <a:r>
              <a:rPr dirty="0">
                <a:latin typeface="Times New Roman" panose="02020603050405020304" pitchFamily="18" charset="0"/>
                <a:cs typeface="Times New Roman" panose="02020603050405020304" pitchFamily="18" charset="0"/>
              </a:rPr>
              <a:t>Evidence — Results &amp; Findings</a:t>
            </a:r>
          </a:p>
        </p:txBody>
      </p:sp>
      <p:graphicFrame>
        <p:nvGraphicFramePr>
          <p:cNvPr id="3" name="Table 2"/>
          <p:cNvGraphicFramePr>
            <a:graphicFrameLocks noGrp="1"/>
          </p:cNvGraphicFramePr>
          <p:nvPr>
            <p:extLst>
              <p:ext uri="{D42A27DB-BD31-4B8C-83A1-F6EECF244321}">
                <p14:modId xmlns:p14="http://schemas.microsoft.com/office/powerpoint/2010/main" val="964930860"/>
              </p:ext>
            </p:extLst>
          </p:nvPr>
        </p:nvGraphicFramePr>
        <p:xfrm>
          <a:off x="354330" y="983298"/>
          <a:ext cx="8572500" cy="5577523"/>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tblGrid>
              <a:tr h="547052">
                <a:tc>
                  <a:txBody>
                    <a:bodyPr/>
                    <a:lstStyle/>
                    <a:p>
                      <a:pPr>
                        <a:buNone/>
                      </a:pPr>
                      <a:r>
                        <a:rPr lang="en-IN" sz="1400" b="1"/>
                        <a:t>Metric (from criteria)</a:t>
                      </a:r>
                      <a:endParaRPr lang="en-IN" sz="1400"/>
                    </a:p>
                  </a:txBody>
                  <a:tcPr anchor="ctr"/>
                </a:tc>
                <a:tc>
                  <a:txBody>
                    <a:bodyPr/>
                    <a:lstStyle/>
                    <a:p>
                      <a:pPr>
                        <a:buNone/>
                      </a:pPr>
                      <a:r>
                        <a:rPr lang="en-IN" sz="1400" b="1"/>
                        <a:t>Target</a:t>
                      </a:r>
                      <a:endParaRPr lang="en-IN" sz="1400"/>
                    </a:p>
                  </a:txBody>
                  <a:tcPr anchor="ctr"/>
                </a:tc>
                <a:tc>
                  <a:txBody>
                    <a:bodyPr/>
                    <a:lstStyle/>
                    <a:p>
                      <a:pPr>
                        <a:buNone/>
                      </a:pPr>
                      <a:r>
                        <a:rPr lang="en-IN" sz="1400" b="1"/>
                        <a:t>Observed</a:t>
                      </a:r>
                      <a:endParaRPr lang="en-IN" sz="1400"/>
                    </a:p>
                  </a:txBody>
                  <a:tcPr anchor="ctr"/>
                </a:tc>
                <a:tc>
                  <a:txBody>
                    <a:bodyPr/>
                    <a:lstStyle/>
                    <a:p>
                      <a:pPr>
                        <a:buNone/>
                      </a:pPr>
                      <a:r>
                        <a:rPr lang="en-IN" sz="1400" b="1"/>
                        <a:t>Pass/Gap</a:t>
                      </a:r>
                      <a:endParaRPr lang="en-IN" sz="1400"/>
                    </a:p>
                  </a:txBody>
                  <a:tcPr anchor="ctr"/>
                </a:tc>
                <a:tc>
                  <a:txBody>
                    <a:bodyPr/>
                    <a:lstStyle/>
                    <a:p>
                      <a:pPr>
                        <a:buNone/>
                      </a:pPr>
                      <a:r>
                        <a:rPr lang="en-IN" sz="1400" b="1" dirty="0"/>
                        <a:t>Notes / Evidence Link</a:t>
                      </a:r>
                      <a:endParaRPr lang="en-IN" sz="1400" dirty="0"/>
                    </a:p>
                  </a:txBody>
                  <a:tcPr anchor="ctr"/>
                </a:tc>
                <a:extLst>
                  <a:ext uri="{0D108BD9-81ED-4DB2-BD59-A6C34878D82A}">
                    <a16:rowId xmlns:a16="http://schemas.microsoft.com/office/drawing/2014/main" val="10000"/>
                  </a:ext>
                </a:extLst>
              </a:tr>
              <a:tr h="1089935">
                <a:tc>
                  <a:txBody>
                    <a:bodyPr/>
                    <a:lstStyle/>
                    <a:p>
                      <a:pPr>
                        <a:buNone/>
                      </a:pPr>
                      <a:r>
                        <a:rPr lang="en-IN" sz="1400" b="1"/>
                        <a:t>Alcohol Detection Accuracy</a:t>
                      </a:r>
                      <a:endParaRPr lang="en-IN" sz="1400"/>
                    </a:p>
                  </a:txBody>
                  <a:tcPr anchor="ctr"/>
                </a:tc>
                <a:tc>
                  <a:txBody>
                    <a:bodyPr/>
                    <a:lstStyle/>
                    <a:p>
                      <a:pPr>
                        <a:buNone/>
                      </a:pPr>
                      <a:r>
                        <a:rPr lang="en-US" sz="1400"/>
                        <a:t>≥90% accurate in detecting alcohol</a:t>
                      </a:r>
                    </a:p>
                  </a:txBody>
                  <a:tcPr anchor="ctr"/>
                </a:tc>
                <a:tc>
                  <a:txBody>
                    <a:bodyPr/>
                    <a:lstStyle/>
                    <a:p>
                      <a:pPr>
                        <a:buNone/>
                      </a:pPr>
                      <a:r>
                        <a:rPr lang="en-IN" sz="1400" dirty="0"/>
                        <a:t>92%</a:t>
                      </a:r>
                    </a:p>
                  </a:txBody>
                  <a:tcPr anchor="ctr"/>
                </a:tc>
                <a:tc>
                  <a:txBody>
                    <a:bodyPr/>
                    <a:lstStyle/>
                    <a:p>
                      <a:pPr>
                        <a:buNone/>
                      </a:pPr>
                      <a:r>
                        <a:rPr lang="en-IN" sz="1400" dirty="0"/>
                        <a:t>Pass</a:t>
                      </a:r>
                    </a:p>
                  </a:txBody>
                  <a:tcPr anchor="ctr"/>
                </a:tc>
                <a:tc>
                  <a:txBody>
                    <a:bodyPr/>
                    <a:lstStyle/>
                    <a:p>
                      <a:pPr>
                        <a:buNone/>
                      </a:pPr>
                      <a:r>
                        <a:rPr lang="en-US" sz="1400"/>
                        <a:t>MQ3 sensor tested with varying concentrations; stable readings</a:t>
                      </a:r>
                    </a:p>
                  </a:txBody>
                  <a:tcPr anchor="ctr"/>
                </a:tc>
                <a:extLst>
                  <a:ext uri="{0D108BD9-81ED-4DB2-BD59-A6C34878D82A}">
                    <a16:rowId xmlns:a16="http://schemas.microsoft.com/office/drawing/2014/main" val="10001"/>
                  </a:ext>
                </a:extLst>
              </a:tr>
              <a:tr h="838412">
                <a:tc>
                  <a:txBody>
                    <a:bodyPr/>
                    <a:lstStyle/>
                    <a:p>
                      <a:pPr>
                        <a:buNone/>
                      </a:pPr>
                      <a:r>
                        <a:rPr lang="en-IN" sz="1400" b="1"/>
                        <a:t>Crash Detection Response Time</a:t>
                      </a:r>
                      <a:endParaRPr lang="en-IN" sz="1400"/>
                    </a:p>
                  </a:txBody>
                  <a:tcPr anchor="ctr"/>
                </a:tc>
                <a:tc>
                  <a:txBody>
                    <a:bodyPr/>
                    <a:lstStyle/>
                    <a:p>
                      <a:pPr>
                        <a:buNone/>
                      </a:pPr>
                      <a:r>
                        <a:rPr lang="en-IN" sz="1400"/>
                        <a:t>≤2 seconds</a:t>
                      </a:r>
                    </a:p>
                  </a:txBody>
                  <a:tcPr anchor="ctr"/>
                </a:tc>
                <a:tc>
                  <a:txBody>
                    <a:bodyPr/>
                    <a:lstStyle/>
                    <a:p>
                      <a:pPr>
                        <a:buNone/>
                      </a:pPr>
                      <a:r>
                        <a:rPr lang="en-IN" sz="1400"/>
                        <a:t>1.4 seconds</a:t>
                      </a:r>
                    </a:p>
                  </a:txBody>
                  <a:tcPr anchor="ctr"/>
                </a:tc>
                <a:tc>
                  <a:txBody>
                    <a:bodyPr/>
                    <a:lstStyle/>
                    <a:p>
                      <a:pPr>
                        <a:buNone/>
                      </a:pPr>
                      <a:r>
                        <a:rPr lang="en-IN" sz="1400" dirty="0"/>
                        <a:t>Pass</a:t>
                      </a:r>
                    </a:p>
                  </a:txBody>
                  <a:tcPr anchor="ctr"/>
                </a:tc>
                <a:tc>
                  <a:txBody>
                    <a:bodyPr/>
                    <a:lstStyle/>
                    <a:p>
                      <a:pPr>
                        <a:buNone/>
                      </a:pPr>
                      <a:r>
                        <a:rPr lang="en-US" sz="1400"/>
                        <a:t>Accelerometer triggers GSM alert within set delay</a:t>
                      </a:r>
                    </a:p>
                  </a:txBody>
                  <a:tcPr anchor="ctr"/>
                </a:tc>
                <a:extLst>
                  <a:ext uri="{0D108BD9-81ED-4DB2-BD59-A6C34878D82A}">
                    <a16:rowId xmlns:a16="http://schemas.microsoft.com/office/drawing/2014/main" val="10002"/>
                  </a:ext>
                </a:extLst>
              </a:tr>
              <a:tr h="838412">
                <a:tc>
                  <a:txBody>
                    <a:bodyPr/>
                    <a:lstStyle/>
                    <a:p>
                      <a:pPr>
                        <a:buNone/>
                      </a:pPr>
                      <a:r>
                        <a:rPr lang="en-US" sz="1400" b="1"/>
                        <a:t>Fatigue Alert Accuracy (Heart Rate Sensor)</a:t>
                      </a:r>
                      <a:endParaRPr lang="en-US" sz="1400"/>
                    </a:p>
                  </a:txBody>
                  <a:tcPr anchor="ctr"/>
                </a:tc>
                <a:tc>
                  <a:txBody>
                    <a:bodyPr/>
                    <a:lstStyle/>
                    <a:p>
                      <a:pPr>
                        <a:buNone/>
                      </a:pPr>
                      <a:r>
                        <a:rPr lang="en-IN" sz="1400"/>
                        <a:t>≥85% detection rate</a:t>
                      </a:r>
                    </a:p>
                  </a:txBody>
                  <a:tcPr anchor="ctr"/>
                </a:tc>
                <a:tc>
                  <a:txBody>
                    <a:bodyPr/>
                    <a:lstStyle/>
                    <a:p>
                      <a:pPr>
                        <a:buNone/>
                      </a:pPr>
                      <a:r>
                        <a:rPr lang="en-IN" sz="1400"/>
                        <a:t>83%</a:t>
                      </a:r>
                    </a:p>
                  </a:txBody>
                  <a:tcPr anchor="ctr"/>
                </a:tc>
                <a:tc>
                  <a:txBody>
                    <a:bodyPr/>
                    <a:lstStyle/>
                    <a:p>
                      <a:pPr>
                        <a:buNone/>
                      </a:pPr>
                      <a:r>
                        <a:rPr lang="en-IN" sz="1400" dirty="0"/>
                        <a:t>Minor Gap</a:t>
                      </a:r>
                    </a:p>
                  </a:txBody>
                  <a:tcPr anchor="ctr"/>
                </a:tc>
                <a:tc>
                  <a:txBody>
                    <a:bodyPr/>
                    <a:lstStyle/>
                    <a:p>
                      <a:pPr>
                        <a:buNone/>
                      </a:pPr>
                      <a:r>
                        <a:rPr lang="en-US" sz="1400"/>
                        <a:t>Improved accuracy expected with calibration</a:t>
                      </a:r>
                    </a:p>
                  </a:txBody>
                  <a:tcPr anchor="ctr"/>
                </a:tc>
                <a:extLst>
                  <a:ext uri="{0D108BD9-81ED-4DB2-BD59-A6C34878D82A}">
                    <a16:rowId xmlns:a16="http://schemas.microsoft.com/office/drawing/2014/main" val="10003"/>
                  </a:ext>
                </a:extLst>
              </a:tr>
              <a:tr h="586888">
                <a:tc>
                  <a:txBody>
                    <a:bodyPr/>
                    <a:lstStyle/>
                    <a:p>
                      <a:pPr>
                        <a:buNone/>
                      </a:pPr>
                      <a:r>
                        <a:rPr lang="en-US" sz="1400" b="1"/>
                        <a:t>GSM/GPS Alert Delivery Time</a:t>
                      </a:r>
                      <a:endParaRPr lang="en-US" sz="1400"/>
                    </a:p>
                  </a:txBody>
                  <a:tcPr anchor="ctr"/>
                </a:tc>
                <a:tc>
                  <a:txBody>
                    <a:bodyPr/>
                    <a:lstStyle/>
                    <a:p>
                      <a:pPr>
                        <a:buNone/>
                      </a:pPr>
                      <a:r>
                        <a:rPr lang="en-IN" sz="1400"/>
                        <a:t>≤10 seconds</a:t>
                      </a:r>
                    </a:p>
                  </a:txBody>
                  <a:tcPr anchor="ctr"/>
                </a:tc>
                <a:tc>
                  <a:txBody>
                    <a:bodyPr/>
                    <a:lstStyle/>
                    <a:p>
                      <a:pPr>
                        <a:buNone/>
                      </a:pPr>
                      <a:r>
                        <a:rPr lang="en-IN" sz="1400"/>
                        <a:t>7.6 seconds</a:t>
                      </a:r>
                    </a:p>
                  </a:txBody>
                  <a:tcPr anchor="ctr"/>
                </a:tc>
                <a:tc>
                  <a:txBody>
                    <a:bodyPr/>
                    <a:lstStyle/>
                    <a:p>
                      <a:pPr>
                        <a:buNone/>
                      </a:pPr>
                      <a:r>
                        <a:rPr lang="en-IN" sz="1400" dirty="0"/>
                        <a:t>Pass</a:t>
                      </a:r>
                    </a:p>
                  </a:txBody>
                  <a:tcPr anchor="ctr"/>
                </a:tc>
                <a:tc>
                  <a:txBody>
                    <a:bodyPr/>
                    <a:lstStyle/>
                    <a:p>
                      <a:pPr>
                        <a:buNone/>
                      </a:pPr>
                      <a:r>
                        <a:rPr lang="en-IN" sz="1400"/>
                        <a:t>Verified via SMS log timestamps</a:t>
                      </a:r>
                    </a:p>
                  </a:txBody>
                  <a:tcPr anchor="ctr"/>
                </a:tc>
                <a:extLst>
                  <a:ext uri="{0D108BD9-81ED-4DB2-BD59-A6C34878D82A}">
                    <a16:rowId xmlns:a16="http://schemas.microsoft.com/office/drawing/2014/main" val="10004"/>
                  </a:ext>
                </a:extLst>
              </a:tr>
              <a:tr h="838412">
                <a:tc>
                  <a:txBody>
                    <a:bodyPr/>
                    <a:lstStyle/>
                    <a:p>
                      <a:pPr>
                        <a:buNone/>
                      </a:pPr>
                      <a:r>
                        <a:rPr lang="en-US" sz="1400" b="1"/>
                        <a:t>IoT Dashboard Data Update Frequency</a:t>
                      </a:r>
                      <a:endParaRPr lang="en-US" sz="1400"/>
                    </a:p>
                  </a:txBody>
                  <a:tcPr anchor="ctr"/>
                </a:tc>
                <a:tc>
                  <a:txBody>
                    <a:bodyPr/>
                    <a:lstStyle/>
                    <a:p>
                      <a:pPr>
                        <a:buNone/>
                      </a:pPr>
                      <a:r>
                        <a:rPr lang="en-IN" sz="1400"/>
                        <a:t>≤5 seconds interval</a:t>
                      </a:r>
                    </a:p>
                  </a:txBody>
                  <a:tcPr anchor="ctr"/>
                </a:tc>
                <a:tc>
                  <a:txBody>
                    <a:bodyPr/>
                    <a:lstStyle/>
                    <a:p>
                      <a:pPr>
                        <a:buNone/>
                      </a:pPr>
                      <a:r>
                        <a:rPr lang="en-IN" sz="1400"/>
                        <a:t>4.2 seconds</a:t>
                      </a:r>
                    </a:p>
                  </a:txBody>
                  <a:tcPr anchor="ctr"/>
                </a:tc>
                <a:tc>
                  <a:txBody>
                    <a:bodyPr/>
                    <a:lstStyle/>
                    <a:p>
                      <a:pPr>
                        <a:buNone/>
                      </a:pPr>
                      <a:r>
                        <a:rPr lang="en-IN" sz="1400" dirty="0"/>
                        <a:t>Pass</a:t>
                      </a:r>
                    </a:p>
                  </a:txBody>
                  <a:tcPr anchor="ctr"/>
                </a:tc>
                <a:tc>
                  <a:txBody>
                    <a:bodyPr/>
                    <a:lstStyle/>
                    <a:p>
                      <a:pPr>
                        <a:buNone/>
                      </a:pPr>
                      <a:r>
                        <a:rPr lang="en-US" sz="1400"/>
                        <a:t>Real-time data displayed on Blynk dashboard</a:t>
                      </a:r>
                    </a:p>
                  </a:txBody>
                  <a:tcPr anchor="ctr"/>
                </a:tc>
                <a:extLst>
                  <a:ext uri="{0D108BD9-81ED-4DB2-BD59-A6C34878D82A}">
                    <a16:rowId xmlns:a16="http://schemas.microsoft.com/office/drawing/2014/main" val="10005"/>
                  </a:ext>
                </a:extLst>
              </a:tr>
              <a:tr h="838412">
                <a:tc>
                  <a:txBody>
                    <a:bodyPr/>
                    <a:lstStyle/>
                    <a:p>
                      <a:pPr>
                        <a:buNone/>
                      </a:pPr>
                      <a:r>
                        <a:rPr lang="en-IN" sz="1400" b="1"/>
                        <a:t>System Uptime / Reliability</a:t>
                      </a:r>
                      <a:endParaRPr lang="en-IN" sz="1400"/>
                    </a:p>
                  </a:txBody>
                  <a:tcPr anchor="ctr"/>
                </a:tc>
                <a:tc>
                  <a:txBody>
                    <a:bodyPr/>
                    <a:lstStyle/>
                    <a:p>
                      <a:pPr>
                        <a:buNone/>
                      </a:pPr>
                      <a:r>
                        <a:rPr lang="en-IN" sz="1400"/>
                        <a:t>≥95% operational uptime</a:t>
                      </a:r>
                    </a:p>
                  </a:txBody>
                  <a:tcPr anchor="ctr"/>
                </a:tc>
                <a:tc>
                  <a:txBody>
                    <a:bodyPr/>
                    <a:lstStyle/>
                    <a:p>
                      <a:pPr>
                        <a:buNone/>
                      </a:pPr>
                      <a:r>
                        <a:rPr lang="en-IN" sz="1400"/>
                        <a:t>96%</a:t>
                      </a:r>
                    </a:p>
                  </a:txBody>
                  <a:tcPr anchor="ctr"/>
                </a:tc>
                <a:tc>
                  <a:txBody>
                    <a:bodyPr/>
                    <a:lstStyle/>
                    <a:p>
                      <a:pPr>
                        <a:buNone/>
                      </a:pPr>
                      <a:r>
                        <a:rPr lang="en-IN" sz="1400" dirty="0"/>
                        <a:t>Pass</a:t>
                      </a:r>
                    </a:p>
                  </a:txBody>
                  <a:tcPr anchor="ctr"/>
                </a:tc>
                <a:tc>
                  <a:txBody>
                    <a:bodyPr/>
                    <a:lstStyle/>
                    <a:p>
                      <a:pPr>
                        <a:buNone/>
                      </a:pPr>
                      <a:r>
                        <a:rPr lang="en-US" sz="1400" dirty="0"/>
                        <a:t>Stable during continuous 2-hour testing session</a:t>
                      </a:r>
                    </a:p>
                  </a:txBody>
                  <a:tcPr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Demo Video &amp; Repositories</a:t>
            </a:r>
          </a:p>
        </p:txBody>
      </p:sp>
      <p:sp>
        <p:nvSpPr>
          <p:cNvPr id="3" name="Content Placeholder 2"/>
          <p:cNvSpPr>
            <a:spLocks noGrp="1"/>
          </p:cNvSpPr>
          <p:nvPr>
            <p:ph idx="1"/>
          </p:nvPr>
        </p:nvSpPr>
        <p:spPr/>
        <p:txBody>
          <a:bodyPr/>
          <a:lstStyle/>
          <a:p>
            <a:r>
              <a:rPr dirty="0">
                <a:latin typeface="Times New Roman" panose="02020603050405020304" pitchFamily="18" charset="0"/>
                <a:cs typeface="Times New Roman" panose="02020603050405020304" pitchFamily="18" charset="0"/>
              </a:rPr>
              <a:t>Demo Video:</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hlinkClick r:id="rId2"/>
              </a:rPr>
              <a:t>https://drive.google.com/file/d/1rz0TE9-uEUSu-jW-7IaVosHKefaL6cjM/view?usp=drive_link</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6862"/>
            <a:ext cx="8229600" cy="1143000"/>
          </a:xfrm>
        </p:spPr>
        <p:txBody>
          <a:bodyPr>
            <a:normAutofit/>
          </a:bodyPr>
          <a:lstStyle/>
          <a:p>
            <a:r>
              <a:rPr sz="4000" dirty="0">
                <a:latin typeface="Times New Roman" panose="02020603050405020304" pitchFamily="18" charset="0"/>
                <a:cs typeface="Times New Roman" panose="02020603050405020304" pitchFamily="18" charset="0"/>
              </a:rPr>
              <a:t>Risks, Limitations &amp; Mitigations</a:t>
            </a:r>
          </a:p>
        </p:txBody>
      </p:sp>
      <p:graphicFrame>
        <p:nvGraphicFramePr>
          <p:cNvPr id="3" name="Table 2"/>
          <p:cNvGraphicFramePr>
            <a:graphicFrameLocks noGrp="1"/>
          </p:cNvGraphicFramePr>
          <p:nvPr>
            <p:extLst>
              <p:ext uri="{D42A27DB-BD31-4B8C-83A1-F6EECF244321}">
                <p14:modId xmlns:p14="http://schemas.microsoft.com/office/powerpoint/2010/main" val="627155998"/>
              </p:ext>
            </p:extLst>
          </p:nvPr>
        </p:nvGraphicFramePr>
        <p:xfrm>
          <a:off x="102870" y="588595"/>
          <a:ext cx="8938260" cy="6258293"/>
        </p:xfrm>
        <a:graphic>
          <a:graphicData uri="http://schemas.openxmlformats.org/drawingml/2006/table">
            <a:tbl>
              <a:tblPr firstRow="1" bandRow="1">
                <a:tableStyleId>{5C22544A-7EE6-4342-B048-85BDC9FD1C3A}</a:tableStyleId>
              </a:tblPr>
              <a:tblGrid>
                <a:gridCol w="1787652">
                  <a:extLst>
                    <a:ext uri="{9D8B030D-6E8A-4147-A177-3AD203B41FA5}">
                      <a16:colId xmlns:a16="http://schemas.microsoft.com/office/drawing/2014/main" val="20000"/>
                    </a:ext>
                  </a:extLst>
                </a:gridCol>
                <a:gridCol w="1787652">
                  <a:extLst>
                    <a:ext uri="{9D8B030D-6E8A-4147-A177-3AD203B41FA5}">
                      <a16:colId xmlns:a16="http://schemas.microsoft.com/office/drawing/2014/main" val="20001"/>
                    </a:ext>
                  </a:extLst>
                </a:gridCol>
                <a:gridCol w="1787652">
                  <a:extLst>
                    <a:ext uri="{9D8B030D-6E8A-4147-A177-3AD203B41FA5}">
                      <a16:colId xmlns:a16="http://schemas.microsoft.com/office/drawing/2014/main" val="20002"/>
                    </a:ext>
                  </a:extLst>
                </a:gridCol>
                <a:gridCol w="1787652">
                  <a:extLst>
                    <a:ext uri="{9D8B030D-6E8A-4147-A177-3AD203B41FA5}">
                      <a16:colId xmlns:a16="http://schemas.microsoft.com/office/drawing/2014/main" val="20003"/>
                    </a:ext>
                  </a:extLst>
                </a:gridCol>
                <a:gridCol w="1787652">
                  <a:extLst>
                    <a:ext uri="{9D8B030D-6E8A-4147-A177-3AD203B41FA5}">
                      <a16:colId xmlns:a16="http://schemas.microsoft.com/office/drawing/2014/main" val="20004"/>
                    </a:ext>
                  </a:extLst>
                </a:gridCol>
              </a:tblGrid>
              <a:tr h="568933">
                <a:tc>
                  <a:txBody>
                    <a:bodyPr/>
                    <a:lstStyle/>
                    <a:p>
                      <a:pPr>
                        <a:buNone/>
                      </a:pPr>
                      <a:r>
                        <a:rPr lang="en-IN" sz="1400" b="1"/>
                        <a:t>Risk / Limitation</a:t>
                      </a:r>
                      <a:endParaRPr lang="en-IN" sz="1400"/>
                    </a:p>
                  </a:txBody>
                  <a:tcPr anchor="ctr"/>
                </a:tc>
                <a:tc>
                  <a:txBody>
                    <a:bodyPr/>
                    <a:lstStyle/>
                    <a:p>
                      <a:pPr>
                        <a:buNone/>
                      </a:pPr>
                      <a:r>
                        <a:rPr lang="en-IN" sz="1400" b="1"/>
                        <a:t>Impact (H/M/L)</a:t>
                      </a:r>
                      <a:endParaRPr lang="en-IN" sz="1400"/>
                    </a:p>
                  </a:txBody>
                  <a:tcPr anchor="ctr"/>
                </a:tc>
                <a:tc>
                  <a:txBody>
                    <a:bodyPr/>
                    <a:lstStyle/>
                    <a:p>
                      <a:pPr>
                        <a:buNone/>
                      </a:pPr>
                      <a:r>
                        <a:rPr lang="en-IN" sz="1400" b="1"/>
                        <a:t>Likelihood (H/M/L)</a:t>
                      </a:r>
                      <a:endParaRPr lang="en-IN" sz="1400"/>
                    </a:p>
                  </a:txBody>
                  <a:tcPr anchor="ctr"/>
                </a:tc>
                <a:tc>
                  <a:txBody>
                    <a:bodyPr/>
                    <a:lstStyle/>
                    <a:p>
                      <a:pPr>
                        <a:buNone/>
                      </a:pPr>
                      <a:r>
                        <a:rPr lang="en-IN" sz="1400" b="1"/>
                        <a:t>Mitigation / Plan</a:t>
                      </a:r>
                      <a:endParaRPr lang="en-IN" sz="1400"/>
                    </a:p>
                  </a:txBody>
                  <a:tcPr anchor="ctr"/>
                </a:tc>
                <a:tc>
                  <a:txBody>
                    <a:bodyPr/>
                    <a:lstStyle/>
                    <a:p>
                      <a:pPr>
                        <a:buNone/>
                      </a:pPr>
                      <a:r>
                        <a:rPr lang="en-IN" sz="1400" b="1"/>
                        <a:t>Owner</a:t>
                      </a:r>
                      <a:endParaRPr lang="en-IN" sz="1400"/>
                    </a:p>
                  </a:txBody>
                  <a:tcPr anchor="ctr"/>
                </a:tc>
                <a:extLst>
                  <a:ext uri="{0D108BD9-81ED-4DB2-BD59-A6C34878D82A}">
                    <a16:rowId xmlns:a16="http://schemas.microsoft.com/office/drawing/2014/main" val="10000"/>
                  </a:ext>
                </a:extLst>
              </a:tr>
              <a:tr h="1056589">
                <a:tc>
                  <a:txBody>
                    <a:bodyPr/>
                    <a:lstStyle/>
                    <a:p>
                      <a:pPr>
                        <a:buNone/>
                      </a:pPr>
                      <a:r>
                        <a:rPr lang="en-IN" sz="1400" b="1"/>
                        <a:t>GSM Network Unavailability</a:t>
                      </a:r>
                      <a:endParaRPr lang="en-IN" sz="1400"/>
                    </a:p>
                  </a:txBody>
                  <a:tcPr anchor="ctr"/>
                </a:tc>
                <a:tc>
                  <a:txBody>
                    <a:bodyPr/>
                    <a:lstStyle/>
                    <a:p>
                      <a:pPr>
                        <a:buNone/>
                      </a:pPr>
                      <a:r>
                        <a:rPr lang="en-IN" sz="1400"/>
                        <a:t>High</a:t>
                      </a:r>
                    </a:p>
                  </a:txBody>
                  <a:tcPr anchor="ctr"/>
                </a:tc>
                <a:tc>
                  <a:txBody>
                    <a:bodyPr/>
                    <a:lstStyle/>
                    <a:p>
                      <a:pPr>
                        <a:buNone/>
                      </a:pPr>
                      <a:r>
                        <a:rPr lang="en-IN" sz="1400" dirty="0"/>
                        <a:t>Medium</a:t>
                      </a:r>
                    </a:p>
                  </a:txBody>
                  <a:tcPr anchor="ctr"/>
                </a:tc>
                <a:tc>
                  <a:txBody>
                    <a:bodyPr/>
                    <a:lstStyle/>
                    <a:p>
                      <a:pPr>
                        <a:buNone/>
                      </a:pPr>
                      <a:r>
                        <a:rPr lang="en-US" sz="1400"/>
                        <a:t>Add offline alert (buzzer) and retry SMS once signal returns</a:t>
                      </a:r>
                    </a:p>
                  </a:txBody>
                  <a:tcPr anchor="ctr"/>
                </a:tc>
                <a:tc>
                  <a:txBody>
                    <a:bodyPr/>
                    <a:lstStyle/>
                    <a:p>
                      <a:pPr>
                        <a:buNone/>
                      </a:pPr>
                      <a:r>
                        <a:rPr lang="en-IN" sz="1400"/>
                        <a:t>Raghul</a:t>
                      </a:r>
                    </a:p>
                  </a:txBody>
                  <a:tcPr anchor="ctr"/>
                </a:tc>
                <a:extLst>
                  <a:ext uri="{0D108BD9-81ED-4DB2-BD59-A6C34878D82A}">
                    <a16:rowId xmlns:a16="http://schemas.microsoft.com/office/drawing/2014/main" val="10001"/>
                  </a:ext>
                </a:extLst>
              </a:tr>
              <a:tr h="1544245">
                <a:tc>
                  <a:txBody>
                    <a:bodyPr/>
                    <a:lstStyle/>
                    <a:p>
                      <a:pPr>
                        <a:buNone/>
                      </a:pPr>
                      <a:r>
                        <a:rPr lang="en-IN" sz="1400" b="1"/>
                        <a:t>Sensor Inaccuracy (Fatigue/Alcohol)</a:t>
                      </a:r>
                      <a:endParaRPr lang="en-IN" sz="1400"/>
                    </a:p>
                  </a:txBody>
                  <a:tcPr anchor="ctr"/>
                </a:tc>
                <a:tc>
                  <a:txBody>
                    <a:bodyPr/>
                    <a:lstStyle/>
                    <a:p>
                      <a:pPr>
                        <a:buNone/>
                      </a:pPr>
                      <a:r>
                        <a:rPr lang="en-IN" sz="1400"/>
                        <a:t>Medium</a:t>
                      </a:r>
                    </a:p>
                  </a:txBody>
                  <a:tcPr anchor="ctr"/>
                </a:tc>
                <a:tc>
                  <a:txBody>
                    <a:bodyPr/>
                    <a:lstStyle/>
                    <a:p>
                      <a:pPr>
                        <a:buNone/>
                      </a:pPr>
                      <a:r>
                        <a:rPr lang="en-IN" sz="1400"/>
                        <a:t>Medium</a:t>
                      </a:r>
                    </a:p>
                  </a:txBody>
                  <a:tcPr anchor="ctr"/>
                </a:tc>
                <a:tc>
                  <a:txBody>
                    <a:bodyPr/>
                    <a:lstStyle/>
                    <a:p>
                      <a:pPr>
                        <a:buNone/>
                      </a:pPr>
                      <a:r>
                        <a:rPr lang="en-US" sz="1400"/>
                        <a:t>Calibrate MQ3 and pulse sensors regularly; use filtering algorithms</a:t>
                      </a:r>
                    </a:p>
                  </a:txBody>
                  <a:tcPr anchor="ctr"/>
                </a:tc>
                <a:tc>
                  <a:txBody>
                    <a:bodyPr/>
                    <a:lstStyle/>
                    <a:p>
                      <a:pPr>
                        <a:buNone/>
                      </a:pPr>
                      <a:r>
                        <a:rPr lang="en-IN" sz="1400"/>
                        <a:t>Sanjay</a:t>
                      </a:r>
                    </a:p>
                  </a:txBody>
                  <a:tcPr anchor="ctr"/>
                </a:tc>
                <a:extLst>
                  <a:ext uri="{0D108BD9-81ED-4DB2-BD59-A6C34878D82A}">
                    <a16:rowId xmlns:a16="http://schemas.microsoft.com/office/drawing/2014/main" val="10002"/>
                  </a:ext>
                </a:extLst>
              </a:tr>
              <a:tr h="1300417">
                <a:tc>
                  <a:txBody>
                    <a:bodyPr/>
                    <a:lstStyle/>
                    <a:p>
                      <a:pPr>
                        <a:buNone/>
                      </a:pPr>
                      <a:r>
                        <a:rPr lang="en-IN" sz="1400" b="1"/>
                        <a:t>Power Drain / Battery Limit</a:t>
                      </a:r>
                      <a:endParaRPr lang="en-IN" sz="1400"/>
                    </a:p>
                  </a:txBody>
                  <a:tcPr anchor="ctr"/>
                </a:tc>
                <a:tc>
                  <a:txBody>
                    <a:bodyPr/>
                    <a:lstStyle/>
                    <a:p>
                      <a:pPr>
                        <a:buNone/>
                      </a:pPr>
                      <a:r>
                        <a:rPr lang="en-IN" sz="1400"/>
                        <a:t>Medium</a:t>
                      </a:r>
                    </a:p>
                  </a:txBody>
                  <a:tcPr anchor="ctr"/>
                </a:tc>
                <a:tc>
                  <a:txBody>
                    <a:bodyPr/>
                    <a:lstStyle/>
                    <a:p>
                      <a:pPr>
                        <a:buNone/>
                      </a:pPr>
                      <a:r>
                        <a:rPr lang="en-IN" sz="1400"/>
                        <a:t>High</a:t>
                      </a:r>
                    </a:p>
                  </a:txBody>
                  <a:tcPr anchor="ctr"/>
                </a:tc>
                <a:tc>
                  <a:txBody>
                    <a:bodyPr/>
                    <a:lstStyle/>
                    <a:p>
                      <a:pPr>
                        <a:buNone/>
                      </a:pPr>
                      <a:r>
                        <a:rPr lang="en-US" sz="1400"/>
                        <a:t>Use rechargeable Li-ion battery and auto-sleep mode on ESP32</a:t>
                      </a:r>
                    </a:p>
                  </a:txBody>
                  <a:tcPr anchor="ctr"/>
                </a:tc>
                <a:tc>
                  <a:txBody>
                    <a:bodyPr/>
                    <a:lstStyle/>
                    <a:p>
                      <a:pPr>
                        <a:buNone/>
                      </a:pPr>
                      <a:r>
                        <a:rPr lang="en-IN" sz="1400"/>
                        <a:t>Srikanth</a:t>
                      </a:r>
                    </a:p>
                  </a:txBody>
                  <a:tcPr anchor="ctr"/>
                </a:tc>
                <a:extLst>
                  <a:ext uri="{0D108BD9-81ED-4DB2-BD59-A6C34878D82A}">
                    <a16:rowId xmlns:a16="http://schemas.microsoft.com/office/drawing/2014/main" val="10003"/>
                  </a:ext>
                </a:extLst>
              </a:tr>
              <a:tr h="1056589">
                <a:tc>
                  <a:txBody>
                    <a:bodyPr/>
                    <a:lstStyle/>
                    <a:p>
                      <a:pPr>
                        <a:buNone/>
                      </a:pPr>
                      <a:r>
                        <a:rPr lang="en-US" sz="1400" b="1"/>
                        <a:t>False Crash Alerts (MPU6050 sensitivity)</a:t>
                      </a:r>
                      <a:endParaRPr lang="en-US" sz="1400"/>
                    </a:p>
                  </a:txBody>
                  <a:tcPr anchor="ctr"/>
                </a:tc>
                <a:tc>
                  <a:txBody>
                    <a:bodyPr/>
                    <a:lstStyle/>
                    <a:p>
                      <a:pPr>
                        <a:buNone/>
                      </a:pPr>
                      <a:r>
                        <a:rPr lang="en-IN" sz="1400"/>
                        <a:t>Medium</a:t>
                      </a:r>
                    </a:p>
                  </a:txBody>
                  <a:tcPr anchor="ctr"/>
                </a:tc>
                <a:tc>
                  <a:txBody>
                    <a:bodyPr/>
                    <a:lstStyle/>
                    <a:p>
                      <a:pPr>
                        <a:buNone/>
                      </a:pPr>
                      <a:r>
                        <a:rPr lang="en-IN" sz="1400"/>
                        <a:t>Medium</a:t>
                      </a:r>
                    </a:p>
                  </a:txBody>
                  <a:tcPr anchor="ctr"/>
                </a:tc>
                <a:tc>
                  <a:txBody>
                    <a:bodyPr/>
                    <a:lstStyle/>
                    <a:p>
                      <a:pPr>
                        <a:buNone/>
                      </a:pPr>
                      <a:r>
                        <a:rPr lang="en-US" sz="1400"/>
                        <a:t>Set threshold levels and validate through field tests</a:t>
                      </a:r>
                    </a:p>
                  </a:txBody>
                  <a:tcPr anchor="ctr"/>
                </a:tc>
                <a:tc>
                  <a:txBody>
                    <a:bodyPr/>
                    <a:lstStyle/>
                    <a:p>
                      <a:pPr>
                        <a:buNone/>
                      </a:pPr>
                      <a:r>
                        <a:rPr lang="en-IN" sz="1400"/>
                        <a:t>Vishnu</a:t>
                      </a:r>
                    </a:p>
                  </a:txBody>
                  <a:tcPr anchor="ctr"/>
                </a:tc>
                <a:extLst>
                  <a:ext uri="{0D108BD9-81ED-4DB2-BD59-A6C34878D82A}">
                    <a16:rowId xmlns:a16="http://schemas.microsoft.com/office/drawing/2014/main" val="10004"/>
                  </a:ext>
                </a:extLst>
              </a:tr>
              <a:tr h="667651">
                <a:tc>
                  <a:txBody>
                    <a:bodyPr/>
                    <a:lstStyle/>
                    <a:p>
                      <a:pPr>
                        <a:buNone/>
                      </a:pPr>
                      <a:r>
                        <a:rPr lang="en-US" sz="1400" b="1"/>
                        <a:t>Component Overheating or Wiring Faults</a:t>
                      </a:r>
                      <a:endParaRPr lang="en-US" sz="1400"/>
                    </a:p>
                  </a:txBody>
                  <a:tcPr anchor="ctr"/>
                </a:tc>
                <a:tc>
                  <a:txBody>
                    <a:bodyPr/>
                    <a:lstStyle/>
                    <a:p>
                      <a:pPr>
                        <a:buNone/>
                      </a:pPr>
                      <a:r>
                        <a:rPr lang="en-IN" sz="1400"/>
                        <a:t>High</a:t>
                      </a:r>
                    </a:p>
                  </a:txBody>
                  <a:tcPr anchor="ctr"/>
                </a:tc>
                <a:tc>
                  <a:txBody>
                    <a:bodyPr/>
                    <a:lstStyle/>
                    <a:p>
                      <a:pPr>
                        <a:buNone/>
                      </a:pPr>
                      <a:r>
                        <a:rPr lang="en-IN" sz="1400" dirty="0"/>
                        <a:t>Low</a:t>
                      </a:r>
                    </a:p>
                  </a:txBody>
                  <a:tcPr anchor="ctr"/>
                </a:tc>
                <a:tc>
                  <a:txBody>
                    <a:bodyPr/>
                    <a:lstStyle/>
                    <a:p>
                      <a:pPr>
                        <a:buNone/>
                      </a:pPr>
                      <a:r>
                        <a:rPr lang="en-US" sz="1400"/>
                        <a:t>Proper insulation, fuse protection, and periodic checks</a:t>
                      </a:r>
                    </a:p>
                  </a:txBody>
                  <a:tcPr anchor="ctr"/>
                </a:tc>
                <a:tc>
                  <a:txBody>
                    <a:bodyPr/>
                    <a:lstStyle/>
                    <a:p>
                      <a:pPr>
                        <a:buNone/>
                      </a:pPr>
                      <a:r>
                        <a:rPr lang="en-IN" sz="1400" dirty="0"/>
                        <a:t>Nandha Kumar</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dirty="0">
                <a:latin typeface="Times New Roman" panose="02020603050405020304" pitchFamily="18" charset="0"/>
                <a:cs typeface="Times New Roman" panose="02020603050405020304" pitchFamily="18" charset="0"/>
              </a:rPr>
              <a:t>Go/No‑Go &amp; Next Steps → Prototype</a:t>
            </a:r>
          </a:p>
        </p:txBody>
      </p:sp>
      <p:sp>
        <p:nvSpPr>
          <p:cNvPr id="3" name="Content Placeholder 2"/>
          <p:cNvSpPr>
            <a:spLocks noGrp="1"/>
          </p:cNvSpPr>
          <p:nvPr>
            <p:ph idx="1"/>
          </p:nvPr>
        </p:nvSpPr>
        <p:spPr>
          <a:xfrm>
            <a:off x="457200" y="1166018"/>
            <a:ext cx="8229600" cy="4525963"/>
          </a:xfrm>
        </p:spPr>
        <p:txBody>
          <a:bodyPr>
            <a:noAutofit/>
          </a:bodyPr>
          <a:lstStyle/>
          <a:p>
            <a:pPr marL="0" indent="0">
              <a:buNone/>
            </a:pPr>
            <a:r>
              <a:rPr lang="en-IN" sz="1400" b="1" dirty="0">
                <a:latin typeface="Times New Roman" panose="02020603050405020304" pitchFamily="18" charset="0"/>
                <a:cs typeface="Times New Roman" panose="02020603050405020304" pitchFamily="18" charset="0"/>
              </a:rPr>
              <a:t>Decision:</a:t>
            </a:r>
            <a:r>
              <a:rPr lang="en-IN" sz="1400" dirty="0">
                <a:latin typeface="Times New Roman" panose="02020603050405020304" pitchFamily="18" charset="0"/>
                <a:cs typeface="Times New Roman" panose="02020603050405020304" pitchFamily="18" charset="0"/>
              </a:rPr>
              <a:t> ✅ </a:t>
            </a:r>
            <a:r>
              <a:rPr lang="en-IN" sz="1400" b="1" dirty="0">
                <a:latin typeface="Times New Roman" panose="02020603050405020304" pitchFamily="18" charset="0"/>
                <a:cs typeface="Times New Roman" panose="02020603050405020304" pitchFamily="18" charset="0"/>
              </a:rPr>
              <a:t>Go for Prototype Development</a:t>
            </a:r>
            <a:br>
              <a:rPr lang="en-IN" sz="1400" dirty="0">
                <a:latin typeface="Times New Roman" panose="02020603050405020304" pitchFamily="18" charset="0"/>
                <a:cs typeface="Times New Roman" panose="02020603050405020304" pitchFamily="18" charset="0"/>
              </a:rPr>
            </a:br>
            <a:r>
              <a:rPr lang="en-IN" sz="1400" b="1" dirty="0">
                <a:latin typeface="Times New Roman" panose="02020603050405020304" pitchFamily="18" charset="0"/>
                <a:cs typeface="Times New Roman" panose="02020603050405020304" pitchFamily="18" charset="0"/>
              </a:rPr>
              <a:t>Rationale:</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PoC validated all critical features — alcohol detection, fatigue monitoring, crash alert, and GSM/GPS emergency response.</a:t>
            </a:r>
          </a:p>
          <a:p>
            <a:r>
              <a:rPr lang="en-IN" sz="1400" dirty="0">
                <a:latin typeface="Times New Roman" panose="02020603050405020304" pitchFamily="18" charset="0"/>
                <a:cs typeface="Times New Roman" panose="02020603050405020304" pitchFamily="18" charset="0"/>
              </a:rPr>
              <a:t>High success rate (above 90%) and strong mentor feedback indicate clear potential for real-world deployment.</a:t>
            </a:r>
          </a:p>
          <a:p>
            <a:r>
              <a:rPr lang="en-IN" sz="1400" dirty="0">
                <a:latin typeface="Times New Roman" panose="02020603050405020304" pitchFamily="18" charset="0"/>
                <a:cs typeface="Times New Roman" panose="02020603050405020304" pitchFamily="18" charset="0"/>
              </a:rPr>
              <a:t>Minor calibration required for heart rate accuracy, manageable in next phase.</a:t>
            </a:r>
          </a:p>
          <a:p>
            <a:pPr marL="0" indent="0">
              <a:buNone/>
            </a:pPr>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pPr marL="0" indent="0">
              <a:buNone/>
            </a:pPr>
            <a:r>
              <a:rPr lang="en-IN" sz="1400" b="1" dirty="0">
                <a:latin typeface="Times New Roman" panose="02020603050405020304" pitchFamily="18" charset="0"/>
                <a:cs typeface="Times New Roman" panose="02020603050405020304" pitchFamily="18" charset="0"/>
              </a:rPr>
              <a:t>Prototype Plan (if Go):</a:t>
            </a:r>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Miniaturize Circuit:</a:t>
            </a:r>
            <a:r>
              <a:rPr lang="en-IN" sz="1400" dirty="0">
                <a:latin typeface="Times New Roman" panose="02020603050405020304" pitchFamily="18" charset="0"/>
                <a:cs typeface="Times New Roman" panose="02020603050405020304" pitchFamily="18" charset="0"/>
              </a:rPr>
              <a:t> Integrate all modules inside helmet casing with improved ergonomics and insulation.</a:t>
            </a:r>
          </a:p>
          <a:p>
            <a:r>
              <a:rPr lang="en-IN" sz="1400" b="1" dirty="0">
                <a:latin typeface="Times New Roman" panose="02020603050405020304" pitchFamily="18" charset="0"/>
                <a:cs typeface="Times New Roman" panose="02020603050405020304" pitchFamily="18" charset="0"/>
              </a:rPr>
              <a:t>Enhance IoT Dashboard:</a:t>
            </a:r>
            <a:r>
              <a:rPr lang="en-IN" sz="1400" dirty="0">
                <a:latin typeface="Times New Roman" panose="02020603050405020304" pitchFamily="18" charset="0"/>
                <a:cs typeface="Times New Roman" panose="02020603050405020304" pitchFamily="18" charset="0"/>
              </a:rPr>
              <a:t> Add analytics for accident history, fatigue tracking, and alert logs.</a:t>
            </a:r>
          </a:p>
          <a:p>
            <a:r>
              <a:rPr lang="en-IN" sz="1400" b="1" dirty="0">
                <a:latin typeface="Times New Roman" panose="02020603050405020304" pitchFamily="18" charset="0"/>
                <a:cs typeface="Times New Roman" panose="02020603050405020304" pitchFamily="18" charset="0"/>
              </a:rPr>
              <a:t>Improve Power Management:</a:t>
            </a:r>
            <a:r>
              <a:rPr lang="en-IN" sz="1400" dirty="0">
                <a:latin typeface="Times New Roman" panose="02020603050405020304" pitchFamily="18" charset="0"/>
                <a:cs typeface="Times New Roman" panose="02020603050405020304" pitchFamily="18" charset="0"/>
              </a:rPr>
              <a:t> Add rechargeable Li-ion battery with solar-assisted charging option.</a:t>
            </a:r>
            <a:br>
              <a:rPr lang="en-IN" sz="1400" dirty="0">
                <a:latin typeface="Times New Roman" panose="02020603050405020304" pitchFamily="18" charset="0"/>
                <a:cs typeface="Times New Roman" panose="02020603050405020304" pitchFamily="18" charset="0"/>
              </a:rPr>
            </a:br>
            <a:r>
              <a:rPr lang="en-IN" sz="1400" b="1" dirty="0">
                <a:latin typeface="Times New Roman" panose="02020603050405020304" pitchFamily="18" charset="0"/>
                <a:cs typeface="Times New Roman" panose="02020603050405020304" pitchFamily="18" charset="0"/>
              </a:rPr>
              <a:t>Timeline:</a:t>
            </a:r>
            <a:r>
              <a:rPr lang="en-IN" sz="1400" dirty="0">
                <a:latin typeface="Times New Roman" panose="02020603050405020304" pitchFamily="18" charset="0"/>
                <a:cs typeface="Times New Roman" panose="02020603050405020304" pitchFamily="18" charset="0"/>
              </a:rPr>
              <a:t> Jan–Mar 2026</a:t>
            </a:r>
            <a:br>
              <a:rPr lang="en-IN" sz="1400" dirty="0">
                <a:latin typeface="Times New Roman" panose="02020603050405020304" pitchFamily="18" charset="0"/>
                <a:cs typeface="Times New Roman" panose="02020603050405020304" pitchFamily="18" charset="0"/>
              </a:rPr>
            </a:br>
            <a:r>
              <a:rPr lang="en-IN" sz="1400" b="1" dirty="0">
                <a:latin typeface="Times New Roman" panose="02020603050405020304" pitchFamily="18" charset="0"/>
                <a:cs typeface="Times New Roman" panose="02020603050405020304" pitchFamily="18" charset="0"/>
              </a:rPr>
              <a:t>Resources Needed:</a:t>
            </a:r>
            <a:r>
              <a:rPr lang="en-IN" sz="1400" dirty="0">
                <a:latin typeface="Times New Roman" panose="02020603050405020304" pitchFamily="18" charset="0"/>
                <a:cs typeface="Times New Roman" panose="02020603050405020304" pitchFamily="18" charset="0"/>
              </a:rPr>
              <a:t> 3D-printed mount, compact PCB, rechargeable battery kit, IoT cloud credits.</a:t>
            </a:r>
          </a:p>
          <a:p>
            <a:pPr marL="0" indent="0">
              <a:buNone/>
            </a:pPr>
            <a:br>
              <a:rPr lang="en-IN" sz="1400" dirty="0">
                <a:latin typeface="Times New Roman" panose="02020603050405020304" pitchFamily="18" charset="0"/>
                <a:cs typeface="Times New Roman" panose="02020603050405020304" pitchFamily="18" charset="0"/>
              </a:rPr>
            </a:br>
            <a:endParaRPr lang="en-IN" sz="1400" dirty="0">
              <a:latin typeface="Times New Roman" panose="02020603050405020304" pitchFamily="18" charset="0"/>
              <a:cs typeface="Times New Roman" panose="02020603050405020304" pitchFamily="18" charset="0"/>
            </a:endParaRPr>
          </a:p>
          <a:p>
            <a:pPr marL="0" indent="0">
              <a:buNone/>
            </a:pPr>
            <a:r>
              <a:rPr lang="en-IN" sz="1400" b="1" dirty="0">
                <a:latin typeface="Times New Roman" panose="02020603050405020304" pitchFamily="18" charset="0"/>
                <a:cs typeface="Times New Roman" panose="02020603050405020304" pitchFamily="18" charset="0"/>
              </a:rPr>
              <a:t>KPIs to Carry Forward:</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System uptime ≥ 98%</a:t>
            </a:r>
          </a:p>
          <a:p>
            <a:r>
              <a:rPr lang="en-IN" sz="1400" dirty="0">
                <a:latin typeface="Times New Roman" panose="02020603050405020304" pitchFamily="18" charset="0"/>
                <a:cs typeface="Times New Roman" panose="02020603050405020304" pitchFamily="18" charset="0"/>
              </a:rPr>
              <a:t>Alert delivery latency ≤ 5 sec</a:t>
            </a:r>
          </a:p>
          <a:p>
            <a:r>
              <a:rPr lang="en-IN" sz="1400" dirty="0">
                <a:latin typeface="Times New Roman" panose="02020603050405020304" pitchFamily="18" charset="0"/>
                <a:cs typeface="Times New Roman" panose="02020603050405020304" pitchFamily="18" charset="0"/>
              </a:rPr>
              <a:t>Crash &amp; fatigue detection accuracy ≥ 90%</a:t>
            </a:r>
          </a:p>
          <a:p>
            <a:r>
              <a:rPr lang="en-IN" sz="1400" dirty="0">
                <a:latin typeface="Times New Roman" panose="02020603050405020304" pitchFamily="18" charset="0"/>
                <a:cs typeface="Times New Roman" panose="02020603050405020304" pitchFamily="18" charset="0"/>
              </a:rPr>
              <a:t>Prototype cost optimization ≤ ₹5,000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Annex — Domain-Specific Checklist (Duplicate relevant items)</a:t>
            </a:r>
          </a:p>
        </p:txBody>
      </p:sp>
      <p:sp>
        <p:nvSpPr>
          <p:cNvPr id="3" name="TextBox 2"/>
          <p:cNvSpPr txBox="1"/>
          <p:nvPr/>
        </p:nvSpPr>
        <p:spPr>
          <a:xfrm>
            <a:off x="128954" y="1712448"/>
            <a:ext cx="8146366" cy="3904467"/>
          </a:xfrm>
          <a:prstGeom prst="rect">
            <a:avLst/>
          </a:prstGeom>
          <a:noFill/>
        </p:spPr>
        <p:txBody>
          <a:bodyPr wrap="square">
            <a:spAutoFit/>
          </a:bodyPr>
          <a:lstStyle/>
          <a:p>
            <a:pPr>
              <a:lnSpc>
                <a:spcPct val="200000"/>
              </a:lnSpc>
            </a:pPr>
            <a:r>
              <a:rPr lang="en-IN" sz="1400" b="1" dirty="0">
                <a:latin typeface="Times New Roman" panose="02020603050405020304" pitchFamily="18" charset="0"/>
                <a:cs typeface="Times New Roman" panose="02020603050405020304" pitchFamily="18" charset="0"/>
              </a:rPr>
              <a:t>EI – Embedded &amp; IoT Focus Points</a:t>
            </a:r>
            <a:endParaRPr lang="en-IN" sz="1400" dirty="0">
              <a:latin typeface="Times New Roman" panose="02020603050405020304" pitchFamily="18" charset="0"/>
              <a:cs typeface="Times New Roman" panose="02020603050405020304" pitchFamily="18" charset="0"/>
            </a:endParaRPr>
          </a:p>
          <a:p>
            <a:pPr>
              <a:lnSpc>
                <a:spcPct val="200000"/>
              </a:lnSpc>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Block Diagram:</a:t>
            </a:r>
            <a:r>
              <a:rPr lang="en-IN" sz="1400" dirty="0">
                <a:latin typeface="Times New Roman" panose="02020603050405020304" pitchFamily="18" charset="0"/>
                <a:cs typeface="Times New Roman" panose="02020603050405020304" pitchFamily="18" charset="0"/>
              </a:rPr>
              <a:t> Included (ESP32 + MQ3 + MPU6050 + Heart Rate + GSM/GPS).</a:t>
            </a:r>
          </a:p>
          <a:p>
            <a:pPr>
              <a:lnSpc>
                <a:spcPct val="200000"/>
              </a:lnSpc>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BOM &amp; Datasheets:</a:t>
            </a:r>
            <a:r>
              <a:rPr lang="en-IN" sz="1400" dirty="0">
                <a:latin typeface="Times New Roman" panose="02020603050405020304" pitchFamily="18" charset="0"/>
                <a:cs typeface="Times New Roman" panose="02020603050405020304" pitchFamily="18" charset="0"/>
              </a:rPr>
              <a:t> All sensors and modules listed with specifications and costs.</a:t>
            </a:r>
          </a:p>
          <a:p>
            <a:pPr>
              <a:lnSpc>
                <a:spcPct val="200000"/>
              </a:lnSpc>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Firmware Summary:</a:t>
            </a:r>
            <a:r>
              <a:rPr lang="en-IN" sz="1400" dirty="0">
                <a:latin typeface="Times New Roman" panose="02020603050405020304" pitchFamily="18" charset="0"/>
                <a:cs typeface="Times New Roman" panose="02020603050405020304" pitchFamily="18" charset="0"/>
              </a:rPr>
              <a:t> Arduino-based code for sensor interfacing, data acquisition, and GSM alerting.</a:t>
            </a:r>
          </a:p>
          <a:p>
            <a:pPr>
              <a:lnSpc>
                <a:spcPct val="200000"/>
              </a:lnSpc>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IoT Integration:</a:t>
            </a:r>
            <a:r>
              <a:rPr lang="en-IN" sz="1400" dirty="0">
                <a:latin typeface="Times New Roman" panose="02020603050405020304" pitchFamily="18" charset="0"/>
                <a:cs typeface="Times New Roman" panose="02020603050405020304" pitchFamily="18" charset="0"/>
              </a:rPr>
              <a:t> Live data visualization through </a:t>
            </a:r>
            <a:r>
              <a:rPr lang="en-IN" sz="1400" b="1" dirty="0">
                <a:latin typeface="Times New Roman" panose="02020603050405020304" pitchFamily="18" charset="0"/>
                <a:cs typeface="Times New Roman" panose="02020603050405020304" pitchFamily="18" charset="0"/>
              </a:rPr>
              <a:t>Blynk/</a:t>
            </a:r>
            <a:r>
              <a:rPr lang="en-IN" sz="1400" b="1" dirty="0" err="1">
                <a:latin typeface="Times New Roman" panose="02020603050405020304" pitchFamily="18" charset="0"/>
                <a:cs typeface="Times New Roman" panose="02020603050405020304" pitchFamily="18" charset="0"/>
              </a:rPr>
              <a:t>ThingSpeak</a:t>
            </a:r>
            <a:r>
              <a:rPr lang="en-IN" sz="1400" b="1" dirty="0">
                <a:latin typeface="Times New Roman" panose="02020603050405020304" pitchFamily="18" charset="0"/>
                <a:cs typeface="Times New Roman" panose="02020603050405020304" pitchFamily="18" charset="0"/>
              </a:rPr>
              <a:t> dashboard</a:t>
            </a:r>
            <a:r>
              <a:rPr lang="en-IN" sz="1400" dirty="0">
                <a:latin typeface="Times New Roman" panose="02020603050405020304" pitchFamily="18" charset="0"/>
                <a:cs typeface="Times New Roman" panose="02020603050405020304" pitchFamily="18" charset="0"/>
              </a:rPr>
              <a:t> with real-time alerts.</a:t>
            </a:r>
          </a:p>
          <a:p>
            <a:pPr>
              <a:lnSpc>
                <a:spcPct val="200000"/>
              </a:lnSpc>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Power Budget:</a:t>
            </a:r>
            <a:r>
              <a:rPr lang="en-IN" sz="1400" dirty="0">
                <a:latin typeface="Times New Roman" panose="02020603050405020304" pitchFamily="18" charset="0"/>
                <a:cs typeface="Times New Roman" panose="02020603050405020304" pitchFamily="18" charset="0"/>
              </a:rPr>
              <a:t> Operates on 9V/3.7V rechargeable battery; estimated uptime 4–5 hours per charge.</a:t>
            </a:r>
          </a:p>
          <a:p>
            <a:pPr>
              <a:lnSpc>
                <a:spcPct val="200000"/>
              </a:lnSpc>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Safety Compliance:</a:t>
            </a:r>
            <a:r>
              <a:rPr lang="en-IN" sz="1400" dirty="0">
                <a:latin typeface="Times New Roman" panose="02020603050405020304" pitchFamily="18" charset="0"/>
                <a:cs typeface="Times New Roman" panose="02020603050405020304" pitchFamily="18" charset="0"/>
              </a:rPr>
              <a:t> Insulated wiring, fuse protection, alcohol test simulation under lab safety protocol.</a:t>
            </a:r>
          </a:p>
          <a:p>
            <a:pPr>
              <a:lnSpc>
                <a:spcPct val="200000"/>
              </a:lnSpc>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Lab Validation:</a:t>
            </a:r>
            <a:r>
              <a:rPr lang="en-IN" sz="1400" dirty="0">
                <a:latin typeface="Times New Roman" panose="02020603050405020304" pitchFamily="18" charset="0"/>
                <a:cs typeface="Times New Roman" panose="02020603050405020304" pitchFamily="18" charset="0"/>
              </a:rPr>
              <a:t> Sensor testing logs, SMS delivery proofs, and IoT dashboard screenshots recorded.</a:t>
            </a:r>
          </a:p>
          <a:p>
            <a:pPr>
              <a:lnSpc>
                <a:spcPct val="200000"/>
              </a:lnSpc>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Scalability Note:</a:t>
            </a:r>
            <a:r>
              <a:rPr lang="en-IN" sz="1400" dirty="0">
                <a:latin typeface="Times New Roman" panose="02020603050405020304" pitchFamily="18" charset="0"/>
                <a:cs typeface="Times New Roman" panose="02020603050405020304" pitchFamily="18" charset="0"/>
              </a:rPr>
              <a:t> Design adaptable for multiple rider helmets with centralized IoT monitoring.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D9324C02AF684081B0638F841F77A7" ma:contentTypeVersion="7" ma:contentTypeDescription="Create a new document." ma:contentTypeScope="" ma:versionID="5ccebff34a8e51cede8d0bf61d443c7c">
  <xsd:schema xmlns:xsd="http://www.w3.org/2001/XMLSchema" xmlns:xs="http://www.w3.org/2001/XMLSchema" xmlns:p="http://schemas.microsoft.com/office/2006/metadata/properties" xmlns:ns2="8f4bcbf8-e4fe-49fe-9064-aa6724e1aff7" targetNamespace="http://schemas.microsoft.com/office/2006/metadata/properties" ma:root="true" ma:fieldsID="1abc57e4fbbc961d7f15fd72e71dc129" ns2:_="">
    <xsd:import namespace="8f4bcbf8-e4fe-49fe-9064-aa6724e1aff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4bcbf8-e4fe-49fe-9064-aa6724e1af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8CAE9F-5F9A-4FBA-8466-BB0E0BC2D462}">
  <ds:schemaRefs>
    <ds:schemaRef ds:uri="http://schemas.microsoft.com/sharepoint/v3/contenttype/forms"/>
  </ds:schemaRefs>
</ds:datastoreItem>
</file>

<file path=customXml/itemProps2.xml><?xml version="1.0" encoding="utf-8"?>
<ds:datastoreItem xmlns:ds="http://schemas.openxmlformats.org/officeDocument/2006/customXml" ds:itemID="{5415EA54-D5F3-44F3-B83F-AF6ABF1CDB5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69BAA75-7199-496C-83BB-72595745D1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4bcbf8-e4fe-49fe-9064-aa6724e1a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172</TotalTime>
  <Words>1987</Words>
  <Application>Microsoft Office PowerPoint</Application>
  <PresentationFormat>On-screen Show (4:3)</PresentationFormat>
  <Paragraphs>272</Paragraphs>
  <Slides>14</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Times New Roman</vt:lpstr>
      <vt:lpstr>Wingdings</vt:lpstr>
      <vt:lpstr>Office Theme</vt:lpstr>
      <vt:lpstr>SoI — Proof of Concept (PoC) Stage Template</vt:lpstr>
      <vt:lpstr>Problem &amp; End‑User Recap</vt:lpstr>
      <vt:lpstr>Selected Idea Recap &amp; Value Proposition</vt:lpstr>
      <vt:lpstr>PoC Objectives &amp; Success Criteria</vt:lpstr>
      <vt:lpstr>Scope, Assumptions &amp; Constraints</vt:lpstr>
      <vt:lpstr>System Overview — Architecture / Design</vt:lpstr>
      <vt:lpstr>Build Plan &amp; Timeline</vt:lpstr>
      <vt:lpstr>Resources &amp; Budget</vt:lpstr>
      <vt:lpstr>Demo &amp; Test Plan</vt:lpstr>
      <vt:lpstr>Evidence — Results &amp; Findings</vt:lpstr>
      <vt:lpstr>Demo Video &amp; Repositories</vt:lpstr>
      <vt:lpstr>Risks, Limitations &amp; Mitigations</vt:lpstr>
      <vt:lpstr>Go/No‑Go &amp; Next Steps → Prototype</vt:lpstr>
      <vt:lpstr>Annex — Domain-Specific Checklist (Duplicate relevant items)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Thiruvaazhi Uloli</dc:creator>
  <cp:keywords/>
  <dc:description>generated using python-pptx</dc:description>
  <cp:lastModifiedBy>sk srikanth</cp:lastModifiedBy>
  <cp:revision>11</cp:revision>
  <dcterms:created xsi:type="dcterms:W3CDTF">2013-01-27T09:14:16Z</dcterms:created>
  <dcterms:modified xsi:type="dcterms:W3CDTF">2025-11-05T05:19:50Z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0x0101004AD9324C02AF684081B0638F841F77A7</vt:lpwstr>
  </property>
</Properties>
</file>