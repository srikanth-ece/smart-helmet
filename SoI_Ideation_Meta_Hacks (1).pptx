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56" r:id="rId5"/>
    <p:sldId id="258" r:id="rId6"/>
    <p:sldId id="270" r:id="rId7"/>
    <p:sldId id="271" r:id="rId8"/>
    <p:sldId id="262" r:id="rId9"/>
    <p:sldId id="263" r:id="rId10"/>
    <p:sldId id="264" r:id="rId11"/>
    <p:sldId id="265" r:id="rId12"/>
    <p:sldId id="266" r:id="rId13"/>
    <p:sldId id="267" r:id="rId14"/>
    <p:sldId id="268"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6D6324-17E5-4E59-B463-5E27521FA2A2}" v="35" dt="2025-10-05T13:44:02.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5E584E-F043-462D-B02A-16A7A604183E}" type="datetimeFigureOut">
              <a:rPr lang="en-IN" smtClean="0"/>
              <a:t>06-10-2025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00BE55-3DA5-4666-92EA-5C4DEE7C061F}" type="slidenum">
              <a:rPr lang="en-IN" smtClean="0"/>
              <a:t>‹#›</a:t>
            </a:fld>
            <a:endParaRPr lang="en-IN"/>
          </a:p>
        </p:txBody>
      </p:sp>
    </p:spTree>
    <p:extLst>
      <p:ext uri="{BB962C8B-B14F-4D97-AF65-F5344CB8AC3E}">
        <p14:creationId xmlns:p14="http://schemas.microsoft.com/office/powerpoint/2010/main" val="430578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00BE55-3DA5-4666-92EA-5C4DEE7C061F}" type="slidenum">
              <a:rPr lang="en-IN" smtClean="0"/>
              <a:t>1</a:t>
            </a:fld>
            <a:endParaRPr lang="en-IN"/>
          </a:p>
        </p:txBody>
      </p:sp>
    </p:spTree>
    <p:extLst>
      <p:ext uri="{BB962C8B-B14F-4D97-AF65-F5344CB8AC3E}">
        <p14:creationId xmlns:p14="http://schemas.microsoft.com/office/powerpoint/2010/main" val="3061456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00BE55-3DA5-4666-92EA-5C4DEE7C061F}" type="slidenum">
              <a:rPr lang="en-IN" smtClean="0"/>
              <a:t>5</a:t>
            </a:fld>
            <a:endParaRPr lang="en-IN"/>
          </a:p>
        </p:txBody>
      </p:sp>
    </p:spTree>
    <p:extLst>
      <p:ext uri="{BB962C8B-B14F-4D97-AF65-F5344CB8AC3E}">
        <p14:creationId xmlns:p14="http://schemas.microsoft.com/office/powerpoint/2010/main" val="470114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00BE55-3DA5-4666-92EA-5C4DEE7C061F}" type="slidenum">
              <a:rPr lang="en-IN" smtClean="0"/>
              <a:t>9</a:t>
            </a:fld>
            <a:endParaRPr lang="en-IN"/>
          </a:p>
        </p:txBody>
      </p:sp>
    </p:spTree>
    <p:extLst>
      <p:ext uri="{BB962C8B-B14F-4D97-AF65-F5344CB8AC3E}">
        <p14:creationId xmlns:p14="http://schemas.microsoft.com/office/powerpoint/2010/main" val="3571594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www.pololu.com/file/0j310/mq3.pdf" TargetMode="External"/><Relationship Id="rId2" Type="http://schemas.openxmlformats.org/officeDocument/2006/relationships/hyperlink" Target="https://crashstats.nhtsa.dot.gov/Api/Public/Publication/813466" TargetMode="External"/><Relationship Id="rId1" Type="http://schemas.openxmlformats.org/officeDocument/2006/relationships/slideLayout" Target="../slideLayouts/slideLayout2.xml"/><Relationship Id="rId5" Type="http://schemas.openxmlformats.org/officeDocument/2006/relationships/hyperlink" Target="https://www.researchgate.net/publication/326446749_Ignition_Interlock_Device_for_Motorcycles" TargetMode="External"/><Relationship Id="rId4" Type="http://schemas.openxmlformats.org/officeDocument/2006/relationships/hyperlink" Target="https://ijarsct.co.in/Paper9228.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321" y="640080"/>
            <a:ext cx="4688333" cy="3566160"/>
          </a:xfrm>
        </p:spPr>
        <p:txBody>
          <a:bodyPr anchor="b">
            <a:normAutofit/>
          </a:bodyPr>
          <a:lstStyle/>
          <a:p>
            <a:pPr algn="l"/>
            <a:r>
              <a:rPr lang="en-US" sz="4800" dirty="0"/>
              <a:t>Innovative IoT-Based Helmet for Real-Time Rider Protection</a:t>
            </a:r>
            <a:endParaRPr lang="en-IN" sz="4700" dirty="0"/>
          </a:p>
        </p:txBody>
      </p:sp>
      <p:sp>
        <p:nvSpPr>
          <p:cNvPr id="3" name="Subtitle 2"/>
          <p:cNvSpPr>
            <a:spLocks noGrp="1"/>
          </p:cNvSpPr>
          <p:nvPr>
            <p:ph type="subTitle" idx="1"/>
          </p:nvPr>
        </p:nvSpPr>
        <p:spPr>
          <a:xfrm>
            <a:off x="3704872" y="4645152"/>
            <a:ext cx="4688333" cy="1572768"/>
          </a:xfrm>
        </p:spPr>
        <p:txBody>
          <a:bodyPr>
            <a:normAutofit lnSpcReduction="10000"/>
          </a:bodyPr>
          <a:lstStyle/>
          <a:p>
            <a:pPr lvl="1"/>
            <a:r>
              <a:rPr lang="en-IN" sz="1800" dirty="0">
                <a:solidFill>
                  <a:srgbClr val="000000"/>
                </a:solidFill>
              </a:rPr>
              <a:t>Team: Meta-Hacks  |  Lead: Raghul G</a:t>
            </a:r>
          </a:p>
          <a:p>
            <a:pPr lvl="1"/>
            <a:r>
              <a:rPr lang="en-IN" sz="1800" dirty="0">
                <a:solidFill>
                  <a:srgbClr val="000000"/>
                </a:solidFill>
              </a:rPr>
              <a:t>Members: Srikanth M, Nandha </a:t>
            </a:r>
            <a:r>
              <a:rPr lang="en-IN" sz="1800" dirty="0" err="1">
                <a:solidFill>
                  <a:srgbClr val="000000"/>
                </a:solidFill>
              </a:rPr>
              <a:t>kumar</a:t>
            </a:r>
            <a:r>
              <a:rPr lang="en-IN" sz="1800" dirty="0">
                <a:solidFill>
                  <a:srgbClr val="000000"/>
                </a:solidFill>
              </a:rPr>
              <a:t> C S, </a:t>
            </a:r>
          </a:p>
          <a:p>
            <a:pPr lvl="1"/>
            <a:r>
              <a:rPr lang="en-IN" sz="1800" dirty="0">
                <a:solidFill>
                  <a:srgbClr val="000000"/>
                </a:solidFill>
              </a:rPr>
              <a:t>Vishnu Vardhan A, Sanjay T M</a:t>
            </a:r>
          </a:p>
          <a:p>
            <a:pPr lvl="1"/>
            <a:r>
              <a:rPr lang="en-IN" sz="1600" dirty="0" err="1">
                <a:solidFill>
                  <a:srgbClr val="000000"/>
                </a:solidFill>
              </a:rPr>
              <a:t>SoI</a:t>
            </a:r>
            <a:r>
              <a:rPr lang="en-IN" sz="1600" dirty="0">
                <a:solidFill>
                  <a:srgbClr val="000000"/>
                </a:solidFill>
              </a:rPr>
              <a:t> Mentor: </a:t>
            </a:r>
            <a:r>
              <a:rPr lang="en-IN" sz="1800" dirty="0">
                <a:solidFill>
                  <a:srgbClr val="000000"/>
                </a:solidFill>
              </a:rPr>
              <a:t>T.K. Mathi Yuvarajan</a:t>
            </a:r>
          </a:p>
          <a:p>
            <a:pPr lvl="1"/>
            <a:r>
              <a:rPr lang="en-IN" sz="1600" dirty="0">
                <a:solidFill>
                  <a:srgbClr val="000000"/>
                </a:solidFill>
              </a:rPr>
              <a:t> Batch: [2024-28]</a:t>
            </a:r>
          </a:p>
        </p:txBody>
      </p:sp>
      <p:pic>
        <p:nvPicPr>
          <p:cNvPr id="5" name="Picture 4" descr="Light bulbs on blackboard background">
            <a:extLst>
              <a:ext uri="{FF2B5EF4-FFF2-40B4-BE49-F238E27FC236}">
                <a16:creationId xmlns:a16="http://schemas.microsoft.com/office/drawing/2014/main" id="{0C4ED605-1D3A-5ABB-B356-C44F2259E061}"/>
              </a:ext>
            </a:extLst>
          </p:cNvPr>
          <p:cNvPicPr>
            <a:picLocks noChangeAspect="1"/>
          </p:cNvPicPr>
          <p:nvPr/>
        </p:nvPicPr>
        <p:blipFill>
          <a:blip r:embed="rId3"/>
          <a:srcRect l="31860" r="36307"/>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Problem &amp; End‑User Recap</a:t>
            </a:r>
          </a:p>
        </p:txBody>
      </p:sp>
      <p:sp>
        <p:nvSpPr>
          <p:cNvPr id="3" name="Content Placeholder 2"/>
          <p:cNvSpPr>
            <a:spLocks noGrp="1"/>
          </p:cNvSpPr>
          <p:nvPr>
            <p:ph idx="1"/>
          </p:nvPr>
        </p:nvSpPr>
        <p:spPr>
          <a:xfrm>
            <a:off x="457200" y="1356920"/>
            <a:ext cx="8229600" cy="5161326"/>
          </a:xfrm>
        </p:spPr>
        <p:txBody>
          <a:bodyPr>
            <a:normAutofit fontScale="70000" lnSpcReduction="20000"/>
          </a:bodyPr>
          <a:lstStyle/>
          <a:p>
            <a:pPr>
              <a:defRPr sz="1800"/>
            </a:pPr>
            <a:r>
              <a:rPr sz="2300" dirty="0"/>
              <a:t>Problem Statement</a:t>
            </a:r>
            <a:r>
              <a:rPr lang="en-US" sz="2300" dirty="0"/>
              <a:t>:</a:t>
            </a:r>
          </a:p>
          <a:p>
            <a:pPr marL="0" indent="0">
              <a:buNone/>
              <a:defRPr sz="1800"/>
            </a:pPr>
            <a:endParaRPr lang="en-US" sz="2300" dirty="0"/>
          </a:p>
          <a:p>
            <a:pPr marL="0" indent="0">
              <a:buNone/>
              <a:defRPr sz="1800"/>
            </a:pPr>
            <a:r>
              <a:rPr lang="en-US" sz="2300" dirty="0"/>
              <a:t>	Riders under the influence of alcohol are one of the leading causes of two-wheeler accidents.</a:t>
            </a:r>
          </a:p>
          <a:p>
            <a:pPr marL="0" indent="0">
              <a:buNone/>
              <a:defRPr sz="1800"/>
            </a:pPr>
            <a:r>
              <a:rPr lang="en-US" sz="2300" dirty="0"/>
              <a:t>	The current gap is the reliance on external enforcement, with no technological barrier to prevent a drunk rider from starting their vehicle. </a:t>
            </a:r>
          </a:p>
          <a:p>
            <a:pPr marL="0" indent="0">
              <a:buNone/>
              <a:defRPr sz="1800"/>
            </a:pPr>
            <a:endParaRPr sz="2300" dirty="0"/>
          </a:p>
          <a:p>
            <a:pPr>
              <a:defRPr sz="1800"/>
            </a:pPr>
            <a:r>
              <a:rPr sz="2300" dirty="0"/>
              <a:t>Target End‑User: </a:t>
            </a:r>
            <a:endParaRPr lang="en-IN" sz="2300" dirty="0"/>
          </a:p>
          <a:p>
            <a:pPr marL="0" indent="0">
              <a:buNone/>
              <a:defRPr sz="1800"/>
            </a:pPr>
            <a:endParaRPr lang="en-US" sz="2300" dirty="0"/>
          </a:p>
          <a:p>
            <a:pPr marL="0" indent="0">
              <a:buNone/>
              <a:defRPr sz="1800"/>
            </a:pPr>
            <a:r>
              <a:rPr lang="en-US" sz="2300" dirty="0"/>
              <a:t>	</a:t>
            </a:r>
            <a:r>
              <a:rPr lang="en-US" sz="2300" b="1" dirty="0"/>
              <a:t>Two-Wheeler Riders</a:t>
            </a:r>
            <a:r>
              <a:rPr lang="en-US" sz="2300" dirty="0"/>
              <a:t> → Primary users who need a safety mechanism to prevent intoxicated riding.</a:t>
            </a:r>
          </a:p>
          <a:p>
            <a:pPr marL="0" indent="0">
              <a:buNone/>
              <a:defRPr sz="1800"/>
            </a:pPr>
            <a:r>
              <a:rPr lang="en-US" sz="2300" dirty="0"/>
              <a:t>	</a:t>
            </a:r>
            <a:r>
              <a:rPr lang="en-US" sz="2300" b="1" dirty="0"/>
              <a:t>Parents/Guardians</a:t>
            </a:r>
            <a:r>
              <a:rPr lang="en-US" sz="2300" dirty="0"/>
              <a:t> → Concerned about young riders and seeking an accountability solution.</a:t>
            </a:r>
          </a:p>
          <a:p>
            <a:pPr marL="0" indent="0">
              <a:buNone/>
              <a:defRPr sz="1800"/>
            </a:pPr>
            <a:r>
              <a:rPr lang="en-US" sz="2300" dirty="0"/>
              <a:t>	</a:t>
            </a:r>
            <a:r>
              <a:rPr lang="en-US" sz="2300" b="1" dirty="0"/>
              <a:t>Police/Traffic Authorities</a:t>
            </a:r>
            <a:r>
              <a:rPr lang="en-US" sz="2300" dirty="0"/>
              <a:t> → Benefit from a reduced burden in monitoring and enforcement. </a:t>
            </a:r>
          </a:p>
          <a:p>
            <a:pPr marL="0" indent="0">
              <a:buNone/>
              <a:defRPr sz="1800"/>
            </a:pPr>
            <a:endParaRPr lang="en-US" sz="2300" dirty="0"/>
          </a:p>
          <a:p>
            <a:pPr>
              <a:defRPr sz="1800"/>
            </a:pPr>
            <a:r>
              <a:rPr lang="en-US" sz="2300" dirty="0"/>
              <a:t>Evidence/Insight:</a:t>
            </a:r>
          </a:p>
          <a:p>
            <a:pPr>
              <a:defRPr sz="1800"/>
            </a:pPr>
            <a:endParaRPr lang="en-US" sz="2300" dirty="0"/>
          </a:p>
          <a:p>
            <a:pPr marL="0" indent="0">
              <a:buNone/>
              <a:defRPr sz="1800"/>
            </a:pPr>
            <a:r>
              <a:rPr lang="en-US" sz="2300" dirty="0"/>
              <a:t>	Alcohol-impaired driving is a major contributor to fatal road accidents. </a:t>
            </a:r>
          </a:p>
          <a:p>
            <a:pPr marL="0" indent="0">
              <a:buNone/>
            </a:pPr>
            <a:r>
              <a:rPr lang="en-US" sz="2300" dirty="0"/>
              <a:t>	</a:t>
            </a:r>
          </a:p>
          <a:p>
            <a:pPr marL="0" indent="0">
              <a:buNone/>
            </a:pPr>
            <a:r>
              <a:rPr lang="en-US" sz="2300" dirty="0"/>
              <a:t>	The system creates </a:t>
            </a:r>
            <a:r>
              <a:rPr lang="en-US" sz="2300" b="1" dirty="0"/>
              <a:t>accountability for riders</a:t>
            </a:r>
            <a:r>
              <a:rPr lang="en-US" sz="2300" dirty="0"/>
              <a:t> by integrating prevention directly into the vehicle ignition process.</a:t>
            </a:r>
          </a:p>
          <a:p>
            <a:pPr marL="0" indent="0">
              <a:buNone/>
              <a:defRPr sz="1800"/>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72F0DCC-26AB-163C-987D-D14E44FE7E40}"/>
              </a:ext>
            </a:extLst>
          </p:cNvPr>
          <p:cNvGraphicFramePr>
            <a:graphicFrameLocks noGrp="1"/>
          </p:cNvGraphicFramePr>
          <p:nvPr>
            <p:extLst>
              <p:ext uri="{D42A27DB-BD31-4B8C-83A1-F6EECF244321}">
                <p14:modId xmlns:p14="http://schemas.microsoft.com/office/powerpoint/2010/main" val="2280737186"/>
              </p:ext>
            </p:extLst>
          </p:nvPr>
        </p:nvGraphicFramePr>
        <p:xfrm>
          <a:off x="457200" y="1554480"/>
          <a:ext cx="8229600" cy="4114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2057400">
                <a:tc>
                  <a:txBody>
                    <a:bodyPr/>
                    <a:lstStyle/>
                    <a:p>
                      <a:r>
                        <a:rPr lang="en-IN" sz="1400" dirty="0"/>
                        <a:t>Panel 1: Problem in context </a:t>
                      </a:r>
                    </a:p>
                    <a:p>
                      <a:pPr lvl="0">
                        <a:buNone/>
                      </a:pPr>
                      <a:endParaRPr lang="en-IN" sz="1400" dirty="0"/>
                    </a:p>
                    <a:p>
                      <a:pPr lvl="0">
                        <a:buNone/>
                      </a:pPr>
                      <a:r>
                        <a:rPr lang="en-US" sz="1400" b="0" dirty="0"/>
                        <a:t>A rider leaves a friend's party late at night after consuming alcohol. They feel slightly impaired but believe they can manage the short ride home. The key is in the ignition.</a:t>
                      </a:r>
                      <a:endParaRPr lang="en-IN" b="0" dirty="0"/>
                    </a:p>
                  </a:txBody>
                  <a:tcPr marL="54000" marR="54000" marT="36000" marB="36000"/>
                </a:tc>
                <a:tc>
                  <a:txBody>
                    <a:bodyPr/>
                    <a:lstStyle/>
                    <a:p>
                      <a:r>
                        <a:rPr lang="en-IN" sz="1400" dirty="0"/>
                        <a:t>Panel 2: User attempts current workaround…</a:t>
                      </a:r>
                    </a:p>
                    <a:p>
                      <a:pPr lvl="0">
                        <a:buNone/>
                      </a:pPr>
                      <a:r>
                        <a:rPr lang="en-US" sz="1400" b="0" dirty="0"/>
                        <a:t>The rider attempts to start the bike. The ignition key turns, but the bike's starter motor remains disabled. The rider is confused and frustrated, but the vehicle is immobilized.</a:t>
                      </a:r>
                      <a:endParaRPr lang="en-IN" b="0" dirty="0"/>
                    </a:p>
                  </a:txBody>
                  <a:tcPr marL="54000" marR="54000" marT="36000" marB="36000"/>
                </a:tc>
                <a:tc>
                  <a:txBody>
                    <a:bodyPr/>
                    <a:lstStyle/>
                    <a:p>
                      <a:r>
                        <a:rPr lang="en-IN" sz="1400" dirty="0"/>
                        <a:t>Panel 3: Introduce solution idea…</a:t>
                      </a:r>
                    </a:p>
                    <a:p>
                      <a:pPr lvl="0">
                        <a:buNone/>
                      </a:pPr>
                      <a:r>
                        <a:rPr lang="en-US" sz="1400" b="0" dirty="0"/>
                        <a:t>An integrated Smart Helmet System uses an MQ3 alcohol sensor to detect a BAC (Blood Alcohol Content) above the safe threshold directly from the rider's breath </a:t>
                      </a:r>
                      <a:r>
                        <a:rPr lang="en-US" sz="1400" b="0" i="1" dirty="0"/>
                        <a:t>before</a:t>
                      </a:r>
                      <a:r>
                        <a:rPr lang="en-US" sz="1400" b="0" dirty="0"/>
                        <a:t> ignition.</a:t>
                      </a:r>
                      <a:endParaRPr lang="en-IN" b="0" dirty="0"/>
                    </a:p>
                  </a:txBody>
                  <a:tcPr marL="54000" marR="54000" marT="36000" marB="36000"/>
                </a:tc>
                <a:extLst>
                  <a:ext uri="{0D108BD9-81ED-4DB2-BD59-A6C34878D82A}">
                    <a16:rowId xmlns:a16="http://schemas.microsoft.com/office/drawing/2014/main" val="10000"/>
                  </a:ext>
                </a:extLst>
              </a:tr>
              <a:tr h="2057400">
                <a:tc>
                  <a:txBody>
                    <a:bodyPr/>
                    <a:lstStyle/>
                    <a:p>
                      <a:r>
                        <a:rPr lang="en-IN" sz="1400" dirty="0"/>
                        <a:t>Panel 4: User interacts with solution…</a:t>
                      </a:r>
                    </a:p>
                    <a:p>
                      <a:pPr lvl="0">
                        <a:buNone/>
                      </a:pPr>
                      <a:r>
                        <a:rPr lang="en-US" sz="1400" dirty="0"/>
                        <a:t>A </a:t>
                      </a:r>
                      <a:r>
                        <a:rPr lang="en-US" sz="1400" b="1" dirty="0"/>
                        <a:t>red LED/Buzzer alert</a:t>
                      </a:r>
                      <a:r>
                        <a:rPr lang="en-US" sz="1400" dirty="0"/>
                        <a:t> on the helmet activates, signaling an alcohol detection. The rider realizes the system has correctly identified their impaired state and chooses to arrange for a ride-share instead of attempting to bypass the system.</a:t>
                      </a:r>
                      <a:endParaRPr lang="en-IN" dirty="0"/>
                    </a:p>
                  </a:txBody>
                  <a:tcPr marL="54000" marR="54000" marT="36000" marB="36000"/>
                </a:tc>
                <a:tc>
                  <a:txBody>
                    <a:bodyPr/>
                    <a:lstStyle/>
                    <a:p>
                      <a:r>
                        <a:rPr lang="en-IN" sz="1400" dirty="0"/>
                        <a:t>Panel 5: Outcome / value delivered…</a:t>
                      </a:r>
                    </a:p>
                    <a:p>
                      <a:pPr lvl="0">
                        <a:buNone/>
                      </a:pPr>
                      <a:r>
                        <a:rPr lang="en-US" sz="1400" b="0" dirty="0"/>
                        <a:t>The rider is safely prevented from operating the vehicle while intoxicated. Drunk driving is avoided, saving the rider's life and preventing potential harm to other road users and property. Accountability is enforced.</a:t>
                      </a:r>
                      <a:endParaRPr lang="en-IN" b="0" dirty="0"/>
                    </a:p>
                  </a:txBody>
                  <a:tcPr marL="54000" marR="54000" marT="36000" marB="36000"/>
                </a:tc>
                <a:tc>
                  <a:txBody>
                    <a:bodyPr/>
                    <a:lstStyle/>
                    <a:p>
                      <a:r>
                        <a:rPr lang="en-IN" sz="1400" dirty="0"/>
                        <a:t>Panel 6: What remains to improve…</a:t>
                      </a:r>
                    </a:p>
                    <a:p>
                      <a:pPr lvl="0" algn="l">
                        <a:lnSpc>
                          <a:spcPct val="100000"/>
                        </a:lnSpc>
                        <a:spcBef>
                          <a:spcPts val="0"/>
                        </a:spcBef>
                        <a:spcAft>
                          <a:spcPts val="0"/>
                        </a:spcAft>
                        <a:buNone/>
                      </a:pPr>
                      <a:r>
                        <a:rPr lang="en-US" sz="1400" b="0" dirty="0"/>
                        <a:t>Enhance anti-tampering mechanisms (e.g., pressure sensor to ensure helmet wear), integrate GSM notification to family/authorities upon lock-out, and refine sensor calibration for environmental changes.</a:t>
                      </a:r>
                      <a:endParaRPr lang="en-IN" sz="1400" b="0" dirty="0"/>
                    </a:p>
                  </a:txBody>
                  <a:tcPr marL="54000" marR="54000" marT="36000" marB="36000"/>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FA423BF3-A129-A024-9405-FDB0565644A0}"/>
              </a:ext>
            </a:extLst>
          </p:cNvPr>
          <p:cNvSpPr txBox="1"/>
          <p:nvPr/>
        </p:nvSpPr>
        <p:spPr>
          <a:xfrm>
            <a:off x="2610853" y="573323"/>
            <a:ext cx="4572000" cy="523220"/>
          </a:xfrm>
          <a:prstGeom prst="rect">
            <a:avLst/>
          </a:prstGeom>
          <a:noFill/>
        </p:spPr>
        <p:txBody>
          <a:bodyPr wrap="square">
            <a:spAutoFit/>
          </a:bodyPr>
          <a:lstStyle/>
          <a:p>
            <a:r>
              <a:rPr lang="en-IN" sz="1800" dirty="0"/>
              <a:t>		</a:t>
            </a:r>
            <a:r>
              <a:rPr lang="en-IN" sz="2800" dirty="0"/>
              <a:t>Storyboard</a:t>
            </a:r>
            <a:r>
              <a:rPr lang="en-IN" sz="1800" dirty="0"/>
              <a:t> </a:t>
            </a:r>
            <a:endParaRPr lang="en-IN" dirty="0"/>
          </a:p>
        </p:txBody>
      </p:sp>
    </p:spTree>
    <p:extLst>
      <p:ext uri="{BB962C8B-B14F-4D97-AF65-F5344CB8AC3E}">
        <p14:creationId xmlns:p14="http://schemas.microsoft.com/office/powerpoint/2010/main" val="1128285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5">
            <a:extLst>
              <a:ext uri="{FF2B5EF4-FFF2-40B4-BE49-F238E27FC236}">
                <a16:creationId xmlns:a16="http://schemas.microsoft.com/office/drawing/2014/main" id="{BF9ED9B3-85E7-9796-F88A-5E6441AFD3AF}"/>
              </a:ext>
            </a:extLst>
          </p:cNvPr>
          <p:cNvGraphicFramePr>
            <a:graphicFrameLocks/>
          </p:cNvGraphicFramePr>
          <p:nvPr>
            <p:extLst>
              <p:ext uri="{D42A27DB-BD31-4B8C-83A1-F6EECF244321}">
                <p14:modId xmlns:p14="http://schemas.microsoft.com/office/powerpoint/2010/main" val="1408558082"/>
              </p:ext>
            </p:extLst>
          </p:nvPr>
        </p:nvGraphicFramePr>
        <p:xfrm>
          <a:off x="553452" y="1600200"/>
          <a:ext cx="8229600" cy="2651760"/>
        </p:xfrm>
        <a:graphic>
          <a:graphicData uri="http://schemas.openxmlformats.org/drawingml/2006/table">
            <a:tbl>
              <a:tblPr bandRow="1">
                <a:tableStyleId>{5C22544A-7EE6-4342-B048-85BDC9FD1C3A}</a:tableStyleId>
              </a:tblPr>
              <a:tblGrid>
                <a:gridCol w="2743200">
                  <a:extLst>
                    <a:ext uri="{9D8B030D-6E8A-4147-A177-3AD203B41FA5}">
                      <a16:colId xmlns:a16="http://schemas.microsoft.com/office/drawing/2014/main" val="2080297048"/>
                    </a:ext>
                  </a:extLst>
                </a:gridCol>
                <a:gridCol w="2743200">
                  <a:extLst>
                    <a:ext uri="{9D8B030D-6E8A-4147-A177-3AD203B41FA5}">
                      <a16:colId xmlns:a16="http://schemas.microsoft.com/office/drawing/2014/main" val="2678171441"/>
                    </a:ext>
                  </a:extLst>
                </a:gridCol>
                <a:gridCol w="2743200">
                  <a:extLst>
                    <a:ext uri="{9D8B030D-6E8A-4147-A177-3AD203B41FA5}">
                      <a16:colId xmlns:a16="http://schemas.microsoft.com/office/drawing/2014/main" val="1352190671"/>
                    </a:ext>
                  </a:extLst>
                </a:gridCol>
              </a:tblGrid>
              <a:tr h="0">
                <a:tc>
                  <a:txBody>
                    <a:bodyPr/>
                    <a:lstStyle/>
                    <a:p>
                      <a:pPr>
                        <a:buNone/>
                      </a:pPr>
                      <a:r>
                        <a:rPr lang="en-US" b="1"/>
                        <a:t>Customer Jobs</a:t>
                      </a:r>
                      <a:endParaRPr lang="en-US"/>
                    </a:p>
                  </a:txBody>
                  <a:tcPr anchor="ctr">
                    <a:lnL>
                      <a:noFill/>
                    </a:lnL>
                    <a:lnR>
                      <a:noFill/>
                    </a:lnR>
                    <a:lnT>
                      <a:noFill/>
                    </a:lnT>
                    <a:lnB>
                      <a:noFill/>
                    </a:lnB>
                    <a:noFill/>
                  </a:tcPr>
                </a:tc>
                <a:tc>
                  <a:txBody>
                    <a:bodyPr/>
                    <a:lstStyle/>
                    <a:p>
                      <a:pPr>
                        <a:buNone/>
                      </a:pPr>
                      <a:r>
                        <a:rPr lang="en-US" b="1"/>
                        <a:t>Customer Pains</a:t>
                      </a:r>
                      <a:endParaRPr lang="en-US"/>
                    </a:p>
                  </a:txBody>
                  <a:tcPr anchor="ctr">
                    <a:lnL>
                      <a:noFill/>
                    </a:lnL>
                    <a:lnR>
                      <a:noFill/>
                    </a:lnR>
                    <a:lnT>
                      <a:noFill/>
                    </a:lnT>
                    <a:lnB>
                      <a:noFill/>
                    </a:lnB>
                    <a:noFill/>
                  </a:tcPr>
                </a:tc>
                <a:tc>
                  <a:txBody>
                    <a:bodyPr/>
                    <a:lstStyle/>
                    <a:p>
                      <a:pPr>
                        <a:buNone/>
                      </a:pPr>
                      <a:r>
                        <a:rPr lang="en-US" b="1"/>
                        <a:t>Customer Gains</a:t>
                      </a:r>
                      <a:endParaRPr lang="en-US"/>
                    </a:p>
                  </a:txBody>
                  <a:tcPr anchor="ctr">
                    <a:lnL>
                      <a:noFill/>
                    </a:lnL>
                    <a:lnR>
                      <a:noFill/>
                    </a:lnR>
                    <a:lnT>
                      <a:noFill/>
                    </a:lnT>
                    <a:lnB>
                      <a:noFill/>
                    </a:lnB>
                    <a:noFill/>
                  </a:tcPr>
                </a:tc>
                <a:extLst>
                  <a:ext uri="{0D108BD9-81ED-4DB2-BD59-A6C34878D82A}">
                    <a16:rowId xmlns:a16="http://schemas.microsoft.com/office/drawing/2014/main" val="890856413"/>
                  </a:ext>
                </a:extLst>
              </a:tr>
              <a:tr h="0">
                <a:tc>
                  <a:txBody>
                    <a:bodyPr/>
                    <a:lstStyle/>
                    <a:p>
                      <a:pPr>
                        <a:buNone/>
                      </a:pPr>
                      <a:r>
                        <a:rPr lang="en-US"/>
                        <a:t>- Monitor forest conditions continuously </a:t>
                      </a:r>
                      <a:br>
                        <a:rPr lang="en-US"/>
                      </a:br>
                      <a:r>
                        <a:rPr lang="en-US"/>
                        <a:t>- Detect and prevent wildfires early </a:t>
                      </a:r>
                      <a:br>
                        <a:rPr lang="en-US"/>
                      </a:br>
                      <a:r>
                        <a:rPr lang="en-US"/>
                        <a:t>- Protect wildlife and vegetation </a:t>
                      </a:r>
                      <a:br>
                        <a:rPr lang="en-US"/>
                      </a:br>
                      <a:r>
                        <a:rPr lang="en-US"/>
                        <a:t>- Ensure public safety and resource management</a:t>
                      </a:r>
                    </a:p>
                  </a:txBody>
                  <a:tcPr anchor="ctr">
                    <a:lnL>
                      <a:noFill/>
                    </a:lnL>
                    <a:lnR>
                      <a:noFill/>
                    </a:lnR>
                    <a:lnT>
                      <a:noFill/>
                    </a:lnT>
                    <a:lnB>
                      <a:noFill/>
                    </a:lnB>
                    <a:noFill/>
                  </a:tcPr>
                </a:tc>
                <a:tc>
                  <a:txBody>
                    <a:bodyPr/>
                    <a:lstStyle/>
                    <a:p>
                      <a:endParaRPr lang="en-US"/>
                    </a:p>
                  </a:txBody>
                  <a:tcPr>
                    <a:lnL>
                      <a:noFill/>
                    </a:lnL>
                    <a:lnT>
                      <a:noFill/>
                    </a:lnT>
                  </a:tcPr>
                </a:tc>
                <a:tc>
                  <a:txBody>
                    <a:bodyPr/>
                    <a:lstStyle/>
                    <a:p>
                      <a:endParaRPr lang="en-US"/>
                    </a:p>
                  </a:txBody>
                  <a:tcPr>
                    <a:lnT>
                      <a:noFill/>
                    </a:lnT>
                  </a:tcPr>
                </a:tc>
                <a:extLst>
                  <a:ext uri="{0D108BD9-81ED-4DB2-BD59-A6C34878D82A}">
                    <a16:rowId xmlns:a16="http://schemas.microsoft.com/office/drawing/2014/main" val="4016145645"/>
                  </a:ext>
                </a:extLst>
              </a:tr>
            </a:tbl>
          </a:graphicData>
        </a:graphic>
      </p:graphicFrame>
      <p:graphicFrame>
        <p:nvGraphicFramePr>
          <p:cNvPr id="3" name="Table 2">
            <a:extLst>
              <a:ext uri="{FF2B5EF4-FFF2-40B4-BE49-F238E27FC236}">
                <a16:creationId xmlns:a16="http://schemas.microsoft.com/office/drawing/2014/main" id="{5ECC0CF5-CE0F-4142-CFF6-C16568339672}"/>
              </a:ext>
            </a:extLst>
          </p:cNvPr>
          <p:cNvGraphicFramePr>
            <a:graphicFrameLocks noGrp="1"/>
          </p:cNvGraphicFramePr>
          <p:nvPr>
            <p:extLst>
              <p:ext uri="{D42A27DB-BD31-4B8C-83A1-F6EECF244321}">
                <p14:modId xmlns:p14="http://schemas.microsoft.com/office/powerpoint/2010/main" val="3142615768"/>
              </p:ext>
            </p:extLst>
          </p:nvPr>
        </p:nvGraphicFramePr>
        <p:xfrm>
          <a:off x="553452" y="950540"/>
          <a:ext cx="8229600" cy="5665265"/>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828145">
                <a:tc>
                  <a:txBody>
                    <a:bodyPr/>
                    <a:lstStyle/>
                    <a:p>
                      <a:r>
                        <a:rPr lang="en-IN" sz="1400" b="1" dirty="0"/>
                        <a:t>Customer Jobs: [..]</a:t>
                      </a:r>
                    </a:p>
                    <a:p>
                      <a:pPr lvl="0" algn="l">
                        <a:lnSpc>
                          <a:spcPct val="100000"/>
                        </a:lnSpc>
                        <a:spcBef>
                          <a:spcPts val="0"/>
                        </a:spcBef>
                        <a:spcAft>
                          <a:spcPts val="0"/>
                        </a:spcAft>
                        <a:buNone/>
                      </a:pPr>
                      <a:r>
                        <a:rPr lang="en-IN" sz="1400" b="0" i="0" u="none" strike="noStrike" noProof="0" dirty="0">
                          <a:latin typeface="Calibri"/>
                        </a:rPr>
                        <a:t>- </a:t>
                      </a:r>
                      <a:r>
                        <a:rPr lang="en-US" sz="1400" b="0" dirty="0"/>
                        <a:t>Ensure safe travel and compliance with traffic laws.</a:t>
                      </a:r>
                      <a:endParaRPr lang="en-IN" b="0" dirty="0"/>
                    </a:p>
                    <a:p>
                      <a:pPr lvl="0" algn="l">
                        <a:lnSpc>
                          <a:spcPct val="100000"/>
                        </a:lnSpc>
                        <a:spcBef>
                          <a:spcPts val="0"/>
                        </a:spcBef>
                        <a:spcAft>
                          <a:spcPts val="0"/>
                        </a:spcAft>
                        <a:buNone/>
                      </a:pPr>
                      <a:r>
                        <a:rPr lang="en-IN" sz="1400" b="0" i="0" u="none" strike="noStrike" noProof="0" dirty="0">
                          <a:latin typeface="Calibri"/>
                        </a:rPr>
                        <a:t>- </a:t>
                      </a:r>
                      <a:r>
                        <a:rPr lang="en-US" sz="1400" b="0" dirty="0"/>
                        <a:t>Prevent accidents and protect life/property.</a:t>
                      </a:r>
                      <a:endParaRPr lang="en-IN" b="0" dirty="0"/>
                    </a:p>
                    <a:p>
                      <a:pPr lvl="0" algn="l">
                        <a:lnSpc>
                          <a:spcPct val="100000"/>
                        </a:lnSpc>
                        <a:spcBef>
                          <a:spcPts val="0"/>
                        </a:spcBef>
                        <a:spcAft>
                          <a:spcPts val="0"/>
                        </a:spcAft>
                        <a:buNone/>
                      </a:pPr>
                      <a:r>
                        <a:rPr lang="en-IN" sz="1400" b="0" i="0" u="none" strike="noStrike" noProof="0" dirty="0">
                          <a:latin typeface="Calibri"/>
                        </a:rPr>
                        <a:t>- </a:t>
                      </a:r>
                      <a:r>
                        <a:rPr lang="en-IN" sz="1400" b="0" dirty="0"/>
                        <a:t>Reduce enforcement burden on police/families</a:t>
                      </a:r>
                      <a:endParaRPr lang="en-IN" b="0" dirty="0"/>
                    </a:p>
                    <a:p>
                      <a:pPr lvl="0">
                        <a:buNone/>
                      </a:pPr>
                      <a:endParaRPr lang="en-IN" sz="1400" b="1" dirty="0"/>
                    </a:p>
                  </a:txBody>
                  <a:tcPr marL="54000" marR="54000" marT="36000" marB="36000"/>
                </a:tc>
                <a:tc>
                  <a:txBody>
                    <a:bodyPr/>
                    <a:lstStyle/>
                    <a:p>
                      <a:r>
                        <a:rPr lang="en-IN" sz="1400" b="1" dirty="0"/>
                        <a:t>Customer Pains: [..]</a:t>
                      </a:r>
                    </a:p>
                    <a:p>
                      <a:pPr marL="285750" lvl="0" indent="-285750" algn="l">
                        <a:lnSpc>
                          <a:spcPct val="100000"/>
                        </a:lnSpc>
                        <a:spcBef>
                          <a:spcPts val="0"/>
                        </a:spcBef>
                        <a:spcAft>
                          <a:spcPts val="0"/>
                        </a:spcAft>
                        <a:buFontTx/>
                        <a:buChar char="-"/>
                      </a:pPr>
                      <a:r>
                        <a:rPr lang="en-US" sz="1400" b="0" dirty="0"/>
                        <a:t>Risk of DUI charges and license suspension.</a:t>
                      </a:r>
                      <a:endParaRPr lang="en-IN" sz="1400" b="0" i="0" u="none" strike="noStrike" noProof="0" dirty="0">
                        <a:latin typeface="Calibri"/>
                      </a:endParaRPr>
                    </a:p>
                    <a:p>
                      <a:pPr marL="285750" lvl="0" indent="-285750" algn="l">
                        <a:lnSpc>
                          <a:spcPct val="100000"/>
                        </a:lnSpc>
                        <a:spcBef>
                          <a:spcPts val="0"/>
                        </a:spcBef>
                        <a:spcAft>
                          <a:spcPts val="0"/>
                        </a:spcAft>
                        <a:buFontTx/>
                        <a:buChar char="-"/>
                      </a:pPr>
                      <a:r>
                        <a:rPr lang="en-US" sz="1400" b="0" dirty="0"/>
                        <a:t>Fatal accident risk due to impaired judgment.</a:t>
                      </a:r>
                    </a:p>
                    <a:p>
                      <a:pPr marL="285750" lvl="0" indent="-285750" algn="l">
                        <a:lnSpc>
                          <a:spcPct val="100000"/>
                        </a:lnSpc>
                        <a:spcBef>
                          <a:spcPts val="0"/>
                        </a:spcBef>
                        <a:spcAft>
                          <a:spcPts val="0"/>
                        </a:spcAft>
                        <a:buFontTx/>
                        <a:buChar char="-"/>
                      </a:pPr>
                      <a:r>
                        <a:rPr lang="en-US" sz="1400" b="0" dirty="0"/>
                        <a:t>Lack of accountability when alone.</a:t>
                      </a:r>
                      <a:endParaRPr lang="en-IN" b="0" dirty="0"/>
                    </a:p>
                  </a:txBody>
                  <a:tcPr marL="54000" marR="54000" marT="36000" marB="36000"/>
                </a:tc>
                <a:tc>
                  <a:txBody>
                    <a:bodyPr/>
                    <a:lstStyle/>
                    <a:p>
                      <a:r>
                        <a:rPr lang="en-IN" sz="1400" b="1" dirty="0"/>
                        <a:t>Customer Gains: [..]</a:t>
                      </a:r>
                    </a:p>
                    <a:p>
                      <a:pPr marL="285750" lvl="0" indent="-285750" algn="l">
                        <a:lnSpc>
                          <a:spcPct val="100000"/>
                        </a:lnSpc>
                        <a:spcBef>
                          <a:spcPts val="0"/>
                        </a:spcBef>
                        <a:spcAft>
                          <a:spcPts val="0"/>
                        </a:spcAft>
                        <a:buFontTx/>
                        <a:buChar char="-"/>
                      </a:pPr>
                      <a:r>
                        <a:rPr lang="en-US" sz="1400" b="0" dirty="0"/>
                        <a:t>Non-negotiable safety barrier against intoxication.</a:t>
                      </a:r>
                    </a:p>
                    <a:p>
                      <a:pPr marL="285750" lvl="0" indent="-285750" algn="l">
                        <a:lnSpc>
                          <a:spcPct val="100000"/>
                        </a:lnSpc>
                        <a:spcBef>
                          <a:spcPts val="0"/>
                        </a:spcBef>
                        <a:spcAft>
                          <a:spcPts val="0"/>
                        </a:spcAft>
                        <a:buFontTx/>
                        <a:buChar char="-"/>
                      </a:pPr>
                      <a:r>
                        <a:rPr lang="en-US" sz="1400" b="0" dirty="0"/>
                        <a:t>Zero-risk guarantee of a sober ride.</a:t>
                      </a:r>
                    </a:p>
                    <a:p>
                      <a:pPr lvl="0">
                        <a:buNone/>
                      </a:pPr>
                      <a:r>
                        <a:rPr lang="en-US" sz="1400" b="0" dirty="0"/>
                        <a:t>-    Enforced accountability for personal safety.</a:t>
                      </a:r>
                      <a:endParaRPr lang="en-IN" b="0" dirty="0"/>
                    </a:p>
                  </a:txBody>
                  <a:tcPr marL="54000" marR="54000" marT="36000" marB="36000"/>
                </a:tc>
                <a:extLst>
                  <a:ext uri="{0D108BD9-81ED-4DB2-BD59-A6C34878D82A}">
                    <a16:rowId xmlns:a16="http://schemas.microsoft.com/office/drawing/2014/main" val="10000"/>
                  </a:ext>
                </a:extLst>
              </a:tr>
              <a:tr h="1922417">
                <a:tc>
                  <a:txBody>
                    <a:bodyPr/>
                    <a:lstStyle/>
                    <a:p>
                      <a:r>
                        <a:rPr lang="en-US" sz="1400" dirty="0"/>
                        <a:t>An </a:t>
                      </a:r>
                      <a:r>
                        <a:rPr lang="en-US" sz="1400" b="1" dirty="0"/>
                        <a:t>integrated helmet system</a:t>
                      </a:r>
                      <a:r>
                        <a:rPr lang="en-US" sz="1400" dirty="0"/>
                        <a:t> combining an </a:t>
                      </a:r>
                      <a:r>
                        <a:rPr lang="en-US" sz="1400" b="1" dirty="0"/>
                        <a:t>MQ3 sensor</a:t>
                      </a:r>
                      <a:r>
                        <a:rPr lang="en-US" sz="1400" dirty="0"/>
                        <a:t> and </a:t>
                      </a:r>
                      <a:r>
                        <a:rPr lang="en-US" sz="1400" b="1" dirty="0"/>
                        <a:t>ESP32 microcontroller</a:t>
                      </a:r>
                      <a:r>
                        <a:rPr lang="en-US" sz="1400" dirty="0"/>
                        <a:t> with a </a:t>
                      </a:r>
                      <a:r>
                        <a:rPr lang="en-US" sz="1400" b="1" dirty="0"/>
                        <a:t>wireless ignition lock</a:t>
                      </a:r>
                      <a:r>
                        <a:rPr lang="en-US" sz="1400" dirty="0"/>
                        <a:t> mechanism.</a:t>
                      </a:r>
                      <a:endParaRPr lang="en-IN" dirty="0"/>
                    </a:p>
                  </a:txBody>
                  <a:tcPr marL="54000" marR="54000" marT="36000" marB="36000"/>
                </a:tc>
                <a:tc>
                  <a:txBody>
                    <a:bodyPr/>
                    <a:lstStyle/>
                    <a:p>
                      <a:r>
                        <a:rPr lang="en-IN" sz="1400" b="1" dirty="0"/>
                        <a:t>Pain Relievers: [..]</a:t>
                      </a:r>
                    </a:p>
                    <a:p>
                      <a:pPr marL="285750" lvl="0" indent="-285750" algn="l">
                        <a:lnSpc>
                          <a:spcPct val="100000"/>
                        </a:lnSpc>
                        <a:spcBef>
                          <a:spcPts val="0"/>
                        </a:spcBef>
                        <a:spcAft>
                          <a:spcPts val="0"/>
                        </a:spcAft>
                        <a:buFontTx/>
                        <a:buChar char="-"/>
                      </a:pPr>
                      <a:r>
                        <a:rPr lang="en-US" sz="1400" b="0" dirty="0"/>
                        <a:t>Prevents the primary action (starting the bike) if alcohol is detected.</a:t>
                      </a:r>
                    </a:p>
                    <a:p>
                      <a:pPr marL="285750" lvl="0" indent="-285750" algn="l">
                        <a:lnSpc>
                          <a:spcPct val="100000"/>
                        </a:lnSpc>
                        <a:spcBef>
                          <a:spcPts val="0"/>
                        </a:spcBef>
                        <a:spcAft>
                          <a:spcPts val="0"/>
                        </a:spcAft>
                        <a:buFontTx/>
                        <a:buChar char="-"/>
                      </a:pPr>
                      <a:r>
                        <a:rPr lang="en-US" b="0" dirty="0"/>
                        <a:t> </a:t>
                      </a:r>
                      <a:r>
                        <a:rPr lang="en-US" sz="1400" b="0" dirty="0"/>
                        <a:t>Minimizes police monitoring burden by providing a technical, automated barrier.</a:t>
                      </a:r>
                    </a:p>
                    <a:p>
                      <a:pPr marL="285750" lvl="0" indent="-285750" algn="l">
                        <a:lnSpc>
                          <a:spcPct val="100000"/>
                        </a:lnSpc>
                        <a:spcBef>
                          <a:spcPts val="0"/>
                        </a:spcBef>
                        <a:spcAft>
                          <a:spcPts val="0"/>
                        </a:spcAft>
                        <a:buFontTx/>
                        <a:buChar char="-"/>
                      </a:pPr>
                      <a:r>
                        <a:rPr lang="en-US" sz="1400" b="0" dirty="0"/>
                        <a:t>- Creates a clear boundary for safe vs. unsafe riding conditions.</a:t>
                      </a:r>
                    </a:p>
                  </a:txBody>
                  <a:tcPr marL="54000" marR="54000" marT="36000" marB="36000"/>
                </a:tc>
                <a:tc>
                  <a:txBody>
                    <a:bodyPr/>
                    <a:lstStyle/>
                    <a:p>
                      <a:r>
                        <a:rPr lang="en-IN" sz="1400" b="1" dirty="0"/>
                        <a:t>Gain Creators: [..]</a:t>
                      </a:r>
                    </a:p>
                    <a:p>
                      <a:pPr marL="285750" lvl="0" indent="-285750" algn="l">
                        <a:lnSpc>
                          <a:spcPct val="100000"/>
                        </a:lnSpc>
                        <a:spcBef>
                          <a:spcPts val="0"/>
                        </a:spcBef>
                        <a:spcAft>
                          <a:spcPts val="0"/>
                        </a:spcAft>
                        <a:buFontTx/>
                        <a:buChar char="-"/>
                      </a:pPr>
                      <a:r>
                        <a:rPr lang="en-US" sz="1400" b="0" dirty="0"/>
                        <a:t>Saves lives and prevents serious injury (core value).</a:t>
                      </a:r>
                    </a:p>
                    <a:p>
                      <a:pPr marL="285750" lvl="0" indent="-285750" algn="l">
                        <a:lnSpc>
                          <a:spcPct val="100000"/>
                        </a:lnSpc>
                        <a:spcBef>
                          <a:spcPts val="0"/>
                        </a:spcBef>
                        <a:spcAft>
                          <a:spcPts val="0"/>
                        </a:spcAft>
                        <a:buFontTx/>
                        <a:buChar char="-"/>
                      </a:pPr>
                      <a:r>
                        <a:rPr lang="en-US" sz="1400" b="0" dirty="0"/>
                        <a:t>Reduces property damage and associated insurance costs.</a:t>
                      </a:r>
                    </a:p>
                    <a:p>
                      <a:pPr marL="285750" lvl="0" indent="-285750" algn="l">
                        <a:lnSpc>
                          <a:spcPct val="100000"/>
                        </a:lnSpc>
                        <a:spcBef>
                          <a:spcPts val="0"/>
                        </a:spcBef>
                        <a:spcAft>
                          <a:spcPts val="0"/>
                        </a:spcAft>
                        <a:buFontTx/>
                        <a:buChar char="-"/>
                      </a:pPr>
                      <a:r>
                        <a:rPr lang="en-US" sz="1400" b="0" dirty="0"/>
                        <a:t>Builds confidence among family members about the rider's safety.</a:t>
                      </a:r>
                      <a:endParaRPr lang="en-IN" sz="1400" b="0" dirty="0"/>
                    </a:p>
                  </a:txBody>
                  <a:tcPr marL="54000" marR="54000" marT="36000" marB="36000"/>
                </a:tc>
                <a:extLst>
                  <a:ext uri="{0D108BD9-81ED-4DB2-BD59-A6C34878D82A}">
                    <a16:rowId xmlns:a16="http://schemas.microsoft.com/office/drawing/2014/main" val="10001"/>
                  </a:ext>
                </a:extLst>
              </a:tr>
              <a:tr h="1783920">
                <a:tc>
                  <a:txBody>
                    <a:bodyPr/>
                    <a:lstStyle/>
                    <a:p>
                      <a:r>
                        <a:rPr lang="en-IN" sz="1400" b="1" dirty="0"/>
                        <a:t>Notes: [..]</a:t>
                      </a:r>
                    </a:p>
                    <a:p>
                      <a:pPr lvl="0">
                        <a:buNone/>
                      </a:pPr>
                      <a:r>
                        <a:rPr lang="en-US" sz="1400" dirty="0"/>
                        <a:t>System must be </a:t>
                      </a:r>
                      <a:r>
                        <a:rPr lang="en-US" sz="1400" b="1" dirty="0"/>
                        <a:t>tamper-proof</a:t>
                      </a:r>
                      <a:r>
                        <a:rPr lang="en-US" sz="1400" dirty="0"/>
                        <a:t> and reliable for enforcement to be effective.</a:t>
                      </a:r>
                    </a:p>
                    <a:p>
                      <a:pPr lvl="0">
                        <a:buNone/>
                      </a:pPr>
                      <a:r>
                        <a:rPr lang="en-US" sz="1400" dirty="0"/>
                        <a:t>Pilot deployment targeting </a:t>
                      </a:r>
                      <a:r>
                        <a:rPr lang="en-US" sz="1400" b="1" dirty="0"/>
                        <a:t>new riders or commercial fleet operators.</a:t>
                      </a:r>
                      <a:endParaRPr lang="en-IN" sz="1400" dirty="0"/>
                    </a:p>
                  </a:txBody>
                  <a:tcPr marL="54000" marR="54000" marT="36000" marB="36000"/>
                </a:tc>
                <a:tc>
                  <a:txBody>
                    <a:bodyPr/>
                    <a:lstStyle/>
                    <a:p>
                      <a:r>
                        <a:rPr lang="en-IN" sz="1400" b="1" dirty="0"/>
                        <a:t>Assumptions: [..]</a:t>
                      </a:r>
                    </a:p>
                    <a:p>
                      <a:pPr lvl="0">
                        <a:buNone/>
                      </a:pPr>
                      <a:r>
                        <a:rPr lang="en-US" sz="1400" dirty="0"/>
                        <a:t>Authorities/insurance companies will </a:t>
                      </a:r>
                      <a:r>
                        <a:rPr lang="en-US" sz="1400" b="1" dirty="0"/>
                        <a:t>mandate or incentivize</a:t>
                      </a:r>
                      <a:r>
                        <a:rPr lang="en-US" sz="1400" dirty="0"/>
                        <a:t> the use of such a system.</a:t>
                      </a:r>
                    </a:p>
                    <a:p>
                      <a:pPr lvl="0">
                        <a:buNone/>
                      </a:pPr>
                      <a:r>
                        <a:rPr lang="en-US" sz="1400" dirty="0"/>
                        <a:t>The cost of the integrated components (MQ3, ESP32) is </a:t>
                      </a:r>
                      <a:r>
                        <a:rPr lang="en-US" sz="1400" b="1" dirty="0"/>
                        <a:t>low enough for mass market adoption.</a:t>
                      </a:r>
                      <a:endParaRPr lang="en-IN" sz="1400" dirty="0"/>
                    </a:p>
                  </a:txBody>
                  <a:tcPr marL="54000" marR="54000" marT="36000" marB="36000"/>
                </a:tc>
                <a:tc>
                  <a:txBody>
                    <a:bodyPr/>
                    <a:lstStyle/>
                    <a:p>
                      <a:r>
                        <a:rPr lang="en-IN" sz="1400" b="1" dirty="0"/>
                        <a:t>Evidence/Signals: [..]</a:t>
                      </a:r>
                    </a:p>
                    <a:p>
                      <a:pPr lvl="0" algn="l">
                        <a:lnSpc>
                          <a:spcPct val="100000"/>
                        </a:lnSpc>
                        <a:spcBef>
                          <a:spcPts val="0"/>
                        </a:spcBef>
                        <a:spcAft>
                          <a:spcPts val="0"/>
                        </a:spcAft>
                        <a:buNone/>
                      </a:pPr>
                      <a:r>
                        <a:rPr lang="en-US" sz="1400" b="0" dirty="0"/>
                        <a:t>High rate of alcohol-related motorcycle fatalities confirms the severity of the problem.</a:t>
                      </a:r>
                    </a:p>
                    <a:p>
                      <a:pPr lvl="0" algn="l">
                        <a:lnSpc>
                          <a:spcPct val="100000"/>
                        </a:lnSpc>
                        <a:spcBef>
                          <a:spcPts val="0"/>
                        </a:spcBef>
                        <a:spcAft>
                          <a:spcPts val="0"/>
                        </a:spcAft>
                        <a:buNone/>
                      </a:pPr>
                      <a:r>
                        <a:rPr lang="en-US" sz="1400" b="0" dirty="0"/>
                        <a:t>Existing low-cost breathalyzer technology is available </a:t>
                      </a:r>
                      <a:r>
                        <a:rPr lang="en-US" sz="1400" dirty="0"/>
                        <a:t>to integrate into a helmet.</a:t>
                      </a:r>
                      <a:endParaRPr lang="en-IN" sz="1400" b="0" dirty="0"/>
                    </a:p>
                    <a:p>
                      <a:pPr lvl="0">
                        <a:buNone/>
                      </a:pPr>
                      <a:endParaRPr lang="en-IN" sz="1400" b="1" dirty="0"/>
                    </a:p>
                  </a:txBody>
                  <a:tcPr marL="54000" marR="54000" marT="36000" marB="36000"/>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5F666D8F-51E8-EF2F-50F1-2B0285BC6F59}"/>
              </a:ext>
            </a:extLst>
          </p:cNvPr>
          <p:cNvSpPr txBox="1"/>
          <p:nvPr/>
        </p:nvSpPr>
        <p:spPr>
          <a:xfrm>
            <a:off x="2897891" y="242195"/>
            <a:ext cx="4572000" cy="461665"/>
          </a:xfrm>
          <a:prstGeom prst="rect">
            <a:avLst/>
          </a:prstGeom>
          <a:noFill/>
        </p:spPr>
        <p:txBody>
          <a:bodyPr wrap="square">
            <a:spAutoFit/>
          </a:bodyPr>
          <a:lstStyle/>
          <a:p>
            <a:r>
              <a:rPr lang="en-IN" sz="2400" dirty="0"/>
              <a:t>Value Proposition Canvas </a:t>
            </a:r>
          </a:p>
        </p:txBody>
      </p:sp>
    </p:spTree>
    <p:extLst>
      <p:ext uri="{BB962C8B-B14F-4D97-AF65-F5344CB8AC3E}">
        <p14:creationId xmlns:p14="http://schemas.microsoft.com/office/powerpoint/2010/main" val="3010198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sz="3600" dirty="0"/>
              <a:t>Idea 1 – </a:t>
            </a:r>
            <a:r>
              <a:rPr lang="en-IN" sz="3600" dirty="0"/>
              <a:t>Smart Helmet: Alcohol Lock</a:t>
            </a:r>
            <a:endParaRPr sz="3600" dirty="0"/>
          </a:p>
        </p:txBody>
      </p:sp>
      <p:sp>
        <p:nvSpPr>
          <p:cNvPr id="3" name="Content Placeholder 2"/>
          <p:cNvSpPr>
            <a:spLocks noGrp="1"/>
          </p:cNvSpPr>
          <p:nvPr>
            <p:ph idx="1"/>
          </p:nvPr>
        </p:nvSpPr>
        <p:spPr>
          <a:xfrm>
            <a:off x="167780" y="1166018"/>
            <a:ext cx="5503178" cy="5268338"/>
          </a:xfrm>
        </p:spPr>
        <p:txBody>
          <a:bodyPr>
            <a:normAutofit fontScale="55000" lnSpcReduction="20000"/>
          </a:bodyPr>
          <a:lstStyle/>
          <a:p>
            <a:pPr>
              <a:buFont typeface="Wingdings" panose="05000000000000000000" pitchFamily="2" charset="2"/>
              <a:buChar char="Ø"/>
              <a:defRPr sz="1800"/>
            </a:pPr>
            <a:r>
              <a:rPr lang="en-US" sz="2900" dirty="0"/>
              <a:t>Concept Summary:</a:t>
            </a:r>
          </a:p>
          <a:p>
            <a:r>
              <a:rPr lang="en-US" sz="2900" dirty="0"/>
              <a:t>		This idea integrates an MQ3 alcohol sensor inside the helmet to detect alcohol in the rider's breath before ignition</a:t>
            </a:r>
          </a:p>
          <a:p>
            <a:r>
              <a:rPr lang="en-US" sz="2900" dirty="0"/>
              <a:t>If alcohol is detected, an Ignition Lock feature prevents the bike from starting, and an alert is triggered.</a:t>
            </a:r>
          </a:p>
          <a:p>
            <a:endParaRPr lang="en-US" sz="2900" dirty="0"/>
          </a:p>
          <a:p>
            <a:pPr>
              <a:buFont typeface="Wingdings" panose="05000000000000000000" pitchFamily="2" charset="2"/>
              <a:buChar char="Ø"/>
              <a:defRPr sz="1800"/>
            </a:pPr>
            <a:r>
              <a:rPr sz="2900" dirty="0"/>
              <a:t>Key Features:</a:t>
            </a:r>
            <a:endParaRPr lang="en-US" sz="2900" dirty="0"/>
          </a:p>
          <a:p>
            <a:pPr marL="0" indent="0">
              <a:buNone/>
              <a:defRPr sz="1800"/>
            </a:pPr>
            <a:r>
              <a:rPr lang="en-US" sz="2900" dirty="0"/>
              <a:t>                 •MQ3 Alcohol Sensor: Detects the presence of alcohol in the rider’s breath.</a:t>
            </a:r>
          </a:p>
          <a:p>
            <a:pPr marL="0" indent="0">
              <a:buNone/>
              <a:defRPr sz="1800"/>
            </a:pPr>
            <a:r>
              <a:rPr lang="en-US" sz="2900" dirty="0"/>
              <a:t>                 •Ignition Lock: Automatically prevents the bike from starting if the detected alcohol level is unsafe.</a:t>
            </a:r>
          </a:p>
          <a:p>
            <a:pPr marL="0" indent="0">
              <a:buNone/>
              <a:defRPr sz="1800"/>
            </a:pPr>
            <a:r>
              <a:rPr lang="en-US" sz="2900" dirty="0"/>
              <a:t>                 •Ignition Lock: Automatically prevents the bike from starting if the detected alcohol level is unsafe.</a:t>
            </a:r>
          </a:p>
          <a:p>
            <a:pPr marL="0" indent="0">
              <a:buNone/>
              <a:defRPr sz="1800"/>
            </a:pPr>
            <a:endParaRPr sz="2900" dirty="0"/>
          </a:p>
          <a:p>
            <a:pPr>
              <a:buFont typeface="Wingdings" panose="05000000000000000000" pitchFamily="2" charset="2"/>
              <a:buChar char="Ø"/>
              <a:defRPr sz="1800"/>
            </a:pPr>
            <a:r>
              <a:rPr sz="2900" dirty="0"/>
              <a:t>Value Proposition:</a:t>
            </a:r>
            <a:endParaRPr lang="en-US" sz="2900" dirty="0"/>
          </a:p>
          <a:p>
            <a:pPr marL="0" indent="0">
              <a:buNone/>
              <a:defRPr sz="1800"/>
            </a:pPr>
            <a:r>
              <a:rPr lang="en-US" sz="2900" dirty="0"/>
              <a:t>		</a:t>
            </a:r>
            <a:r>
              <a:rPr lang="en-IN" sz="2900" dirty="0"/>
              <a:t>Prevents drunk driving accidents.</a:t>
            </a:r>
          </a:p>
          <a:p>
            <a:pPr marL="0" indent="0">
              <a:buNone/>
              <a:defRPr sz="1800"/>
            </a:pPr>
            <a:r>
              <a:rPr lang="en-US" sz="2900" dirty="0"/>
              <a:t>		Saves lives and reduces the police monitoring burden.</a:t>
            </a:r>
          </a:p>
          <a:p>
            <a:pPr marL="0" indent="0">
              <a:buNone/>
            </a:pPr>
            <a:r>
              <a:rPr lang="en-US" sz="2900" dirty="0"/>
              <a:t>		Creates a system of enforced accountability for riders.</a:t>
            </a:r>
          </a:p>
          <a:p>
            <a:pPr marL="0" indent="0">
              <a:buNone/>
              <a:defRPr sz="1800"/>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68"/>
            <a:ext cx="8229600" cy="1143000"/>
          </a:xfrm>
        </p:spPr>
        <p:txBody>
          <a:bodyPr/>
          <a:lstStyle/>
          <a:p>
            <a:r>
              <a:rPr sz="3600" dirty="0"/>
              <a:t>Idea 2 – </a:t>
            </a:r>
            <a:r>
              <a:rPr lang="en-IN" sz="3600" dirty="0"/>
              <a:t>Fatigue Monitoring Alert System</a:t>
            </a:r>
            <a:endParaRPr sz="3600" dirty="0"/>
          </a:p>
        </p:txBody>
      </p:sp>
      <p:sp>
        <p:nvSpPr>
          <p:cNvPr id="3" name="Content Placeholder 2"/>
          <p:cNvSpPr>
            <a:spLocks noGrp="1"/>
          </p:cNvSpPr>
          <p:nvPr>
            <p:ph idx="1"/>
          </p:nvPr>
        </p:nvSpPr>
        <p:spPr>
          <a:xfrm>
            <a:off x="348143" y="1207812"/>
            <a:ext cx="5985545" cy="5192988"/>
          </a:xfrm>
        </p:spPr>
        <p:txBody>
          <a:bodyPr>
            <a:normAutofit/>
          </a:bodyPr>
          <a:lstStyle/>
          <a:p>
            <a:pPr>
              <a:buFont typeface="Wingdings" panose="05000000000000000000" pitchFamily="2" charset="2"/>
              <a:buChar char="Ø"/>
              <a:defRPr sz="1800"/>
            </a:pPr>
            <a:r>
              <a:rPr sz="2000" dirty="0"/>
              <a:t>Concept Summary: </a:t>
            </a:r>
            <a:endParaRPr lang="en-US" sz="2000" dirty="0"/>
          </a:p>
          <a:p>
            <a:pPr marL="0" indent="0">
              <a:buNone/>
              <a:defRPr sz="1800"/>
            </a:pPr>
            <a:r>
              <a:rPr lang="en-US" sz="2000" dirty="0"/>
              <a:t>			Introduces fatigue sensors (eye blink / heart rate monitoring) to alert the rider before they lose focus due to drowsiness. </a:t>
            </a:r>
          </a:p>
          <a:p>
            <a:pPr marL="0" indent="0">
              <a:buNone/>
              <a:defRPr sz="1800"/>
            </a:pPr>
            <a:endParaRPr sz="2000" dirty="0"/>
          </a:p>
          <a:p>
            <a:pPr>
              <a:buFont typeface="Wingdings" panose="05000000000000000000" pitchFamily="2" charset="2"/>
              <a:buChar char="Ø"/>
              <a:defRPr sz="1800"/>
            </a:pPr>
            <a:r>
              <a:rPr sz="2000" dirty="0"/>
              <a:t>Key Features</a:t>
            </a:r>
            <a:r>
              <a:rPr lang="en-US" sz="2000" dirty="0"/>
              <a:t>:</a:t>
            </a:r>
          </a:p>
          <a:p>
            <a:pPr marL="0" indent="0">
              <a:buNone/>
              <a:defRPr sz="1800"/>
            </a:pPr>
            <a:r>
              <a:rPr lang="en-US" sz="2000" dirty="0"/>
              <a:t>                         •IR Eye Blink Sensor or Heart Rate Sensor with a Buzzer/LED Alert.</a:t>
            </a:r>
          </a:p>
          <a:p>
            <a:pPr marL="0" indent="0">
              <a:buNone/>
              <a:defRPr sz="1800"/>
            </a:pPr>
            <a:endParaRPr lang="en-US" sz="2000" dirty="0"/>
          </a:p>
          <a:p>
            <a:pPr>
              <a:defRPr sz="1800"/>
            </a:pPr>
            <a:r>
              <a:rPr sz="2000" dirty="0"/>
              <a:t>Value Proposition: </a:t>
            </a:r>
            <a:endParaRPr lang="en-US" sz="2000" dirty="0"/>
          </a:p>
          <a:p>
            <a:pPr marL="0" indent="0">
              <a:buNone/>
              <a:defRPr sz="1800"/>
            </a:pPr>
            <a:r>
              <a:rPr lang="en-US" sz="2000" dirty="0"/>
              <a:t>                          •Prevents sleep-related road accidents and keeps the rider attentive during long rides.</a:t>
            </a:r>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357"/>
            <a:ext cx="8229600" cy="1143000"/>
          </a:xfrm>
        </p:spPr>
        <p:txBody>
          <a:bodyPr>
            <a:normAutofit fontScale="90000"/>
          </a:bodyPr>
          <a:lstStyle/>
          <a:p>
            <a:r>
              <a:rPr sz="3600" dirty="0"/>
              <a:t>Idea 3 – </a:t>
            </a:r>
            <a:r>
              <a:rPr lang="en-IN" sz="3600" dirty="0"/>
              <a:t>Crash Detection &amp; Emergency Alert</a:t>
            </a:r>
            <a:endParaRPr sz="3600" dirty="0"/>
          </a:p>
        </p:txBody>
      </p:sp>
      <p:sp>
        <p:nvSpPr>
          <p:cNvPr id="3" name="Content Placeholder 2"/>
          <p:cNvSpPr>
            <a:spLocks noGrp="1"/>
          </p:cNvSpPr>
          <p:nvPr>
            <p:ph idx="1"/>
          </p:nvPr>
        </p:nvSpPr>
        <p:spPr>
          <a:xfrm>
            <a:off x="457200" y="1275025"/>
            <a:ext cx="5306037" cy="4974774"/>
          </a:xfrm>
        </p:spPr>
        <p:txBody>
          <a:bodyPr>
            <a:normAutofit lnSpcReduction="10000"/>
          </a:bodyPr>
          <a:lstStyle/>
          <a:p>
            <a:pPr>
              <a:buFont typeface="Wingdings" panose="05000000000000000000" pitchFamily="2" charset="2"/>
              <a:buChar char="Ø"/>
              <a:defRPr sz="1800"/>
            </a:pPr>
            <a:r>
              <a:rPr sz="2000" dirty="0"/>
              <a:t>Concept Summary: </a:t>
            </a:r>
            <a:endParaRPr lang="en-US" sz="2000" dirty="0"/>
          </a:p>
          <a:p>
            <a:pPr marL="0" indent="0">
              <a:buNone/>
              <a:defRPr sz="1800"/>
            </a:pPr>
            <a:r>
              <a:rPr lang="en-US" sz="2000" dirty="0"/>
              <a:t>                  Integrates crash detection and GSM/GPS-based emergency alerts for instant response in remote or highway accidents.		</a:t>
            </a:r>
          </a:p>
          <a:p>
            <a:pPr marL="0" indent="0">
              <a:buNone/>
              <a:defRPr sz="1800"/>
            </a:pPr>
            <a:endParaRPr lang="en-IN" sz="2000" dirty="0"/>
          </a:p>
          <a:p>
            <a:pPr>
              <a:buFont typeface="Wingdings" panose="05000000000000000000" pitchFamily="2" charset="2"/>
              <a:buChar char="Ø"/>
              <a:defRPr sz="1800"/>
            </a:pPr>
            <a:r>
              <a:rPr sz="2000" dirty="0"/>
              <a:t>Key Features</a:t>
            </a:r>
            <a:r>
              <a:rPr lang="en-US" sz="2000" dirty="0"/>
              <a:t>:</a:t>
            </a:r>
          </a:p>
          <a:p>
            <a:pPr marL="0" indent="0">
              <a:buNone/>
              <a:defRPr sz="1800"/>
            </a:pPr>
            <a:r>
              <a:rPr lang="en-US" sz="2000" dirty="0"/>
              <a:t>                •MPU6050 (Accelerometer + Gyroscope) to detect the crash, GSM Module to send SMS alerts , and  GPS Module to share the location.</a:t>
            </a:r>
          </a:p>
          <a:p>
            <a:pPr marL="0" indent="0">
              <a:buNone/>
              <a:defRPr sz="1800"/>
            </a:pPr>
            <a:endParaRPr lang="en-US" sz="2000" dirty="0"/>
          </a:p>
          <a:p>
            <a:pPr>
              <a:defRPr sz="1800"/>
            </a:pPr>
            <a:r>
              <a:rPr sz="2000" dirty="0"/>
              <a:t>Value Proposition: </a:t>
            </a:r>
            <a:endParaRPr lang="en-US" sz="2000" dirty="0"/>
          </a:p>
          <a:p>
            <a:pPr marL="0" indent="0">
              <a:buNone/>
              <a:defRPr sz="1800"/>
            </a:pPr>
            <a:r>
              <a:rPr lang="en-IN" sz="2000" dirty="0"/>
              <a:t>                 </a:t>
            </a:r>
            <a:r>
              <a:rPr lang="en-US" sz="2000" dirty="0"/>
              <a:t>Ensures instant emergency support after an accident, increasing survival chances by reducing response delay.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3600" dirty="0"/>
              <a:t>Idea Evaluation — Desirability • Feasibility • Viability</a:t>
            </a:r>
          </a:p>
        </p:txBody>
      </p:sp>
      <p:graphicFrame>
        <p:nvGraphicFramePr>
          <p:cNvPr id="3" name="Table 2"/>
          <p:cNvGraphicFramePr>
            <a:graphicFrameLocks noGrp="1"/>
          </p:cNvGraphicFramePr>
          <p:nvPr>
            <p:extLst>
              <p:ext uri="{D42A27DB-BD31-4B8C-83A1-F6EECF244321}">
                <p14:modId xmlns:p14="http://schemas.microsoft.com/office/powerpoint/2010/main" val="2593673449"/>
              </p:ext>
            </p:extLst>
          </p:nvPr>
        </p:nvGraphicFramePr>
        <p:xfrm>
          <a:off x="276837" y="1463040"/>
          <a:ext cx="8514825" cy="5004873"/>
        </p:xfrm>
        <a:graphic>
          <a:graphicData uri="http://schemas.openxmlformats.org/drawingml/2006/table">
            <a:tbl>
              <a:tblPr firstRow="1" bandRow="1">
                <a:tableStyleId>{5C22544A-7EE6-4342-B048-85BDC9FD1C3A}</a:tableStyleId>
              </a:tblPr>
              <a:tblGrid>
                <a:gridCol w="2164311">
                  <a:extLst>
                    <a:ext uri="{9D8B030D-6E8A-4147-A177-3AD203B41FA5}">
                      <a16:colId xmlns:a16="http://schemas.microsoft.com/office/drawing/2014/main" val="20000"/>
                    </a:ext>
                  </a:extLst>
                </a:gridCol>
                <a:gridCol w="2116838">
                  <a:extLst>
                    <a:ext uri="{9D8B030D-6E8A-4147-A177-3AD203B41FA5}">
                      <a16:colId xmlns:a16="http://schemas.microsoft.com/office/drawing/2014/main" val="20001"/>
                    </a:ext>
                  </a:extLst>
                </a:gridCol>
                <a:gridCol w="2116838">
                  <a:extLst>
                    <a:ext uri="{9D8B030D-6E8A-4147-A177-3AD203B41FA5}">
                      <a16:colId xmlns:a16="http://schemas.microsoft.com/office/drawing/2014/main" val="20002"/>
                    </a:ext>
                  </a:extLst>
                </a:gridCol>
                <a:gridCol w="2116838">
                  <a:extLst>
                    <a:ext uri="{9D8B030D-6E8A-4147-A177-3AD203B41FA5}">
                      <a16:colId xmlns:a16="http://schemas.microsoft.com/office/drawing/2014/main" val="20003"/>
                    </a:ext>
                  </a:extLst>
                </a:gridCol>
              </a:tblGrid>
              <a:tr h="1022501">
                <a:tc>
                  <a:txBody>
                    <a:bodyPr/>
                    <a:lstStyle/>
                    <a:p>
                      <a:pPr algn="ctr">
                        <a:buNone/>
                      </a:pPr>
                      <a:r>
                        <a:rPr lang="en-IN" sz="1200" b="1" dirty="0"/>
                        <a:t>Criteria / Idea</a:t>
                      </a:r>
                      <a:endParaRPr lang="en-IN" sz="1200" dirty="0"/>
                    </a:p>
                  </a:txBody>
                  <a:tcPr anchor="ctr"/>
                </a:tc>
                <a:tc>
                  <a:txBody>
                    <a:bodyPr/>
                    <a:lstStyle/>
                    <a:p>
                      <a:pPr algn="ctr">
                        <a:buNone/>
                      </a:pPr>
                      <a:r>
                        <a:rPr lang="en-IN" sz="1200" dirty="0"/>
                        <a:t>Idea 1: Alcohol Lock</a:t>
                      </a:r>
                    </a:p>
                  </a:txBody>
                  <a:tcPr anchor="ctr"/>
                </a:tc>
                <a:tc>
                  <a:txBody>
                    <a:bodyPr/>
                    <a:lstStyle/>
                    <a:p>
                      <a:pPr algn="ctr">
                        <a:buNone/>
                      </a:pPr>
                      <a:r>
                        <a:rPr lang="en-IN" sz="1200" dirty="0"/>
                        <a:t>Idea 2: Fatigue Monitor</a:t>
                      </a:r>
                    </a:p>
                  </a:txBody>
                  <a:tcPr anchor="ctr"/>
                </a:tc>
                <a:tc>
                  <a:txBody>
                    <a:bodyPr/>
                    <a:lstStyle/>
                    <a:p>
                      <a:pPr algn="ctr">
                        <a:buNone/>
                      </a:pPr>
                      <a:r>
                        <a:rPr lang="en-IN" sz="1200" dirty="0"/>
                        <a:t>Idea 3: Emergency Alert</a:t>
                      </a:r>
                    </a:p>
                  </a:txBody>
                  <a:tcPr anchor="ctr"/>
                </a:tc>
                <a:extLst>
                  <a:ext uri="{0D108BD9-81ED-4DB2-BD59-A6C34878D82A}">
                    <a16:rowId xmlns:a16="http://schemas.microsoft.com/office/drawing/2014/main" val="10000"/>
                  </a:ext>
                </a:extLst>
              </a:tr>
              <a:tr h="1183948">
                <a:tc>
                  <a:txBody>
                    <a:bodyPr/>
                    <a:lstStyle/>
                    <a:p>
                      <a:pPr>
                        <a:buNone/>
                      </a:pPr>
                      <a:r>
                        <a:rPr lang="en-IN" sz="1200" b="1" dirty="0"/>
                        <a:t>Desirability (user appeal)</a:t>
                      </a:r>
                      <a:endParaRPr lang="en-IN" sz="1200" dirty="0"/>
                    </a:p>
                  </a:txBody>
                  <a:tcPr anchor="ctr"/>
                </a:tc>
                <a:tc>
                  <a:txBody>
                    <a:bodyPr/>
                    <a:lstStyle/>
                    <a:p>
                      <a:pPr>
                        <a:buNone/>
                      </a:pPr>
                      <a:r>
                        <a:rPr lang="en-US" sz="1200" b="1" dirty="0"/>
                        <a:t>High</a:t>
                      </a:r>
                      <a:r>
                        <a:rPr lang="en-US" sz="1200" dirty="0"/>
                        <a:t> – Directly addresses a major safety and legal concern (drunk driving); highly valuable to enforcement and families..</a:t>
                      </a:r>
                    </a:p>
                  </a:txBody>
                  <a:tcPr anchor="ctr"/>
                </a:tc>
                <a:tc>
                  <a:txBody>
                    <a:bodyPr/>
                    <a:lstStyle/>
                    <a:p>
                      <a:pPr>
                        <a:buNone/>
                      </a:pPr>
                      <a:r>
                        <a:rPr lang="en-US" sz="1200" b="1" dirty="0"/>
                        <a:t>Medium-High</a:t>
                      </a:r>
                      <a:r>
                        <a:rPr lang="en-US" sz="1200" dirty="0"/>
                        <a:t> – Appeals to long-distance and night-time riders, focusing on personal comfort and safety.</a:t>
                      </a:r>
                    </a:p>
                  </a:txBody>
                  <a:tcPr anchor="ctr"/>
                </a:tc>
                <a:tc>
                  <a:txBody>
                    <a:bodyPr/>
                    <a:lstStyle/>
                    <a:p>
                      <a:pPr>
                        <a:buNone/>
                      </a:pPr>
                      <a:r>
                        <a:rPr lang="en-US" sz="1200" b="1" dirty="0"/>
                        <a:t>High</a:t>
                      </a:r>
                      <a:r>
                        <a:rPr lang="en-US" sz="1200" dirty="0"/>
                        <a:t> – Solves a critical life-or-death problem (timely help post-accident); universally appealing safety feature. </a:t>
                      </a:r>
                    </a:p>
                  </a:txBody>
                  <a:tcPr anchor="ctr"/>
                </a:tc>
                <a:extLst>
                  <a:ext uri="{0D108BD9-81ED-4DB2-BD59-A6C34878D82A}">
                    <a16:rowId xmlns:a16="http://schemas.microsoft.com/office/drawing/2014/main" val="10001"/>
                  </a:ext>
                </a:extLst>
              </a:tr>
              <a:tr h="1399212">
                <a:tc>
                  <a:txBody>
                    <a:bodyPr/>
                    <a:lstStyle/>
                    <a:p>
                      <a:pPr>
                        <a:buNone/>
                      </a:pPr>
                      <a:r>
                        <a:rPr lang="en-IN" sz="1200" b="1"/>
                        <a:t>Feasibility (technical)</a:t>
                      </a:r>
                      <a:endParaRPr lang="en-IN" sz="1200"/>
                    </a:p>
                  </a:txBody>
                  <a:tcPr anchor="ctr"/>
                </a:tc>
                <a:tc>
                  <a:txBody>
                    <a:bodyPr/>
                    <a:lstStyle/>
                    <a:p>
                      <a:pPr>
                        <a:buNone/>
                      </a:pPr>
                      <a:r>
                        <a:rPr lang="en-US" sz="1200" b="1" dirty="0"/>
                        <a:t>High</a:t>
                      </a:r>
                      <a:r>
                        <a:rPr lang="en-US" sz="1200" dirty="0"/>
                        <a:t> – Uses common, reliable, and affordable components (MQ3, ESP32, relay for ignition). </a:t>
                      </a:r>
                    </a:p>
                  </a:txBody>
                  <a:tcPr anchor="ctr"/>
                </a:tc>
                <a:tc>
                  <a:txBody>
                    <a:bodyPr/>
                    <a:lstStyle/>
                    <a:p>
                      <a:pPr>
                        <a:buNone/>
                      </a:pPr>
                      <a:r>
                        <a:rPr lang="en-US" sz="1200" b="1" dirty="0"/>
                        <a:t>Medium</a:t>
                      </a:r>
                      <a:r>
                        <a:rPr lang="en-US" sz="1200" dirty="0"/>
                        <a:t> – Requires complex algorithms to accurately define "abnormal" eye blink/pulse in a dynamic riding environment.</a:t>
                      </a:r>
                    </a:p>
                  </a:txBody>
                  <a:tcPr anchor="ctr"/>
                </a:tc>
                <a:tc>
                  <a:txBody>
                    <a:bodyPr/>
                    <a:lstStyle/>
                    <a:p>
                      <a:pPr>
                        <a:buNone/>
                      </a:pPr>
                      <a:r>
                        <a:rPr lang="en-US" sz="1200" b="1" dirty="0"/>
                        <a:t>High</a:t>
                      </a:r>
                      <a:r>
                        <a:rPr lang="en-US" sz="1200" dirty="0"/>
                        <a:t> – Standard use of MPU6050 for impact/fall detection and widely available GSM/GPS modules. </a:t>
                      </a:r>
                      <a:endParaRPr lang="en-IN" sz="1200" dirty="0"/>
                    </a:p>
                  </a:txBody>
                  <a:tcPr anchor="ctr"/>
                </a:tc>
                <a:extLst>
                  <a:ext uri="{0D108BD9-81ED-4DB2-BD59-A6C34878D82A}">
                    <a16:rowId xmlns:a16="http://schemas.microsoft.com/office/drawing/2014/main" val="10002"/>
                  </a:ext>
                </a:extLst>
              </a:tr>
              <a:tr h="1399212">
                <a:tc>
                  <a:txBody>
                    <a:bodyPr/>
                    <a:lstStyle/>
                    <a:p>
                      <a:pPr>
                        <a:buNone/>
                      </a:pPr>
                      <a:r>
                        <a:rPr lang="en-IN" sz="1200" b="1"/>
                        <a:t>Viability (sustainability)</a:t>
                      </a:r>
                      <a:endParaRPr lang="en-IN" sz="1200"/>
                    </a:p>
                  </a:txBody>
                  <a:tcPr anchor="ctr"/>
                </a:tc>
                <a:tc>
                  <a:txBody>
                    <a:bodyPr/>
                    <a:lstStyle/>
                    <a:p>
                      <a:pPr>
                        <a:buNone/>
                      </a:pPr>
                      <a:r>
                        <a:rPr lang="en-US" sz="1200" b="1" dirty="0"/>
                        <a:t>High</a:t>
                      </a:r>
                      <a:r>
                        <a:rPr lang="en-US" sz="1200" dirty="0"/>
                        <a:t> – Strong potential for </a:t>
                      </a:r>
                      <a:r>
                        <a:rPr lang="en-US" sz="1200" b="0" dirty="0"/>
                        <a:t>mandatory government/insurance adoption </a:t>
                      </a:r>
                      <a:r>
                        <a:rPr lang="en-US" sz="1200" dirty="0"/>
                        <a:t>due to clear safety benefits.</a:t>
                      </a:r>
                    </a:p>
                  </a:txBody>
                  <a:tcPr anchor="ctr"/>
                </a:tc>
                <a:tc>
                  <a:txBody>
                    <a:bodyPr/>
                    <a:lstStyle/>
                    <a:p>
                      <a:pPr>
                        <a:buNone/>
                      </a:pPr>
                      <a:r>
                        <a:rPr lang="en-US" sz="1200" b="1" dirty="0"/>
                        <a:t>Medium</a:t>
                      </a:r>
                      <a:r>
                        <a:rPr lang="en-US" sz="1200" dirty="0"/>
                        <a:t> – Market is niche (long-haul riders); requires proof of reliability to gain mass adoption..</a:t>
                      </a:r>
                    </a:p>
                  </a:txBody>
                  <a:tcPr anchor="ctr"/>
                </a:tc>
                <a:tc>
                  <a:txBody>
                    <a:bodyPr/>
                    <a:lstStyle/>
                    <a:p>
                      <a:pPr>
                        <a:buNone/>
                      </a:pPr>
                      <a:r>
                        <a:rPr lang="en-US" b="1" dirty="0"/>
                        <a:t>H</a:t>
                      </a:r>
                      <a:r>
                        <a:rPr lang="en-US" sz="1200" b="1" dirty="0"/>
                        <a:t>igh</a:t>
                      </a:r>
                      <a:r>
                        <a:rPr lang="en-US" sz="1200" dirty="0"/>
                        <a:t> – Clear value proposition for premium safety feature or integration into high-end vehicle/helmet models. </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813" y="-96575"/>
            <a:ext cx="8229600" cy="1143000"/>
          </a:xfrm>
        </p:spPr>
        <p:txBody>
          <a:bodyPr/>
          <a:lstStyle/>
          <a:p>
            <a:r>
              <a:rPr sz="3600" dirty="0"/>
              <a:t>Selected Idea &amp; Justification</a:t>
            </a:r>
          </a:p>
        </p:txBody>
      </p:sp>
      <p:sp>
        <p:nvSpPr>
          <p:cNvPr id="3" name="Content Placeholder 2"/>
          <p:cNvSpPr>
            <a:spLocks noGrp="1"/>
          </p:cNvSpPr>
          <p:nvPr>
            <p:ph idx="1"/>
          </p:nvPr>
        </p:nvSpPr>
        <p:spPr>
          <a:xfrm>
            <a:off x="599813" y="1054916"/>
            <a:ext cx="8229600" cy="5429774"/>
          </a:xfrm>
        </p:spPr>
        <p:txBody>
          <a:bodyPr>
            <a:normAutofit fontScale="92500" lnSpcReduction="20000"/>
          </a:bodyPr>
          <a:lstStyle/>
          <a:p>
            <a:pPr>
              <a:buFont typeface="Wingdings" panose="05000000000000000000" pitchFamily="2" charset="2"/>
              <a:buChar char="Ø"/>
              <a:defRPr sz="1800"/>
            </a:pPr>
            <a:r>
              <a:rPr sz="1900" dirty="0"/>
              <a:t>Chosen Idea:</a:t>
            </a:r>
            <a:endParaRPr lang="en-US" sz="1900" dirty="0"/>
          </a:p>
          <a:p>
            <a:pPr marL="0" indent="0">
              <a:buNone/>
              <a:defRPr sz="1800"/>
            </a:pPr>
            <a:r>
              <a:rPr lang="en-US" sz="1900" dirty="0"/>
              <a:t>              </a:t>
            </a:r>
            <a:r>
              <a:rPr lang="en-IN" sz="1900" dirty="0"/>
              <a:t>Smart Helmet for Drunk Driving Prevention</a:t>
            </a:r>
          </a:p>
          <a:p>
            <a:pPr>
              <a:buFont typeface="Wingdings" panose="05000000000000000000" pitchFamily="2" charset="2"/>
              <a:buChar char="Ø"/>
              <a:defRPr sz="1800"/>
            </a:pPr>
            <a:r>
              <a:rPr lang="en-IN" sz="1900" dirty="0"/>
              <a:t>Description: </a:t>
            </a:r>
          </a:p>
          <a:p>
            <a:r>
              <a:rPr lang="en-US" sz="1900" dirty="0"/>
              <a:t>             An integrated system that uses an </a:t>
            </a:r>
            <a:r>
              <a:rPr lang="en-US" sz="1900" b="1" dirty="0"/>
              <a:t>MQ3 Alcohol Sensor</a:t>
            </a:r>
            <a:r>
              <a:rPr lang="en-US" sz="1900" dirty="0"/>
              <a:t> to check a rider's breath for alcohol.</a:t>
            </a:r>
          </a:p>
          <a:p>
            <a:r>
              <a:rPr lang="en-US" sz="1900" b="1" dirty="0"/>
              <a:t>ESP32 Microcontroller</a:t>
            </a:r>
            <a:r>
              <a:rPr lang="en-US" sz="1900" dirty="0"/>
              <a:t> processes the data and activates an </a:t>
            </a:r>
            <a:r>
              <a:rPr lang="en-US" sz="1900" b="1" dirty="0"/>
              <a:t>Ignition Lock</a:t>
            </a:r>
            <a:r>
              <a:rPr lang="en-US" sz="1900" dirty="0"/>
              <a:t> if alcohol is detected.</a:t>
            </a:r>
          </a:p>
          <a:p>
            <a:pPr marL="0" indent="0">
              <a:buNone/>
              <a:defRPr sz="1800"/>
            </a:pPr>
            <a:endParaRPr lang="en-IN" sz="1900" dirty="0"/>
          </a:p>
          <a:p>
            <a:pPr>
              <a:buFont typeface="Wingdings" panose="05000000000000000000" pitchFamily="2" charset="2"/>
              <a:buChar char="Ø"/>
              <a:defRPr sz="1800"/>
            </a:pPr>
            <a:r>
              <a:rPr sz="1900" dirty="0"/>
              <a:t>Why We Chose It:</a:t>
            </a:r>
            <a:r>
              <a:rPr lang="en-US" sz="1900" dirty="0"/>
              <a:t> </a:t>
            </a:r>
          </a:p>
          <a:p>
            <a:pPr marL="0" indent="0">
              <a:buNone/>
            </a:pPr>
            <a:r>
              <a:rPr lang="en-IN" sz="1900" dirty="0"/>
              <a:t>                •High Desirability</a:t>
            </a:r>
            <a:r>
              <a:rPr lang="en-US" sz="1900" dirty="0"/>
              <a:t>Solves the primary, life-threatening problem of two-wheeler safety (drunk driving).</a:t>
            </a:r>
            <a:endParaRPr lang="en-IN" sz="1900" dirty="0"/>
          </a:p>
          <a:p>
            <a:pPr marL="0" indent="0">
              <a:buNone/>
            </a:pPr>
            <a:r>
              <a:rPr lang="en-IN" sz="1900" dirty="0"/>
              <a:t>                •Feasible : T</a:t>
            </a:r>
            <a:r>
              <a:rPr lang="en-US" sz="1900" dirty="0"/>
              <a:t>he technology stack (MQ3, ESP32, Ignition Control) is well-understood, cost-effective, and robust for a Proof-of-Concept (PoC). </a:t>
            </a:r>
            <a:endParaRPr lang="en-IN" sz="1900" dirty="0"/>
          </a:p>
          <a:p>
            <a:pPr marL="0" indent="0">
              <a:buNone/>
            </a:pPr>
            <a:r>
              <a:rPr lang="en-IN" sz="1900" dirty="0"/>
              <a:t>                •Viable: Strong market demand for AI productivity tools and smart browsing assistants.</a:t>
            </a:r>
          </a:p>
          <a:p>
            <a:pPr marL="0" indent="0">
              <a:buNone/>
            </a:pPr>
            <a:endParaRPr lang="en-IN" sz="1900" dirty="0"/>
          </a:p>
          <a:p>
            <a:pPr>
              <a:buFont typeface="Wingdings" panose="05000000000000000000" pitchFamily="2" charset="2"/>
              <a:buChar char="Ø"/>
              <a:defRPr sz="1800"/>
            </a:pPr>
            <a:r>
              <a:rPr sz="1900" dirty="0"/>
              <a:t>Evidence:</a:t>
            </a:r>
            <a:endParaRPr lang="en-US" sz="1900" dirty="0"/>
          </a:p>
          <a:p>
            <a:r>
              <a:rPr lang="en-US" sz="1900" dirty="0"/>
              <a:t>Directly addresses a </a:t>
            </a:r>
            <a:r>
              <a:rPr lang="en-US" sz="1900" b="1" dirty="0"/>
              <a:t>leading cause of two-wheeler accidents</a:t>
            </a:r>
            <a:r>
              <a:rPr lang="en-US" sz="1900" dirty="0"/>
              <a:t>.</a:t>
            </a:r>
          </a:p>
          <a:p>
            <a:r>
              <a:rPr lang="en-US" sz="1900" dirty="0"/>
              <a:t>The physical barrier (Ignition Lock) provides a </a:t>
            </a:r>
          </a:p>
          <a:p>
            <a:pPr marL="0" indent="0">
              <a:buNone/>
            </a:pPr>
            <a:r>
              <a:rPr lang="en-US" sz="1900" b="1" dirty="0"/>
              <a:t>non-negotiable safety mechanism</a:t>
            </a:r>
            <a:r>
              <a:rPr lang="en-US" sz="1900" dirty="0"/>
              <a:t>.</a:t>
            </a:r>
          </a:p>
          <a:p>
            <a:pPr marL="0" indent="0">
              <a:buNone/>
              <a:defRPr sz="1800"/>
            </a:pPr>
            <a:endParaRPr dirty="0"/>
          </a:p>
        </p:txBody>
      </p:sp>
      <p:sp>
        <p:nvSpPr>
          <p:cNvPr id="7" name="Rectangle 4">
            <a:extLst>
              <a:ext uri="{FF2B5EF4-FFF2-40B4-BE49-F238E27FC236}">
                <a16:creationId xmlns:a16="http://schemas.microsoft.com/office/drawing/2014/main" id="{FF402D01-F0BC-7DC2-9AF6-2449C775DE9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solution has a clear path for commercialization and potential for government/insurance mandates, guaranteeing a significant market.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3600"/>
              <a:t>Solution Features &amp; Prioritization (MoSCoW)</a:t>
            </a:r>
          </a:p>
        </p:txBody>
      </p:sp>
      <p:graphicFrame>
        <p:nvGraphicFramePr>
          <p:cNvPr id="3" name="Table 2"/>
          <p:cNvGraphicFramePr>
            <a:graphicFrameLocks noGrp="1"/>
          </p:cNvGraphicFramePr>
          <p:nvPr>
            <p:extLst>
              <p:ext uri="{D42A27DB-BD31-4B8C-83A1-F6EECF244321}">
                <p14:modId xmlns:p14="http://schemas.microsoft.com/office/powerpoint/2010/main" val="770492005"/>
              </p:ext>
            </p:extLst>
          </p:nvPr>
        </p:nvGraphicFramePr>
        <p:xfrm>
          <a:off x="457200" y="1463040"/>
          <a:ext cx="8229600" cy="4555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868680">
                <a:tc>
                  <a:txBody>
                    <a:bodyPr/>
                    <a:lstStyle/>
                    <a:p>
                      <a:r>
                        <a:rPr lang="en-US" sz="1400" dirty="0"/>
                        <a:t>Must‑Have (critical for PoC)</a:t>
                      </a:r>
                    </a:p>
                  </a:txBody>
                  <a:tcPr marL="54000" marR="54000" marT="36000" marB="36000"/>
                </a:tc>
                <a:tc>
                  <a:txBody>
                    <a:bodyPr/>
                    <a:lstStyle/>
                    <a:p>
                      <a:pPr marL="285750" indent="-285750">
                        <a:buFont typeface="Arial" panose="020B0604020202020204" pitchFamily="34" charset="0"/>
                        <a:buChar char="•"/>
                      </a:pPr>
                      <a:r>
                        <a:rPr lang="en-IN" sz="1400" dirty="0"/>
                        <a:t>MQ3 Sensor Integration</a:t>
                      </a:r>
                      <a:r>
                        <a:rPr lang="en-US" sz="1400" b="0" dirty="0"/>
                        <a:t>– Must accurately detect the presence of alcohol in the rider's breath.</a:t>
                      </a:r>
                    </a:p>
                    <a:p>
                      <a:pPr marL="285750" indent="-285750">
                        <a:buFont typeface="Arial" panose="020B0604020202020204" pitchFamily="34" charset="0"/>
                        <a:buChar char="•"/>
                      </a:pPr>
                      <a:r>
                        <a:rPr lang="en-IN" sz="1400" b="1" dirty="0"/>
                        <a:t>Ignition Lock Module</a:t>
                      </a:r>
                      <a:r>
                        <a:rPr lang="en-IN" sz="1400" dirty="0"/>
                        <a:t> </a:t>
                      </a:r>
                      <a:r>
                        <a:rPr lang="en-US" sz="1400" b="0" dirty="0"/>
                        <a:t>– </a:t>
                      </a:r>
                      <a:r>
                        <a:rPr lang="en-US" sz="1400" dirty="0"/>
                        <a:t>Mu</a:t>
                      </a:r>
                      <a:r>
                        <a:rPr lang="en-US" sz="1400" b="0" dirty="0"/>
                        <a:t>st physically prevent the vehicle from starting if alcohol is detected.</a:t>
                      </a:r>
                      <a:endParaRPr sz="1400" b="0" dirty="0"/>
                    </a:p>
                  </a:txBody>
                  <a:tcPr marL="54000" marR="54000" marT="36000" marB="36000"/>
                </a:tc>
                <a:extLst>
                  <a:ext uri="{0D108BD9-81ED-4DB2-BD59-A6C34878D82A}">
                    <a16:rowId xmlns:a16="http://schemas.microsoft.com/office/drawing/2014/main" val="10000"/>
                  </a:ext>
                </a:extLst>
              </a:tr>
              <a:tr h="868680">
                <a:tc>
                  <a:txBody>
                    <a:bodyPr/>
                    <a:lstStyle/>
                    <a:p>
                      <a:r>
                        <a:rPr sz="1400" dirty="0"/>
                        <a:t>Should‑Have (important)</a:t>
                      </a:r>
                    </a:p>
                  </a:txBody>
                  <a:tcPr marL="54000" marR="54000" marT="36000" marB="36000"/>
                </a:tc>
                <a:tc>
                  <a:txBody>
                    <a:bodyPr/>
                    <a:lstStyle/>
                    <a:p>
                      <a:pPr marL="285750" indent="-285750">
                        <a:buFont typeface="Arial" panose="020B0604020202020204" pitchFamily="34" charset="0"/>
                        <a:buChar char="•"/>
                      </a:pPr>
                      <a:r>
                        <a:rPr lang="en-IN" sz="1400" dirty="0"/>
                        <a:t>LED/Buzzer Alert</a:t>
                      </a:r>
                      <a:r>
                        <a:rPr lang="en-US" sz="1400" dirty="0"/>
                        <a:t>– Should provide an immediate local warning to the rider and bystanders.</a:t>
                      </a:r>
                    </a:p>
                    <a:p>
                      <a:pPr marL="285750" indent="-285750">
                        <a:buFont typeface="Arial" panose="020B0604020202020204" pitchFamily="34" charset="0"/>
                        <a:buChar char="•"/>
                      </a:pPr>
                      <a:r>
                        <a:rPr lang="en-IN" sz="1400" b="0" dirty="0"/>
                        <a:t>Calibration/Threshold Setting </a:t>
                      </a:r>
                      <a:r>
                        <a:rPr lang="en-US" sz="1400" dirty="0"/>
                        <a:t>– Should allow setting and fine-tuning the BAC (Blood Alcohol Content) detection threshold.</a:t>
                      </a:r>
                      <a:endParaRPr sz="1400" dirty="0"/>
                    </a:p>
                  </a:txBody>
                  <a:tcPr marL="54000" marR="54000" marT="36000" marB="36000"/>
                </a:tc>
                <a:extLst>
                  <a:ext uri="{0D108BD9-81ED-4DB2-BD59-A6C34878D82A}">
                    <a16:rowId xmlns:a16="http://schemas.microsoft.com/office/drawing/2014/main" val="10001"/>
                  </a:ext>
                </a:extLst>
              </a:tr>
              <a:tr h="868680">
                <a:tc>
                  <a:txBody>
                    <a:bodyPr/>
                    <a:lstStyle/>
                    <a:p>
                      <a:r>
                        <a:rPr sz="1400"/>
                        <a:t>Could‑Have (nice to include)</a:t>
                      </a:r>
                    </a:p>
                  </a:txBody>
                  <a:tcPr marL="54000" marR="54000" marT="36000" marB="36000"/>
                </a:tc>
                <a:tc>
                  <a:txBody>
                    <a:bodyPr/>
                    <a:lstStyle/>
                    <a:p>
                      <a:pPr marL="285750" indent="-285750">
                        <a:buFont typeface="Arial" panose="020B0604020202020204" pitchFamily="34" charset="0"/>
                        <a:buChar char="•"/>
                      </a:pPr>
                      <a:r>
                        <a:rPr lang="en-IN" sz="1400" dirty="0"/>
                        <a:t>GSM Notification</a:t>
                      </a:r>
                      <a:r>
                        <a:rPr lang="en-US" sz="1400" dirty="0"/>
                        <a:t>– Could send an SMS alert to a family member or emergency contact if the lock is triggered.</a:t>
                      </a:r>
                    </a:p>
                    <a:p>
                      <a:pPr marL="285750" indent="-285750">
                        <a:buFont typeface="Arial" panose="020B0604020202020204" pitchFamily="34" charset="0"/>
                        <a:buChar char="•"/>
                      </a:pPr>
                      <a:r>
                        <a:rPr lang="en-IN" sz="1400" b="0" dirty="0"/>
                        <a:t>Non-Intrusive Design </a:t>
                      </a:r>
                      <a:r>
                        <a:rPr lang="en-US" sz="1400" dirty="0"/>
                        <a:t>– The sensor and electronics should be seamlessly integrated into the helmet without causing discomfort.</a:t>
                      </a:r>
                      <a:endParaRPr sz="1400" dirty="0"/>
                    </a:p>
                  </a:txBody>
                  <a:tcPr marL="54000" marR="54000" marT="36000" marB="36000"/>
                </a:tc>
                <a:extLst>
                  <a:ext uri="{0D108BD9-81ED-4DB2-BD59-A6C34878D82A}">
                    <a16:rowId xmlns:a16="http://schemas.microsoft.com/office/drawing/2014/main" val="10002"/>
                  </a:ext>
                </a:extLst>
              </a:tr>
              <a:tr h="868680">
                <a:tc>
                  <a:txBody>
                    <a:bodyPr/>
                    <a:lstStyle/>
                    <a:p>
                      <a:r>
                        <a:rPr sz="1400"/>
                        <a:t>Won’t‑Have (for now)</a:t>
                      </a:r>
                    </a:p>
                  </a:txBody>
                  <a:tcPr marL="54000" marR="54000" marT="36000" marB="36000"/>
                </a:tc>
                <a:tc>
                  <a:txBody>
                    <a:bodyPr/>
                    <a:lstStyle/>
                    <a:p>
                      <a:pPr marL="285750" indent="-285750">
                        <a:buFont typeface="Arial" panose="020B0604020202020204" pitchFamily="34" charset="0"/>
                        <a:buChar char="•"/>
                      </a:pPr>
                      <a:r>
                        <a:rPr lang="en-IN" sz="1400" b="0" dirty="0"/>
                        <a:t>Cloud Monitoring/IoT Dashboard </a:t>
                      </a:r>
                      <a:r>
                        <a:rPr lang="en-US" sz="1400" dirty="0"/>
                        <a:t>– Complex data logging and cloud-based management; not essential for the initial PoC.</a:t>
                      </a:r>
                    </a:p>
                    <a:p>
                      <a:pPr marL="285750" indent="-285750">
                        <a:buFont typeface="Arial" panose="020B0604020202020204" pitchFamily="34" charset="0"/>
                        <a:buChar char="•"/>
                      </a:pPr>
                      <a:r>
                        <a:rPr lang="en-IN" sz="1400" b="0" dirty="0"/>
                        <a:t>GPS Tracking </a:t>
                      </a:r>
                      <a:r>
                        <a:rPr lang="en-US" sz="1400" dirty="0"/>
                        <a:t>– Real-time location sharing; planned for a V2.0 product focused on monitoring.</a:t>
                      </a:r>
                      <a:endParaRPr sz="1400" dirty="0"/>
                    </a:p>
                  </a:txBody>
                  <a:tcPr marL="54000" marR="54000" marT="36000" marB="36000"/>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dirty="0"/>
              <a:t>Next Steps Toward PoC</a:t>
            </a:r>
          </a:p>
        </p:txBody>
      </p:sp>
      <p:graphicFrame>
        <p:nvGraphicFramePr>
          <p:cNvPr id="3" name="Table 2"/>
          <p:cNvGraphicFramePr>
            <a:graphicFrameLocks noGrp="1"/>
          </p:cNvGraphicFramePr>
          <p:nvPr>
            <p:extLst>
              <p:ext uri="{D42A27DB-BD31-4B8C-83A1-F6EECF244321}">
                <p14:modId xmlns:p14="http://schemas.microsoft.com/office/powerpoint/2010/main" val="3092182602"/>
              </p:ext>
            </p:extLst>
          </p:nvPr>
        </p:nvGraphicFramePr>
        <p:xfrm>
          <a:off x="411061" y="1463040"/>
          <a:ext cx="8084870" cy="3932993"/>
        </p:xfrm>
        <a:graphic>
          <a:graphicData uri="http://schemas.openxmlformats.org/drawingml/2006/table">
            <a:tbl>
              <a:tblPr firstRow="1" bandRow="1">
                <a:tableStyleId>{5C22544A-7EE6-4342-B048-85BDC9FD1C3A}</a:tableStyleId>
              </a:tblPr>
              <a:tblGrid>
                <a:gridCol w="1911034">
                  <a:extLst>
                    <a:ext uri="{9D8B030D-6E8A-4147-A177-3AD203B41FA5}">
                      <a16:colId xmlns:a16="http://schemas.microsoft.com/office/drawing/2014/main" val="20000"/>
                    </a:ext>
                  </a:extLst>
                </a:gridCol>
                <a:gridCol w="2059036">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57953">
                <a:tc>
                  <a:txBody>
                    <a:bodyPr/>
                    <a:lstStyle/>
                    <a:p>
                      <a:r>
                        <a:rPr sz="1400" b="1" dirty="0"/>
                        <a:t>Step</a:t>
                      </a:r>
                    </a:p>
                  </a:txBody>
                  <a:tcPr marL="54000" marR="54000" marT="36000" marB="36000"/>
                </a:tc>
                <a:tc>
                  <a:txBody>
                    <a:bodyPr/>
                    <a:lstStyle/>
                    <a:p>
                      <a:r>
                        <a:rPr sz="1400" b="1"/>
                        <a:t>Owner</a:t>
                      </a:r>
                    </a:p>
                  </a:txBody>
                  <a:tcPr marL="54000" marR="54000" marT="36000" marB="36000"/>
                </a:tc>
                <a:tc>
                  <a:txBody>
                    <a:bodyPr/>
                    <a:lstStyle/>
                    <a:p>
                      <a:r>
                        <a:rPr sz="1400" b="1"/>
                        <a:t>Date</a:t>
                      </a:r>
                    </a:p>
                  </a:txBody>
                  <a:tcPr marL="54000" marR="54000" marT="36000" marB="36000"/>
                </a:tc>
                <a:tc>
                  <a:txBody>
                    <a:bodyPr/>
                    <a:lstStyle/>
                    <a:p>
                      <a:r>
                        <a:rPr sz="1400" b="1"/>
                        <a:t>Output / Validation</a:t>
                      </a:r>
                    </a:p>
                  </a:txBody>
                  <a:tcPr marL="54000" marR="54000" marT="36000" marB="36000"/>
                </a:tc>
                <a:extLst>
                  <a:ext uri="{0D108BD9-81ED-4DB2-BD59-A6C34878D82A}">
                    <a16:rowId xmlns:a16="http://schemas.microsoft.com/office/drawing/2014/main" val="10000"/>
                  </a:ext>
                </a:extLst>
              </a:tr>
              <a:tr h="674177">
                <a:tc>
                  <a:txBody>
                    <a:bodyPr/>
                    <a:lstStyle/>
                    <a:p>
                      <a:r>
                        <a:rPr lang="en-US" sz="1400" b="0" dirty="0"/>
                        <a:t>Step 1: Select and Test MQ3 Sensor</a:t>
                      </a:r>
                      <a:endParaRPr sz="1400" b="0" dirty="0"/>
                    </a:p>
                  </a:txBody>
                  <a:tcPr marL="54000" marR="54000" marT="36000" marB="36000"/>
                </a:tc>
                <a:tc>
                  <a:txBody>
                    <a:bodyPr/>
                    <a:lstStyle/>
                    <a:p>
                      <a:r>
                        <a:rPr sz="1400"/>
                        <a:t>[Name]</a:t>
                      </a:r>
                    </a:p>
                  </a:txBody>
                  <a:tcPr marL="54000" marR="54000" marT="36000" marB="36000"/>
                </a:tc>
                <a:tc>
                  <a:txBody>
                    <a:bodyPr/>
                    <a:lstStyle/>
                    <a:p>
                      <a:r>
                        <a:rPr sz="1400"/>
                        <a:t>[dd MMM]</a:t>
                      </a:r>
                    </a:p>
                  </a:txBody>
                  <a:tcPr marL="54000" marR="54000" marT="36000" marB="36000"/>
                </a:tc>
                <a:tc>
                  <a:txBody>
                    <a:bodyPr/>
                    <a:lstStyle/>
                    <a:p>
                      <a:r>
                        <a:rPr lang="en-US" sz="1400" dirty="0"/>
                        <a:t>Documented sensor sensitivity and accuracy at different alcohol levels.</a:t>
                      </a:r>
                      <a:endParaRPr sz="1400" dirty="0"/>
                    </a:p>
                  </a:txBody>
                  <a:tcPr marL="54000" marR="54000" marT="36000" marB="36000"/>
                </a:tc>
                <a:extLst>
                  <a:ext uri="{0D108BD9-81ED-4DB2-BD59-A6C34878D82A}">
                    <a16:rowId xmlns:a16="http://schemas.microsoft.com/office/drawing/2014/main" val="10001"/>
                  </a:ext>
                </a:extLst>
              </a:tr>
              <a:tr h="876180">
                <a:tc>
                  <a:txBody>
                    <a:bodyPr/>
                    <a:lstStyle/>
                    <a:p>
                      <a:r>
                        <a:rPr lang="en-IN" sz="1400" b="0" dirty="0"/>
                        <a:t>Step 2: Develop ESP32 Code &amp; Logic</a:t>
                      </a:r>
                      <a:endParaRPr sz="1400" b="0" dirty="0"/>
                    </a:p>
                  </a:txBody>
                  <a:tcPr marL="54000" marR="54000" marT="36000" marB="36000"/>
                </a:tc>
                <a:tc>
                  <a:txBody>
                    <a:bodyPr/>
                    <a:lstStyle/>
                    <a:p>
                      <a:r>
                        <a:rPr sz="1400" dirty="0"/>
                        <a:t>[Name]</a:t>
                      </a:r>
                    </a:p>
                  </a:txBody>
                  <a:tcPr marL="54000" marR="54000" marT="36000" marB="36000"/>
                </a:tc>
                <a:tc>
                  <a:txBody>
                    <a:bodyPr/>
                    <a:lstStyle/>
                    <a:p>
                      <a:r>
                        <a:rPr sz="1400"/>
                        <a:t>[dd MMM]</a:t>
                      </a:r>
                    </a:p>
                  </a:txBody>
                  <a:tcPr marL="54000" marR="54000" marT="36000" marB="36000"/>
                </a:tc>
                <a:tc>
                  <a:txBody>
                    <a:bodyPr/>
                    <a:lstStyle/>
                    <a:p>
                      <a:r>
                        <a:rPr lang="en-US" sz="1400" dirty="0"/>
                        <a:t>Working firmware for processing sensor input and controlling the output relay.</a:t>
                      </a:r>
                      <a:endParaRPr sz="1400" dirty="0"/>
                    </a:p>
                  </a:txBody>
                  <a:tcPr marL="54000" marR="54000" marT="36000" marB="36000"/>
                </a:tc>
                <a:extLst>
                  <a:ext uri="{0D108BD9-81ED-4DB2-BD59-A6C34878D82A}">
                    <a16:rowId xmlns:a16="http://schemas.microsoft.com/office/drawing/2014/main" val="10002"/>
                  </a:ext>
                </a:extLst>
              </a:tr>
              <a:tr h="876180">
                <a:tc>
                  <a:txBody>
                    <a:bodyPr/>
                    <a:lstStyle/>
                    <a:p>
                      <a:r>
                        <a:rPr lang="en-US" sz="1400" b="0" dirty="0"/>
                        <a:t>Step 3: Build &amp; Test Ignition Control Circuit</a:t>
                      </a:r>
                      <a:endParaRPr sz="1400" b="0" dirty="0"/>
                    </a:p>
                  </a:txBody>
                  <a:tcPr marL="54000" marR="54000" marT="36000" marB="36000"/>
                </a:tc>
                <a:tc>
                  <a:txBody>
                    <a:bodyPr/>
                    <a:lstStyle/>
                    <a:p>
                      <a:r>
                        <a:rPr sz="1400"/>
                        <a:t>[Name]</a:t>
                      </a:r>
                    </a:p>
                  </a:txBody>
                  <a:tcPr marL="54000" marR="54000" marT="36000" marB="36000"/>
                </a:tc>
                <a:tc>
                  <a:txBody>
                    <a:bodyPr/>
                    <a:lstStyle/>
                    <a:p>
                      <a:r>
                        <a:rPr sz="1400"/>
                        <a:t>[dd MMM]</a:t>
                      </a:r>
                    </a:p>
                  </a:txBody>
                  <a:tcPr marL="54000" marR="54000" marT="36000" marB="36000"/>
                </a:tc>
                <a:tc>
                  <a:txBody>
                    <a:bodyPr/>
                    <a:lstStyle/>
                    <a:p>
                      <a:r>
                        <a:rPr lang="en-US" sz="1400" dirty="0"/>
                        <a:t>Successful prototype where the system locks and unlocks a dummy ignition switch. </a:t>
                      </a:r>
                      <a:endParaRPr sz="1400" dirty="0"/>
                    </a:p>
                  </a:txBody>
                  <a:tcPr marL="54000" marR="54000" marT="36000" marB="36000"/>
                </a:tc>
                <a:extLst>
                  <a:ext uri="{0D108BD9-81ED-4DB2-BD59-A6C34878D82A}">
                    <a16:rowId xmlns:a16="http://schemas.microsoft.com/office/drawing/2014/main" val="10003"/>
                  </a:ext>
                </a:extLst>
              </a:tr>
              <a:tr h="674177">
                <a:tc>
                  <a:txBody>
                    <a:bodyPr/>
                    <a:lstStyle/>
                    <a:p>
                      <a:r>
                        <a:rPr lang="en-US" sz="1400" b="0" dirty="0"/>
                        <a:t>Step 4: Integrate Electronics into Helmet Prototype</a:t>
                      </a:r>
                      <a:endParaRPr sz="1400" b="0" dirty="0"/>
                    </a:p>
                  </a:txBody>
                  <a:tcPr marL="54000" marR="54000" marT="36000" marB="36000"/>
                </a:tc>
                <a:tc>
                  <a:txBody>
                    <a:bodyPr/>
                    <a:lstStyle/>
                    <a:p>
                      <a:r>
                        <a:rPr sz="1400" dirty="0"/>
                        <a:t>[Name]</a:t>
                      </a:r>
                    </a:p>
                  </a:txBody>
                  <a:tcPr marL="54000" marR="54000" marT="36000" marB="36000"/>
                </a:tc>
                <a:tc>
                  <a:txBody>
                    <a:bodyPr/>
                    <a:lstStyle/>
                    <a:p>
                      <a:r>
                        <a:rPr sz="1400" dirty="0"/>
                        <a:t>[dd MMM]</a:t>
                      </a:r>
                    </a:p>
                  </a:txBody>
                  <a:tcPr marL="54000" marR="54000" marT="36000" marB="36000"/>
                </a:tc>
                <a:tc>
                  <a:txBody>
                    <a:bodyPr/>
                    <a:lstStyle/>
                    <a:p>
                      <a:r>
                        <a:rPr lang="en-US" sz="1400" dirty="0"/>
                        <a:t>Wearable, functional helmet with integrated sensor and alert system.</a:t>
                      </a:r>
                      <a:endParaRPr sz="1400" dirty="0"/>
                    </a:p>
                  </a:txBody>
                  <a:tcPr marL="54000" marR="54000" marT="36000" marB="36000"/>
                </a:tc>
                <a:extLst>
                  <a:ext uri="{0D108BD9-81ED-4DB2-BD59-A6C34878D82A}">
                    <a16:rowId xmlns:a16="http://schemas.microsoft.com/office/drawing/2014/main" val="10004"/>
                  </a:ext>
                </a:extLst>
              </a:tr>
            </a:tbl>
          </a:graphicData>
        </a:graphic>
      </p:graphicFrame>
      <p:sp>
        <p:nvSpPr>
          <p:cNvPr id="4" name="TextBox 3"/>
          <p:cNvSpPr txBox="1"/>
          <p:nvPr/>
        </p:nvSpPr>
        <p:spPr>
          <a:xfrm>
            <a:off x="337878" y="5955359"/>
            <a:ext cx="8468243" cy="276999"/>
          </a:xfrm>
          <a:prstGeom prst="rect">
            <a:avLst/>
          </a:prstGeom>
          <a:noFill/>
        </p:spPr>
        <p:txBody>
          <a:bodyPr wrap="square">
            <a:spAutoFit/>
          </a:bodyPr>
          <a:lstStyle/>
          <a:p>
            <a:pPr>
              <a:defRPr sz="1200">
                <a:solidFill>
                  <a:schemeClr val="tx2"/>
                </a:solidFill>
              </a:defRPr>
            </a:pPr>
            <a:r>
              <a:rPr dirty="0"/>
              <a:t>Include any resources needed (data, hardware, user access)</a:t>
            </a:r>
            <a:r>
              <a:rPr lang="en-US" dirty="0"/>
              <a:t>, how you will arrange them, </a:t>
            </a:r>
            <a:r>
              <a:rPr dirty="0"/>
              <a:t>and note risks/unknowns to address early.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References</a:t>
            </a:r>
          </a:p>
        </p:txBody>
      </p:sp>
      <p:sp>
        <p:nvSpPr>
          <p:cNvPr id="3" name="Content Placeholder 2"/>
          <p:cNvSpPr>
            <a:spLocks noGrp="1"/>
          </p:cNvSpPr>
          <p:nvPr>
            <p:ph idx="1"/>
          </p:nvPr>
        </p:nvSpPr>
        <p:spPr/>
        <p:txBody>
          <a:bodyPr/>
          <a:lstStyle/>
          <a:p>
            <a:r>
              <a:rPr lang="en-IN" sz="1800" dirty="0"/>
              <a:t>Problem Justification-</a:t>
            </a:r>
            <a:r>
              <a:rPr lang="en-IN" sz="1800" dirty="0">
                <a:hlinkClick r:id="rId2"/>
              </a:rPr>
              <a:t>https://crashstats.nhtsa.dot.gov/Api/Public/Publication/813466</a:t>
            </a:r>
            <a:endParaRPr lang="en-US" sz="1800" dirty="0"/>
          </a:p>
          <a:p>
            <a:r>
              <a:rPr lang="en-IN" sz="1800" dirty="0"/>
              <a:t>Component Technical Data</a:t>
            </a:r>
            <a:r>
              <a:rPr lang="en-US" sz="1800" dirty="0"/>
              <a:t> - </a:t>
            </a:r>
            <a:r>
              <a:rPr lang="en-US" sz="1800" dirty="0">
                <a:hlinkClick r:id="rId3"/>
              </a:rPr>
              <a:t>https://www.pololu.com/file/0j310/mq3.pdf</a:t>
            </a:r>
            <a:endParaRPr lang="en-US" sz="1800" dirty="0"/>
          </a:p>
          <a:p>
            <a:r>
              <a:rPr lang="en-IN" sz="1800" dirty="0"/>
              <a:t>System Research Paper - </a:t>
            </a:r>
            <a:r>
              <a:rPr lang="en-IN" sz="1800" dirty="0">
                <a:hlinkClick r:id="rId4"/>
              </a:rPr>
              <a:t>https://ijarsct.co.in/Paper9228.pdf</a:t>
            </a:r>
            <a:endParaRPr lang="en-IN" sz="1800" dirty="0"/>
          </a:p>
          <a:p>
            <a:r>
              <a:rPr lang="en-IN" sz="1800" dirty="0"/>
              <a:t>Concept Feasibility/Challenges-</a:t>
            </a:r>
            <a:r>
              <a:rPr lang="en-IN" sz="1800" dirty="0">
                <a:hlinkClick r:id="rId5"/>
              </a:rPr>
              <a:t>https://www.researchgate.net/publication/326446749_Ignition_Interlock_Device_for_Motorcycles</a:t>
            </a:r>
            <a:endParaRPr lang="en-IN" sz="1800" dirty="0">
              <a:solidFill>
                <a:schemeClr val="dk1"/>
              </a:solidFill>
            </a:endParaRPr>
          </a:p>
          <a:p>
            <a:pPr marL="0" indent="0">
              <a:buNone/>
              <a:defRPr sz="1800"/>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f4bcbf8-e4fe-49fe-9064-aa6724e1aff7">
      <Terms xmlns="http://schemas.microsoft.com/office/infopath/2007/PartnerControls"/>
    </lcf76f155ced4ddcb4097134ff3c332f>
    <TaxCatchAll xmlns="83df3408-28af-437f-b204-b64d5303919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D9324C02AF684081B0638F841F77A7" ma:contentTypeVersion="10" ma:contentTypeDescription="Create a new document." ma:contentTypeScope="" ma:versionID="76293b1a46d6d7c202189aff5a8c6e5c">
  <xsd:schema xmlns:xsd="http://www.w3.org/2001/XMLSchema" xmlns:xs="http://www.w3.org/2001/XMLSchema" xmlns:p="http://schemas.microsoft.com/office/2006/metadata/properties" xmlns:ns2="8f4bcbf8-e4fe-49fe-9064-aa6724e1aff7" xmlns:ns3="83df3408-28af-437f-b204-b64d5303919d" targetNamespace="http://schemas.microsoft.com/office/2006/metadata/properties" ma:root="true" ma:fieldsID="da80ec647d8e70964e30662bcd5dd54f" ns2:_="" ns3:_="">
    <xsd:import namespace="8f4bcbf8-e4fe-49fe-9064-aa6724e1aff7"/>
    <xsd:import namespace="83df3408-28af-437f-b204-b64d530391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4bcbf8-e4fe-49fe-9064-aa6724e1af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7d36ee0-516a-46d7-9c37-891188aa7a3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3df3408-28af-437f-b204-b64d5303919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261d6e-d725-4d9d-b8b3-d7d7b2a3ce19}" ma:internalName="TaxCatchAll" ma:showField="CatchAllData" ma:web="83df3408-28af-437f-b204-b64d530391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F5B329-C347-491D-93CD-609F710B459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59F9FE8-22B7-4B12-BC98-968D4B07206F}"/>
</file>

<file path=customXml/itemProps3.xml><?xml version="1.0" encoding="utf-8"?>
<ds:datastoreItem xmlns:ds="http://schemas.openxmlformats.org/officeDocument/2006/customXml" ds:itemID="{21AA1407-9A36-4309-9A97-EFA165BFA4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280</TotalTime>
  <Words>1813</Words>
  <Application>Microsoft Office PowerPoint</Application>
  <PresentationFormat>On-screen Show (4:3)</PresentationFormat>
  <Paragraphs>182</Paragraphs>
  <Slides>12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Office Theme</vt:lpstr>
      <vt:lpstr>Innovative IoT-Based Helmet for Real-Time Rider Protection</vt:lpstr>
      <vt:lpstr>Problem &amp; End‑User Recap</vt:lpstr>
      <vt:lpstr>PowerPoint Presentation</vt:lpstr>
      <vt:lpstr>PowerPoint Presentation</vt:lpstr>
      <vt:lpstr>Idea 1 – Smart Helmet: Alcohol Lock</vt:lpstr>
      <vt:lpstr>Idea 2 – Fatigue Monitoring Alert System</vt:lpstr>
      <vt:lpstr>Idea 3 – Crash Detection &amp; Emergency Alert</vt:lpstr>
      <vt:lpstr>Idea Evaluation — Desirability • Feasibility • Viability</vt:lpstr>
      <vt:lpstr>Selected Idea &amp; Justification</vt:lpstr>
      <vt:lpstr>Solution Features &amp; Prioritization (MoSCoW)</vt:lpstr>
      <vt:lpstr>Next Steps Toward PoC</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Thiruvaazhi Uloli</dc:creator>
  <cp:keywords/>
  <dc:description>generated using python-pptx</dc:description>
  <cp:lastModifiedBy>sk srikanth</cp:lastModifiedBy>
  <cp:revision>8</cp:revision>
  <dcterms:created xsi:type="dcterms:W3CDTF">2013-01-27T09:14:16Z</dcterms:created>
  <dcterms:modified xsi:type="dcterms:W3CDTF">2025-10-06T06:10:21Z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0x0101004AD9324C02AF684081B0638F841F77A7</vt:lpwstr>
  </property>
</Properties>
</file>