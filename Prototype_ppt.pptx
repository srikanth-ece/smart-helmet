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6"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1"/>
  </p:notesMasterIdLst>
  <p:sldIdLst>
    <p:sldId id="256" r:id="rId5"/>
    <p:sldId id="258" r:id="rId6"/>
    <p:sldId id="277" r:id="rId7"/>
    <p:sldId id="259" r:id="rId8"/>
    <p:sldId id="260" r:id="rId9"/>
    <p:sldId id="261"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24" autoAdjust="0"/>
    <p:restoredTop sz="94660"/>
  </p:normalViewPr>
  <p:slideViewPr>
    <p:cSldViewPr snapToGrid="0">
      <p:cViewPr varScale="1">
        <p:scale>
          <a:sx n="59" d="100"/>
          <a:sy n="59" d="100"/>
        </p:scale>
        <p:origin x="112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C5364B8D-6CEA-4766-93C3-982E9EF65231}"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noRot="1" noChangeAspect="1"/>
          </p:cNvSpPr>
          <p:nvPr>
            <p:ph type="sldImg"/>
          </p:nvPr>
        </p:nvSpPr>
        <p:spPr>
          <a:xfrm>
            <a:off x="685800" y="1143000"/>
            <a:ext cx="5486400" cy="3086100"/>
          </a:xfrm>
          <a:prstGeom prst="rect">
            <a:avLst/>
          </a:prstGeom>
          <a:ln w="0">
            <a:noFill/>
          </a:ln>
        </p:spPr>
      </p:sp>
      <p:sp>
        <p:nvSpPr>
          <p:cNvPr id="5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94"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ACBDF26-E2AC-48A5-B658-A32D89D7F60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 name="PlaceHolder 1"/>
          <p:cNvSpPr>
            <a:spLocks noGrp="1" noRot="1" noChangeAspect="1"/>
          </p:cNvSpPr>
          <p:nvPr>
            <p:ph type="sldImg"/>
          </p:nvPr>
        </p:nvSpPr>
        <p:spPr>
          <a:xfrm>
            <a:off x="685800" y="1143000"/>
            <a:ext cx="5486400" cy="3086100"/>
          </a:xfrm>
          <a:prstGeom prst="rect">
            <a:avLst/>
          </a:prstGeom>
          <a:ln w="0">
            <a:noFill/>
          </a:ln>
        </p:spPr>
      </p:sp>
      <p:sp>
        <p:nvSpPr>
          <p:cNvPr id="5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00"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A9B954A-8C8B-4D2F-9684-B443319BC783}"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PlaceHolder 1"/>
          <p:cNvSpPr>
            <a:spLocks noGrp="1" noRot="1" noChangeAspect="1"/>
          </p:cNvSpPr>
          <p:nvPr>
            <p:ph type="sldImg"/>
          </p:nvPr>
        </p:nvSpPr>
        <p:spPr>
          <a:xfrm>
            <a:off x="685800" y="1143000"/>
            <a:ext cx="5486400" cy="3086100"/>
          </a:xfrm>
          <a:prstGeom prst="rect">
            <a:avLst/>
          </a:prstGeom>
          <a:ln w="0">
            <a:noFill/>
          </a:ln>
        </p:spPr>
      </p:sp>
      <p:sp>
        <p:nvSpPr>
          <p:cNvPr id="6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03"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849C697-713F-4911-B627-C3F10EB8181E}"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 name="PlaceHolder 1"/>
          <p:cNvSpPr>
            <a:spLocks noGrp="1" noRot="1" noChangeAspect="1"/>
          </p:cNvSpPr>
          <p:nvPr>
            <p:ph type="sldImg"/>
          </p:nvPr>
        </p:nvSpPr>
        <p:spPr>
          <a:xfrm>
            <a:off x="685800" y="1143000"/>
            <a:ext cx="5486400" cy="3086100"/>
          </a:xfrm>
          <a:prstGeom prst="rect">
            <a:avLst/>
          </a:prstGeom>
          <a:ln w="0">
            <a:noFill/>
          </a:ln>
        </p:spPr>
      </p:sp>
      <p:sp>
        <p:nvSpPr>
          <p:cNvPr id="6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06"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1F14EDC-84B4-4913-8932-CFB6F0EAC5AE}"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 name="PlaceHolder 1"/>
          <p:cNvSpPr>
            <a:spLocks noGrp="1" noRot="1" noChangeAspect="1"/>
          </p:cNvSpPr>
          <p:nvPr>
            <p:ph type="sldImg"/>
          </p:nvPr>
        </p:nvSpPr>
        <p:spPr>
          <a:xfrm>
            <a:off x="685800" y="1143000"/>
            <a:ext cx="5486400" cy="3086100"/>
          </a:xfrm>
          <a:prstGeom prst="rect">
            <a:avLst/>
          </a:prstGeom>
          <a:ln w="0">
            <a:noFill/>
          </a:ln>
        </p:spPr>
      </p:sp>
      <p:sp>
        <p:nvSpPr>
          <p:cNvPr id="6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09"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F2E981-27FC-4FA0-9EF7-5D8AA73A1ADE}"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 name="PlaceHolder 1"/>
          <p:cNvSpPr>
            <a:spLocks noGrp="1" noRot="1" noChangeAspect="1"/>
          </p:cNvSpPr>
          <p:nvPr>
            <p:ph type="sldImg"/>
          </p:nvPr>
        </p:nvSpPr>
        <p:spPr>
          <a:xfrm>
            <a:off x="685800" y="1143000"/>
            <a:ext cx="5486400" cy="3086100"/>
          </a:xfrm>
          <a:prstGeom prst="rect">
            <a:avLst/>
          </a:prstGeom>
          <a:ln w="0">
            <a:noFill/>
          </a:ln>
        </p:spPr>
      </p:sp>
      <p:sp>
        <p:nvSpPr>
          <p:cNvPr id="6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24"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5CFC50C-21DB-4D5D-9E15-EA11319D196F}"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PlaceHolder 1"/>
          <p:cNvSpPr>
            <a:spLocks noGrp="1" noRot="1" noChangeAspect="1"/>
          </p:cNvSpPr>
          <p:nvPr>
            <p:ph type="sldImg"/>
          </p:nvPr>
        </p:nvSpPr>
        <p:spPr>
          <a:xfrm>
            <a:off x="685800" y="1143000"/>
            <a:ext cx="5486400" cy="3086100"/>
          </a:xfrm>
          <a:prstGeom prst="rect">
            <a:avLst/>
          </a:prstGeom>
          <a:ln w="0">
            <a:noFill/>
          </a:ln>
        </p:spPr>
      </p:sp>
      <p:sp>
        <p:nvSpPr>
          <p:cNvPr id="6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27"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C3241AC-DCBF-41EB-898E-D7499FC1F187}"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 name="PlaceHolder 1"/>
          <p:cNvSpPr>
            <a:spLocks noGrp="1" noRot="1" noChangeAspect="1"/>
          </p:cNvSpPr>
          <p:nvPr>
            <p:ph type="sldImg"/>
          </p:nvPr>
        </p:nvSpPr>
        <p:spPr>
          <a:xfrm>
            <a:off x="685800" y="1143000"/>
            <a:ext cx="5486400" cy="3086100"/>
          </a:xfrm>
          <a:prstGeom prst="rect">
            <a:avLst/>
          </a:prstGeom>
          <a:ln w="0">
            <a:noFill/>
          </a:ln>
        </p:spPr>
      </p:sp>
      <p:sp>
        <p:nvSpPr>
          <p:cNvPr id="6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30"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7E885F-647E-4B97-A9CA-EAFF87846392}"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 name="PlaceHolder 1"/>
          <p:cNvSpPr>
            <a:spLocks noGrp="1" noRot="1" noChangeAspect="1"/>
          </p:cNvSpPr>
          <p:nvPr>
            <p:ph type="sldImg"/>
          </p:nvPr>
        </p:nvSpPr>
        <p:spPr>
          <a:xfrm>
            <a:off x="685800" y="1143000"/>
            <a:ext cx="5486400" cy="3086100"/>
          </a:xfrm>
          <a:prstGeom prst="rect">
            <a:avLst/>
          </a:prstGeom>
          <a:ln w="0">
            <a:noFill/>
          </a:ln>
        </p:spPr>
      </p:sp>
      <p:sp>
        <p:nvSpPr>
          <p:cNvPr id="6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33"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73889C-0F1C-498E-AE4C-87DF0C289117}"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 name="PlaceHolder 1"/>
          <p:cNvSpPr>
            <a:spLocks noGrp="1" noRot="1" noChangeAspect="1"/>
          </p:cNvSpPr>
          <p:nvPr>
            <p:ph type="sldImg"/>
          </p:nvPr>
        </p:nvSpPr>
        <p:spPr>
          <a:xfrm>
            <a:off x="685800" y="1143000"/>
            <a:ext cx="5486400" cy="3086100"/>
          </a:xfrm>
          <a:prstGeom prst="rect">
            <a:avLst/>
          </a:prstGeom>
          <a:ln w="0">
            <a:noFill/>
          </a:ln>
        </p:spPr>
      </p:sp>
      <p:sp>
        <p:nvSpPr>
          <p:cNvPr id="6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36"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2CDAC6-A568-4D2C-88D1-A681863B4AD8}"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 name="PlaceHolder 1"/>
          <p:cNvSpPr>
            <a:spLocks noGrp="1" noRot="1" noChangeAspect="1"/>
          </p:cNvSpPr>
          <p:nvPr>
            <p:ph type="sldImg"/>
          </p:nvPr>
        </p:nvSpPr>
        <p:spPr>
          <a:xfrm>
            <a:off x="685800" y="1143000"/>
            <a:ext cx="5486400" cy="3086100"/>
          </a:xfrm>
          <a:prstGeom prst="rect">
            <a:avLst/>
          </a:prstGeom>
          <a:ln w="0">
            <a:noFill/>
          </a:ln>
        </p:spPr>
      </p:sp>
      <p:sp>
        <p:nvSpPr>
          <p:cNvPr id="6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39"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BF0AF5F-9021-4976-B033-5BD0D025A798}"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 name="PlaceHolder 1"/>
          <p:cNvSpPr>
            <a:spLocks noGrp="1" noRot="1" noChangeAspect="1"/>
          </p:cNvSpPr>
          <p:nvPr>
            <p:ph type="sldImg"/>
          </p:nvPr>
        </p:nvSpPr>
        <p:spPr>
          <a:xfrm>
            <a:off x="685800" y="1143000"/>
            <a:ext cx="5486400" cy="3086100"/>
          </a:xfrm>
          <a:prstGeom prst="rect">
            <a:avLst/>
          </a:prstGeom>
          <a:ln w="0">
            <a:noFill/>
          </a:ln>
        </p:spPr>
      </p:sp>
      <p:sp>
        <p:nvSpPr>
          <p:cNvPr id="6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42"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F475871-CA94-4BF2-BAA1-2F0D121F319F}"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 name="PlaceHolder 1"/>
          <p:cNvSpPr>
            <a:spLocks noGrp="1" noRot="1" noChangeAspect="1"/>
          </p:cNvSpPr>
          <p:nvPr>
            <p:ph type="sldImg"/>
          </p:nvPr>
        </p:nvSpPr>
        <p:spPr>
          <a:xfrm>
            <a:off x="685800" y="1143000"/>
            <a:ext cx="5486400" cy="3086100"/>
          </a:xfrm>
          <a:prstGeom prst="rect">
            <a:avLst/>
          </a:prstGeom>
          <a:ln w="0">
            <a:noFill/>
          </a:ln>
        </p:spPr>
      </p:sp>
      <p:sp>
        <p:nvSpPr>
          <p:cNvPr id="6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45"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4414C1A-D5AD-44ED-BB27-2DED58928B04}"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 name="PlaceHolder 1"/>
          <p:cNvSpPr>
            <a:spLocks noGrp="1" noRot="1" noChangeAspect="1"/>
          </p:cNvSpPr>
          <p:nvPr>
            <p:ph type="sldImg"/>
          </p:nvPr>
        </p:nvSpPr>
        <p:spPr>
          <a:xfrm>
            <a:off x="685800" y="1143000"/>
            <a:ext cx="5486400" cy="3086100"/>
          </a:xfrm>
          <a:prstGeom prst="rect">
            <a:avLst/>
          </a:prstGeom>
          <a:ln w="0">
            <a:noFill/>
          </a:ln>
        </p:spPr>
      </p:sp>
      <p:sp>
        <p:nvSpPr>
          <p:cNvPr id="6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48"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B026A5-AE90-4577-BDD2-D8D928CDA7B2}"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 name="PlaceHolder 1"/>
          <p:cNvSpPr>
            <a:spLocks noGrp="1" noRot="1" noChangeAspect="1"/>
          </p:cNvSpPr>
          <p:nvPr>
            <p:ph type="sldImg"/>
          </p:nvPr>
        </p:nvSpPr>
        <p:spPr>
          <a:xfrm>
            <a:off x="685800" y="1143000"/>
            <a:ext cx="5486400" cy="3086100"/>
          </a:xfrm>
          <a:prstGeom prst="rect">
            <a:avLst/>
          </a:prstGeom>
          <a:ln w="0">
            <a:noFill/>
          </a:ln>
        </p:spPr>
      </p:sp>
      <p:sp>
        <p:nvSpPr>
          <p:cNvPr id="6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51"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E7124BF-057B-4CAB-BC2A-B82335BA5E29}"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
        <p:nvSpPr>
          <p:cNvPr id="4" name="Slide Number Placeholder 3">
            <a:extLst>
              <a:ext uri="{FF2B5EF4-FFF2-40B4-BE49-F238E27FC236}">
                <a16:creationId xmlns:a16="http://schemas.microsoft.com/office/drawing/2014/main" id="{4E57C20C-E778-1559-1CD3-DAA43F461EA7}"/>
              </a:ext>
            </a:extLst>
          </p:cNvPr>
          <p:cNvSpPr>
            <a:spLocks noGrp="1"/>
          </p:cNvSpPr>
          <p:nvPr>
            <p:ph type="sldNum" sz="quarter" idx="4"/>
          </p:nvPr>
        </p:nvSpPr>
        <p:spPr>
          <a:xfrm>
            <a:off x="10972800" y="6356350"/>
            <a:ext cx="3810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8F5C2A-E4A9-4E29-81FE-3292F88C3A90}"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pololu.com/file/0j310/mq3.pdf" TargetMode="External"/><Relationship Id="rId7" Type="http://schemas.openxmlformats.org/officeDocument/2006/relationships/hyperlink" Target="https://www.researchgate.net/publication/326446749_Ignition_Interlock_Device_for_Motorcycles"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simcom.ee/documents/SIM800L/" TargetMode="External"/><Relationship Id="rId5" Type="http://schemas.openxmlformats.org/officeDocument/2006/relationships/hyperlink" Target="https://invensense.tdk.com/products/motion-tracking/6-axis/mpu-6050/" TargetMode="External"/><Relationship Id="rId4" Type="http://schemas.openxmlformats.org/officeDocument/2006/relationships/hyperlink" Target="https://www.espressif.com/en/products/socs/esp32/resourc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0"/>
          <p:cNvSpPr/>
          <p:nvPr/>
        </p:nvSpPr>
        <p:spPr>
          <a:xfrm>
            <a:off x="0" y="24190"/>
            <a:ext cx="12191400" cy="68576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 name="Shape 1"/>
          <p:cNvSpPr/>
          <p:nvPr/>
        </p:nvSpPr>
        <p:spPr>
          <a:xfrm>
            <a:off x="0" y="0"/>
            <a:ext cx="12191400" cy="1416960"/>
          </a:xfrm>
          <a:prstGeom prst="rect">
            <a:avLst/>
          </a:prstGeom>
          <a:solidFill>
            <a:srgbClr val="0B2E4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 name="Shape 2"/>
          <p:cNvSpPr/>
          <p:nvPr/>
        </p:nvSpPr>
        <p:spPr>
          <a:xfrm>
            <a:off x="0" y="0"/>
            <a:ext cx="200880" cy="1416960"/>
          </a:xfrm>
          <a:prstGeom prst="rect">
            <a:avLst/>
          </a:prstGeom>
          <a:solidFill>
            <a:srgbClr val="2F6FB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 name="Text 3"/>
          <p:cNvSpPr/>
          <p:nvPr/>
        </p:nvSpPr>
        <p:spPr>
          <a:xfrm>
            <a:off x="594360" y="32004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4000" b="1" u="none" strike="noStrike">
                <a:solidFill>
                  <a:srgbClr val="FFFFFF"/>
                </a:solidFill>
                <a:effectLst/>
                <a:uFillTx/>
                <a:latin typeface="Calibri"/>
                <a:ea typeface="Calibri"/>
              </a:rPr>
              <a:t>SoI — Prototype Stage</a:t>
            </a:r>
            <a:endParaRPr lang="en-US" sz="4000" b="0" u="none" strike="noStrike">
              <a:solidFill>
                <a:srgbClr val="000000"/>
              </a:solidFill>
              <a:effectLst/>
              <a:uFillTx/>
              <a:latin typeface="Arial"/>
            </a:endParaRPr>
          </a:p>
        </p:txBody>
      </p:sp>
      <p:sp>
        <p:nvSpPr>
          <p:cNvPr id="12" name="Text 4"/>
          <p:cNvSpPr/>
          <p:nvPr/>
        </p:nvSpPr>
        <p:spPr>
          <a:xfrm>
            <a:off x="594360" y="89604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0" u="none" strike="noStrike">
                <a:solidFill>
                  <a:srgbClr val="DCE9F7"/>
                </a:solidFill>
                <a:effectLst/>
                <a:uFillTx/>
                <a:latin typeface="Calibri"/>
                <a:ea typeface="Calibri"/>
              </a:rPr>
              <a:t>Submission Deck Template</a:t>
            </a:r>
            <a:endParaRPr lang="en-US" sz="1800" b="0" u="none" strike="noStrike">
              <a:solidFill>
                <a:srgbClr val="000000"/>
              </a:solidFill>
              <a:effectLst/>
              <a:uFillTx/>
              <a:latin typeface="Arial"/>
            </a:endParaRPr>
          </a:p>
        </p:txBody>
      </p:sp>
      <p:sp>
        <p:nvSpPr>
          <p:cNvPr id="13" name="Shape 5"/>
          <p:cNvSpPr/>
          <p:nvPr/>
        </p:nvSpPr>
        <p:spPr>
          <a:xfrm>
            <a:off x="605038" y="1711243"/>
            <a:ext cx="6583320" cy="397728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 name="Text 6"/>
          <p:cNvSpPr/>
          <p:nvPr/>
        </p:nvSpPr>
        <p:spPr>
          <a:xfrm>
            <a:off x="850320" y="2084760"/>
            <a:ext cx="607140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a:solidFill>
                  <a:srgbClr val="111827"/>
                </a:solidFill>
                <a:effectLst/>
                <a:uFillTx/>
                <a:latin typeface="Calibri"/>
                <a:ea typeface="Calibri"/>
              </a:rPr>
              <a:t>Team Details (fill)</a:t>
            </a:r>
            <a:endParaRPr lang="en-US" sz="1600" b="0" u="none" strike="noStrike">
              <a:solidFill>
                <a:srgbClr val="000000"/>
              </a:solidFill>
              <a:effectLst/>
              <a:uFillTx/>
              <a:latin typeface="Arial"/>
            </a:endParaRPr>
          </a:p>
        </p:txBody>
      </p:sp>
      <p:sp>
        <p:nvSpPr>
          <p:cNvPr id="15" name="Text 7"/>
          <p:cNvSpPr/>
          <p:nvPr/>
        </p:nvSpPr>
        <p:spPr>
          <a:xfrm>
            <a:off x="850320" y="2423160"/>
            <a:ext cx="6071400" cy="3300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ea typeface="+mn-lt"/>
                <a:cs typeface="+mn-lt"/>
              </a:rPr>
              <a:t>Team: </a:t>
            </a:r>
            <a:r>
              <a:rPr lang="en-US" dirty="0">
                <a:solidFill>
                  <a:srgbClr val="000000"/>
                </a:solidFill>
                <a:latin typeface="Times New Roman"/>
                <a:ea typeface="+mn-lt"/>
                <a:cs typeface="Times New Roman"/>
              </a:rPr>
              <a:t>META-HACKS</a:t>
            </a:r>
            <a:endParaRPr lang="en-US" dirty="0">
              <a:ea typeface="+mn-lt"/>
              <a:cs typeface="+mn-lt"/>
            </a:endParaRPr>
          </a:p>
          <a:p>
            <a:r>
              <a:rPr lang="en-US" dirty="0">
                <a:ea typeface="+mn-lt"/>
                <a:cs typeface="+mn-lt"/>
              </a:rPr>
              <a:t>Team-ID: </a:t>
            </a:r>
            <a:r>
              <a:rPr lang="en-US" dirty="0">
                <a:solidFill>
                  <a:srgbClr val="000000"/>
                </a:solidFill>
                <a:latin typeface="Calibri"/>
                <a:ea typeface="+mn-lt"/>
                <a:cs typeface="Calibri"/>
              </a:rPr>
              <a:t>[</a:t>
            </a:r>
            <a:r>
              <a:rPr lang="en-US" dirty="0">
                <a:solidFill>
                  <a:srgbClr val="242424"/>
                </a:solidFill>
                <a:latin typeface="Calibri"/>
                <a:ea typeface="+mn-lt"/>
                <a:cs typeface="Segoe UI"/>
              </a:rPr>
              <a:t>P-2024-28-EI-148]</a:t>
            </a:r>
            <a:endParaRPr lang="en-US" dirty="0">
              <a:latin typeface="Calibri"/>
              <a:ea typeface="Calibri"/>
              <a:cs typeface="Calibri"/>
            </a:endParaRPr>
          </a:p>
          <a:p>
            <a:r>
              <a:rPr lang="en-US" dirty="0">
                <a:ea typeface="+mn-lt"/>
                <a:cs typeface="+mn-lt"/>
              </a:rPr>
              <a:t>Lead: Raghul G</a:t>
            </a:r>
            <a:endParaRPr lang="en-US" dirty="0">
              <a:latin typeface="Times New Roman"/>
              <a:ea typeface="+mn-lt"/>
              <a:cs typeface="Times New Roman"/>
            </a:endParaRPr>
          </a:p>
          <a:p>
            <a:r>
              <a:rPr lang="en-US" dirty="0">
                <a:ea typeface="+mn-lt"/>
                <a:cs typeface="+mn-lt"/>
              </a:rPr>
              <a:t>Sanjay T M, Nandha </a:t>
            </a:r>
            <a:r>
              <a:rPr lang="en-US" dirty="0" err="1">
                <a:ea typeface="+mn-lt"/>
                <a:cs typeface="+mn-lt"/>
              </a:rPr>
              <a:t>kumar</a:t>
            </a:r>
            <a:r>
              <a:rPr lang="en-US" dirty="0">
                <a:ea typeface="+mn-lt"/>
                <a:cs typeface="+mn-lt"/>
              </a:rPr>
              <a:t> C S, Vishnu Vardhan A, Srikanth M</a:t>
            </a:r>
            <a:endParaRPr lang="en-US" dirty="0">
              <a:latin typeface="Times New Roman"/>
              <a:ea typeface="+mn-lt"/>
              <a:cs typeface="Times New Roman"/>
            </a:endParaRPr>
          </a:p>
          <a:p>
            <a:r>
              <a:rPr lang="en-US" dirty="0">
                <a:ea typeface="+mn-lt"/>
                <a:cs typeface="+mn-lt"/>
              </a:rPr>
              <a:t>Mentor:   Lab Code: E&amp;I</a:t>
            </a:r>
          </a:p>
          <a:p>
            <a:r>
              <a:rPr lang="en-US" dirty="0">
                <a:ea typeface="+mn-lt"/>
                <a:cs typeface="+mn-lt"/>
              </a:rPr>
              <a:t> Cohort: 2024–2028   Date: 2026-01-27</a:t>
            </a:r>
          </a:p>
          <a:p>
            <a:endParaRPr lang="en-US" dirty="0">
              <a:ea typeface="Calibri"/>
              <a:cs typeface="Calibri"/>
            </a:endParaRPr>
          </a:p>
        </p:txBody>
      </p:sp>
      <p:sp>
        <p:nvSpPr>
          <p:cNvPr id="16" name="Shape 8"/>
          <p:cNvSpPr/>
          <p:nvPr/>
        </p:nvSpPr>
        <p:spPr>
          <a:xfrm>
            <a:off x="7498080" y="1920240"/>
            <a:ext cx="4068720" cy="397728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 name="Text 9"/>
          <p:cNvSpPr/>
          <p:nvPr/>
        </p:nvSpPr>
        <p:spPr>
          <a:xfrm>
            <a:off x="7754040" y="2084760"/>
            <a:ext cx="355680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a:solidFill>
                  <a:srgbClr val="111827"/>
                </a:solidFill>
                <a:effectLst/>
                <a:uFillTx/>
                <a:latin typeface="Calibri"/>
                <a:ea typeface="Calibri"/>
              </a:rPr>
              <a:t>Deliverables</a:t>
            </a:r>
            <a:endParaRPr lang="en-US" sz="1600" b="0" u="none" strike="noStrike">
              <a:solidFill>
                <a:srgbClr val="000000"/>
              </a:solidFill>
              <a:effectLst/>
              <a:uFillTx/>
              <a:latin typeface="Arial"/>
            </a:endParaRPr>
          </a:p>
        </p:txBody>
      </p:sp>
      <p:sp>
        <p:nvSpPr>
          <p:cNvPr id="18" name="Text 10"/>
          <p:cNvSpPr/>
          <p:nvPr/>
        </p:nvSpPr>
        <p:spPr>
          <a:xfrm>
            <a:off x="7754040" y="2423160"/>
            <a:ext cx="3556800" cy="3300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t>• Working prototype (software / hardware)</a:t>
            </a:r>
          </a:p>
          <a:p>
            <a:r>
              <a:t>• Demo video file upload (MP4, ≤ 2 min)</a:t>
            </a:r>
          </a:p>
          <a:p>
            <a:r>
              <a:t>• Repo/CAD/Notebook links</a:t>
            </a:r>
          </a:p>
          <a:p>
            <a:r>
              <a:t>• Basic validation evidence</a:t>
            </a:r>
          </a:p>
          <a:p>
            <a:r>
              <a:t>• This deck (≈12–15 slides)</a:t>
            </a:r>
          </a:p>
          <a:p>
            <a:endParaRPr/>
          </a:p>
          <a:p>
            <a:r>
              <a:t>Prototype ≠ MVP: no large customer pilots yet.</a:t>
            </a:r>
          </a:p>
        </p:txBody>
      </p:sp>
      <p:sp>
        <p:nvSpPr>
          <p:cNvPr id="19" name="Rounded Rectangle 18"/>
          <p:cNvSpPr/>
          <p:nvPr/>
        </p:nvSpPr>
        <p:spPr>
          <a:xfrm>
            <a:off x="594360" y="5932760"/>
            <a:ext cx="10972440" cy="890000"/>
          </a:xfrm>
          <a:prstGeom prst="roundRect">
            <a:avLst/>
          </a:prstGeom>
          <a:solidFill>
            <a:srgbClr val="F5F7FA"/>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r>
              <a:rPr sz="1100" b="1" dirty="0">
                <a:solidFill>
                  <a:srgbClr val="111827"/>
                </a:solidFill>
                <a:latin typeface="Calibri"/>
              </a:rPr>
              <a:t>Standard Codes (use exactly)</a:t>
            </a:r>
          </a:p>
          <a:p>
            <a:pPr>
              <a:spcBef>
                <a:spcPts val="200"/>
              </a:spcBef>
            </a:pPr>
            <a:r>
              <a:rPr sz="900" dirty="0">
                <a:solidFill>
                  <a:srgbClr val="374151"/>
                </a:solidFill>
                <a:latin typeface="Calibri"/>
              </a:rPr>
              <a:t>Departments: AI&amp;DS | AI&amp;ML | CSBS | CSE | CYS | ECE | IT | MECH</a:t>
            </a:r>
          </a:p>
          <a:p>
            <a:pPr>
              <a:spcBef>
                <a:spcPts val="100"/>
              </a:spcBef>
            </a:pPr>
            <a:r>
              <a:rPr sz="900" dirty="0" err="1">
                <a:solidFill>
                  <a:srgbClr val="374151"/>
                </a:solidFill>
                <a:latin typeface="Calibri"/>
              </a:rPr>
              <a:t>SoI</a:t>
            </a:r>
            <a:r>
              <a:rPr sz="900" dirty="0">
                <a:solidFill>
                  <a:srgbClr val="374151"/>
                </a:solidFill>
                <a:latin typeface="Calibri"/>
              </a:rPr>
              <a:t> Labs: AD — AI and Data Science Lab | BW — Blockchain and Web3 Lab | CD — Cloud and DevOps Lab | CS — Cyber Security Lab
          EI — Embedded Systems and IoT Lab | MA — Design, Manufacturing and Automation Lab | FW — Full Stack Web Development Lab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39"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CONTEXT</a:t>
            </a:r>
            <a:endParaRPr lang="en-US" sz="1200" b="0" u="none" strike="noStrike">
              <a:solidFill>
                <a:srgbClr val="000000"/>
              </a:solidFill>
              <a:effectLst/>
              <a:uFillTx/>
              <a:latin typeface="Arial"/>
            </a:endParaRPr>
          </a:p>
        </p:txBody>
      </p:sp>
      <p:sp>
        <p:nvSpPr>
          <p:cNvPr id="41"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Problem &amp; End-User Recap</a:t>
            </a:r>
            <a:endParaRPr lang="en-US" sz="3200" b="0" u="none" strike="noStrike">
              <a:solidFill>
                <a:srgbClr val="000000"/>
              </a:solidFill>
              <a:effectLst/>
              <a:uFillTx/>
              <a:latin typeface="Arial"/>
            </a:endParaRPr>
          </a:p>
        </p:txBody>
      </p:sp>
      <p:sp>
        <p:nvSpPr>
          <p:cNvPr id="42" name="Text 6"/>
          <p:cNvSpPr/>
          <p:nvPr/>
        </p:nvSpPr>
        <p:spPr>
          <a:xfrm>
            <a:off x="594360" y="141732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4B5563"/>
                </a:solidFill>
                <a:effectLst/>
                <a:uFillTx/>
                <a:latin typeface="Calibri"/>
                <a:ea typeface="Calibri"/>
              </a:rPr>
              <a:t>From earlier stages (validated problem).</a:t>
            </a:r>
            <a:endParaRPr lang="en-US" sz="1600" b="0" u="none" strike="noStrike">
              <a:solidFill>
                <a:srgbClr val="000000"/>
              </a:solidFill>
              <a:effectLst/>
              <a:uFillTx/>
              <a:latin typeface="Arial"/>
            </a:endParaRPr>
          </a:p>
        </p:txBody>
      </p:sp>
      <p:sp>
        <p:nvSpPr>
          <p:cNvPr id="43" name="Shape 7"/>
          <p:cNvSpPr/>
          <p:nvPr/>
        </p:nvSpPr>
        <p:spPr>
          <a:xfrm>
            <a:off x="514726" y="1709460"/>
            <a:ext cx="10972440" cy="47545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44" name="Text 8"/>
          <p:cNvSpPr/>
          <p:nvPr/>
        </p:nvSpPr>
        <p:spPr>
          <a:xfrm>
            <a:off x="850320" y="1993320"/>
            <a:ext cx="1046052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US" sz="1600" b="0" u="none" strike="noStrike" dirty="0">
              <a:solidFill>
                <a:srgbClr val="000000"/>
              </a:solidFill>
              <a:effectLst/>
              <a:uFillTx/>
              <a:latin typeface="Arial"/>
            </a:endParaRPr>
          </a:p>
        </p:txBody>
      </p:sp>
      <p:sp>
        <p:nvSpPr>
          <p:cNvPr id="45" name="Text 9"/>
          <p:cNvSpPr/>
          <p:nvPr/>
        </p:nvSpPr>
        <p:spPr>
          <a:xfrm>
            <a:off x="850320" y="2331720"/>
            <a:ext cx="10460520" cy="407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a:solidFill>
                <a:schemeClr val="dk1"/>
              </a:solidFill>
              <a:effectLst/>
              <a:uFillTx/>
              <a:latin typeface="Calibri"/>
            </a:endParaRPr>
          </a:p>
        </p:txBody>
      </p:sp>
      <p:sp>
        <p:nvSpPr>
          <p:cNvPr id="46" name="Text 10"/>
          <p:cNvSpPr/>
          <p:nvPr/>
        </p:nvSpPr>
        <p:spPr>
          <a:xfrm>
            <a:off x="744797" y="2174606"/>
            <a:ext cx="3071880" cy="1032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dirty="0">
                <a:solidFill>
                  <a:srgbClr val="4B5563"/>
                </a:solidFill>
                <a:effectLst/>
                <a:uFillTx/>
                <a:latin typeface="Calibri"/>
                <a:ea typeface="Calibri"/>
              </a:rPr>
              <a:t>Problem statement (≤150 words)</a:t>
            </a:r>
            <a:endParaRPr lang="en-US" sz="2000" b="1" u="none" strike="noStrike" dirty="0">
              <a:solidFill>
                <a:srgbClr val="000000"/>
              </a:solidFill>
              <a:effectLst/>
              <a:uFillTx/>
              <a:latin typeface="Arial"/>
            </a:endParaRPr>
          </a:p>
        </p:txBody>
      </p:sp>
      <p:sp>
        <p:nvSpPr>
          <p:cNvPr id="47" name="Shape 11"/>
          <p:cNvSpPr/>
          <p:nvPr/>
        </p:nvSpPr>
        <p:spPr>
          <a:xfrm>
            <a:off x="4045061" y="1873800"/>
            <a:ext cx="7402141" cy="11714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 name="Text 12"/>
          <p:cNvSpPr/>
          <p:nvPr/>
        </p:nvSpPr>
        <p:spPr>
          <a:xfrm>
            <a:off x="3984443" y="1849006"/>
            <a:ext cx="7567767" cy="119623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US" sz="1600" dirty="0"/>
              <a:t>Drunk riding and delayed emergency response are major causes of two-wheeler accidents. Current safety systems rely on external enforcement and post-accident intervention, with no preventive mechanism at the rider level. There is a need for a smart, wearable safety solution that can detect alcohol consumption and accident events in real time and alert concerned parties immediately to reduce fatalities and injuries.</a:t>
            </a:r>
            <a:endParaRPr lang="en-US" sz="1600" dirty="0">
              <a:solidFill>
                <a:srgbClr val="111827"/>
              </a:solidFill>
              <a:ea typeface="+mn-lt"/>
              <a:cs typeface="+mn-lt"/>
            </a:endParaRPr>
          </a:p>
        </p:txBody>
      </p:sp>
      <p:sp>
        <p:nvSpPr>
          <p:cNvPr id="49" name="Text 13"/>
          <p:cNvSpPr/>
          <p:nvPr/>
        </p:nvSpPr>
        <p:spPr>
          <a:xfrm>
            <a:off x="704520" y="3200614"/>
            <a:ext cx="3071880" cy="72143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dirty="0">
                <a:solidFill>
                  <a:srgbClr val="4B5563"/>
                </a:solidFill>
                <a:effectLst/>
                <a:uFillTx/>
                <a:latin typeface="Calibri"/>
                <a:ea typeface="Calibri"/>
              </a:rPr>
              <a:t>Target end-user / context</a:t>
            </a:r>
            <a:endParaRPr lang="en-US" sz="2000" b="0" u="none" strike="noStrike" dirty="0">
              <a:solidFill>
                <a:srgbClr val="000000"/>
              </a:solidFill>
              <a:effectLst/>
              <a:uFillTx/>
              <a:latin typeface="Arial"/>
            </a:endParaRPr>
          </a:p>
        </p:txBody>
      </p:sp>
      <p:sp>
        <p:nvSpPr>
          <p:cNvPr id="50" name="Shape 14"/>
          <p:cNvSpPr/>
          <p:nvPr/>
        </p:nvSpPr>
        <p:spPr>
          <a:xfrm>
            <a:off x="4032360" y="3136320"/>
            <a:ext cx="7168680" cy="812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b="1" dirty="0"/>
              <a:t>Two-Wheeler Riders:</a:t>
            </a:r>
            <a:r>
              <a:rPr lang="en-US" sz="1600" dirty="0"/>
              <a:t> Improve personal safety and accountability</a:t>
            </a:r>
            <a:br>
              <a:rPr lang="en-US" sz="1600" dirty="0"/>
            </a:br>
            <a:r>
              <a:rPr lang="en-US" sz="1600" b="1" dirty="0"/>
              <a:t>Parents / Guardians:</a:t>
            </a:r>
            <a:r>
              <a:rPr lang="en-US" sz="1600" dirty="0"/>
              <a:t> Monitor and ensure rider safety</a:t>
            </a:r>
            <a:br>
              <a:rPr lang="en-US" sz="1600" dirty="0"/>
            </a:br>
            <a:r>
              <a:rPr lang="en-US" sz="1600" b="1" dirty="0"/>
              <a:t>Traffic &amp; Emergency Services:</a:t>
            </a:r>
            <a:r>
              <a:rPr lang="en-US" sz="1600" dirty="0"/>
              <a:t> Faster accident awareness and response</a:t>
            </a:r>
            <a:endParaRPr lang="en-US" sz="1600" dirty="0">
              <a:ea typeface="Calibri"/>
              <a:cs typeface="Calibri"/>
            </a:endParaRPr>
          </a:p>
        </p:txBody>
      </p:sp>
      <p:sp>
        <p:nvSpPr>
          <p:cNvPr id="51" name="Text 15"/>
          <p:cNvSpPr/>
          <p:nvPr/>
        </p:nvSpPr>
        <p:spPr>
          <a:xfrm>
            <a:off x="4142160" y="3182040"/>
            <a:ext cx="69490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endParaRPr lang="en-US" sz="1300">
              <a:solidFill>
                <a:srgbClr val="111827"/>
              </a:solidFill>
              <a:ea typeface="Calibri"/>
              <a:cs typeface="Calibri"/>
            </a:endParaRPr>
          </a:p>
        </p:txBody>
      </p:sp>
      <p:sp>
        <p:nvSpPr>
          <p:cNvPr id="52" name="Text 16"/>
          <p:cNvSpPr/>
          <p:nvPr/>
        </p:nvSpPr>
        <p:spPr>
          <a:xfrm>
            <a:off x="744797" y="4165017"/>
            <a:ext cx="3071880" cy="72143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dirty="0">
                <a:solidFill>
                  <a:srgbClr val="4B5563"/>
                </a:solidFill>
                <a:effectLst/>
                <a:uFillTx/>
                <a:latin typeface="Calibri"/>
                <a:ea typeface="Calibri"/>
              </a:rPr>
              <a:t>Evidence</a:t>
            </a:r>
            <a:endParaRPr lang="en-US" sz="2000" b="0" u="none" strike="noStrike" dirty="0">
              <a:solidFill>
                <a:srgbClr val="000000"/>
              </a:solidFill>
              <a:effectLst/>
              <a:uFillTx/>
              <a:latin typeface="Arial"/>
            </a:endParaRPr>
          </a:p>
        </p:txBody>
      </p:sp>
      <p:sp>
        <p:nvSpPr>
          <p:cNvPr id="53" name="Shape 17"/>
          <p:cNvSpPr/>
          <p:nvPr/>
        </p:nvSpPr>
        <p:spPr>
          <a:xfrm>
            <a:off x="3984443" y="5037480"/>
            <a:ext cx="7168680" cy="812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dirty="0"/>
              <a:t>Accurate alcohol detection</a:t>
            </a:r>
            <a:br>
              <a:rPr lang="en-US" sz="1600" dirty="0"/>
            </a:br>
            <a:r>
              <a:rPr lang="en-US" sz="1600" dirty="0"/>
              <a:t>Faster alert response time</a:t>
            </a:r>
            <a:br>
              <a:rPr lang="en-US" sz="1600" dirty="0"/>
            </a:br>
            <a:r>
              <a:rPr lang="en-US" sz="1600" dirty="0"/>
              <a:t>Reliable crash detection</a:t>
            </a:r>
          </a:p>
        </p:txBody>
      </p:sp>
      <p:sp>
        <p:nvSpPr>
          <p:cNvPr id="54" name="Text 18"/>
          <p:cNvSpPr/>
          <p:nvPr/>
        </p:nvSpPr>
        <p:spPr>
          <a:xfrm>
            <a:off x="4142160" y="3749040"/>
            <a:ext cx="69490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endParaRPr lang="en-US" sz="1300">
              <a:solidFill>
                <a:srgbClr val="111827"/>
              </a:solidFill>
              <a:ea typeface="+mn-lt"/>
              <a:cs typeface="+mn-lt"/>
            </a:endParaRPr>
          </a:p>
        </p:txBody>
      </p:sp>
      <p:sp>
        <p:nvSpPr>
          <p:cNvPr id="55" name="Text 19"/>
          <p:cNvSpPr/>
          <p:nvPr/>
        </p:nvSpPr>
        <p:spPr>
          <a:xfrm>
            <a:off x="724658" y="5031148"/>
            <a:ext cx="3112157" cy="81287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dirty="0">
                <a:solidFill>
                  <a:srgbClr val="4B5563"/>
                </a:solidFill>
                <a:effectLst/>
                <a:uFillTx/>
                <a:latin typeface="Calibri"/>
                <a:ea typeface="Calibri"/>
              </a:rPr>
              <a:t>Success metric(s)</a:t>
            </a:r>
            <a:endParaRPr lang="en-US" sz="2000" b="0" u="none" strike="noStrike" dirty="0">
              <a:solidFill>
                <a:srgbClr val="000000"/>
              </a:solidFill>
              <a:effectLst/>
              <a:uFillTx/>
              <a:latin typeface="Arial"/>
            </a:endParaRPr>
          </a:p>
        </p:txBody>
      </p:sp>
      <p:sp>
        <p:nvSpPr>
          <p:cNvPr id="56" name="Shape 20"/>
          <p:cNvSpPr/>
          <p:nvPr/>
        </p:nvSpPr>
        <p:spPr>
          <a:xfrm>
            <a:off x="3979418" y="4150800"/>
            <a:ext cx="7168680" cy="7214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57" name="Text 21"/>
          <p:cNvSpPr/>
          <p:nvPr/>
        </p:nvSpPr>
        <p:spPr>
          <a:xfrm>
            <a:off x="3979418" y="4316040"/>
            <a:ext cx="7111822"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US" sz="1600" dirty="0"/>
              <a:t>Alcohol-impaired riding contributes significantly to road accidents</a:t>
            </a:r>
            <a:br>
              <a:rPr lang="en-US" sz="1600" dirty="0"/>
            </a:br>
            <a:r>
              <a:rPr lang="en-US" sz="1600" dirty="0"/>
              <a:t>Delayed emergency response increases injury severity</a:t>
            </a:r>
            <a:br>
              <a:rPr lang="en-US" sz="1600" dirty="0"/>
            </a:br>
            <a:r>
              <a:rPr lang="en-US" sz="1600" dirty="0"/>
              <a:t>Preventive safety systems reduce accident risk</a:t>
            </a:r>
            <a:endParaRPr lang="en-US" sz="1600" dirty="0">
              <a:ea typeface="Calibri"/>
              <a:cs typeface="Calibri"/>
            </a:endParaRPr>
          </a:p>
        </p:txBody>
      </p:sp>
      <p:sp>
        <p:nvSpPr>
          <p:cNvPr id="58" name="Shape 22"/>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9" name="Text 23"/>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60" name="Text 24"/>
          <p:cNvSpPr/>
          <p:nvPr/>
        </p:nvSpPr>
        <p:spPr>
          <a:xfrm>
            <a:off x="10940142" y="6620400"/>
            <a:ext cx="656897" cy="237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3/23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t>SoI Innovation Pipeline</a:t>
            </a:r>
          </a:p>
        </p:txBody>
      </p:sp>
      <p:sp>
        <p:nvSpPr>
          <p:cNvPr id="39"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t>IDEATION</a:t>
            </a:r>
          </a:p>
        </p:txBody>
      </p:sp>
      <p:sp>
        <p:nvSpPr>
          <p:cNvPr id="41"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t>Ideation Recap — Options Explored &amp; Selected Idea</a:t>
            </a:r>
          </a:p>
        </p:txBody>
      </p:sp>
      <p:sp>
        <p:nvSpPr>
          <p:cNvPr id="42" name="Text 6"/>
          <p:cNvSpPr/>
          <p:nvPr/>
        </p:nvSpPr>
        <p:spPr>
          <a:xfrm>
            <a:off x="594360" y="141732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dirty="0"/>
          </a:p>
        </p:txBody>
      </p:sp>
      <p:sp>
        <p:nvSpPr>
          <p:cNvPr id="44" name="Text 8"/>
          <p:cNvSpPr/>
          <p:nvPr/>
        </p:nvSpPr>
        <p:spPr>
          <a:xfrm>
            <a:off x="850320" y="1993320"/>
            <a:ext cx="1046052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a:ea typeface="Calibri"/>
              <a:cs typeface="Calibri"/>
            </a:endParaRPr>
          </a:p>
        </p:txBody>
      </p:sp>
      <p:sp>
        <p:nvSpPr>
          <p:cNvPr id="45" name="Text 9"/>
          <p:cNvSpPr/>
          <p:nvPr/>
        </p:nvSpPr>
        <p:spPr>
          <a:xfrm>
            <a:off x="850320" y="2331720"/>
            <a:ext cx="10460520" cy="407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a:solidFill>
                <a:schemeClr val="dk1"/>
              </a:solidFill>
              <a:effectLst/>
              <a:uFillTx/>
              <a:latin typeface="Calibri"/>
            </a:endParaRPr>
          </a:p>
        </p:txBody>
      </p:sp>
      <p:sp>
        <p:nvSpPr>
          <p:cNvPr id="46" name="Text 10"/>
          <p:cNvSpPr/>
          <p:nvPr/>
        </p:nvSpPr>
        <p:spPr>
          <a:xfrm>
            <a:off x="847231" y="1452819"/>
            <a:ext cx="3071880" cy="1570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dirty="0"/>
              <a:t>Ideas explored (≥3)</a:t>
            </a:r>
          </a:p>
        </p:txBody>
      </p:sp>
      <p:sp>
        <p:nvSpPr>
          <p:cNvPr id="47" name="Shape 11"/>
          <p:cNvSpPr/>
          <p:nvPr/>
        </p:nvSpPr>
        <p:spPr>
          <a:xfrm>
            <a:off x="4018248" y="1452818"/>
            <a:ext cx="7140458" cy="1601563"/>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 name="Text 12"/>
          <p:cNvSpPr/>
          <p:nvPr/>
        </p:nvSpPr>
        <p:spPr>
          <a:xfrm>
            <a:off x="4043383" y="1453178"/>
            <a:ext cx="7160745" cy="161192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lang="en-IN" sz="1600" b="1" dirty="0"/>
              <a:t>Alcohol Detection Smart Helmet</a:t>
            </a:r>
            <a:r>
              <a:rPr lang="en-IN" sz="1600" dirty="0"/>
              <a:t> – Detects alcohol in rider’s breath using MQ3 sensor</a:t>
            </a:r>
            <a:br>
              <a:rPr lang="en-IN" sz="1600" dirty="0"/>
            </a:br>
            <a:r>
              <a:rPr lang="en-IN" sz="1600" b="1" dirty="0"/>
              <a:t>Fatigue Monitoring System</a:t>
            </a:r>
            <a:r>
              <a:rPr lang="en-IN" sz="1600" dirty="0"/>
              <a:t> – Detects drowsiness using eye-blink / heart-rate sensors</a:t>
            </a:r>
            <a:br>
              <a:rPr lang="en-IN" sz="1600" dirty="0"/>
            </a:br>
            <a:r>
              <a:rPr lang="en-IN" sz="1600" b="1" dirty="0"/>
              <a:t>Crash Detection &amp; Emergency Alert System</a:t>
            </a:r>
            <a:r>
              <a:rPr lang="en-IN" sz="1600" dirty="0"/>
              <a:t> – Detects accidents and sends GSM alerts</a:t>
            </a:r>
            <a:endParaRPr lang="en-US" sz="1600" dirty="0">
              <a:ea typeface="Calibri"/>
              <a:cs typeface="Calibri"/>
            </a:endParaRPr>
          </a:p>
        </p:txBody>
      </p:sp>
      <p:sp>
        <p:nvSpPr>
          <p:cNvPr id="49" name="Text 13"/>
          <p:cNvSpPr/>
          <p:nvPr/>
        </p:nvSpPr>
        <p:spPr>
          <a:xfrm>
            <a:off x="847231" y="3249209"/>
            <a:ext cx="3071880" cy="54368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dirty="0"/>
              <a:t>Selected idea (taken to PoC)</a:t>
            </a:r>
          </a:p>
        </p:txBody>
      </p:sp>
      <p:sp>
        <p:nvSpPr>
          <p:cNvPr id="50" name="Shape 14"/>
          <p:cNvSpPr/>
          <p:nvPr/>
        </p:nvSpPr>
        <p:spPr>
          <a:xfrm>
            <a:off x="4032360" y="3249209"/>
            <a:ext cx="7154569" cy="543685"/>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600" b="1" dirty="0"/>
              <a:t>IoT-based Smart Helmet with alcohol detection and real-time safety alerts</a:t>
            </a:r>
            <a:endParaRPr lang="en-US" sz="1600" dirty="0"/>
          </a:p>
        </p:txBody>
      </p:sp>
      <p:sp>
        <p:nvSpPr>
          <p:cNvPr id="51" name="Text 15"/>
          <p:cNvSpPr/>
          <p:nvPr/>
        </p:nvSpPr>
        <p:spPr>
          <a:xfrm>
            <a:off x="4043383" y="2815154"/>
            <a:ext cx="7188967" cy="111328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a:ea typeface="+mn-lt"/>
              <a:cs typeface="+mn-lt"/>
            </a:endParaRPr>
          </a:p>
        </p:txBody>
      </p:sp>
      <p:sp>
        <p:nvSpPr>
          <p:cNvPr id="52" name="Text 16"/>
          <p:cNvSpPr/>
          <p:nvPr/>
        </p:nvSpPr>
        <p:spPr>
          <a:xfrm>
            <a:off x="847231" y="4026981"/>
            <a:ext cx="3071880" cy="89381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dirty="0"/>
              <a:t>Why selected (Design Thinking lenses)</a:t>
            </a:r>
          </a:p>
        </p:txBody>
      </p:sp>
      <p:sp>
        <p:nvSpPr>
          <p:cNvPr id="53" name="Shape 17"/>
          <p:cNvSpPr/>
          <p:nvPr/>
        </p:nvSpPr>
        <p:spPr>
          <a:xfrm>
            <a:off x="4046471" y="4026981"/>
            <a:ext cx="7154569" cy="1211523"/>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b="1" dirty="0"/>
              <a:t>Desirable:</a:t>
            </a:r>
            <a:r>
              <a:rPr lang="en-US" dirty="0"/>
              <a:t> Addresses a major cause of two-wheeler accidents (drunk riding)</a:t>
            </a:r>
            <a:br>
              <a:rPr lang="en-US" dirty="0"/>
            </a:br>
            <a:r>
              <a:rPr lang="en-US" b="1" dirty="0"/>
              <a:t>Feasible:</a:t>
            </a:r>
            <a:r>
              <a:rPr lang="en-US" dirty="0"/>
              <a:t> Uses low-cost, proven IoT sensors and ESP32</a:t>
            </a:r>
            <a:br>
              <a:rPr lang="en-US" dirty="0"/>
            </a:br>
            <a:r>
              <a:rPr lang="en-US" b="1" dirty="0"/>
              <a:t>Viable:</a:t>
            </a:r>
            <a:r>
              <a:rPr lang="en-US" dirty="0"/>
              <a:t> Scalable solution for riders, families, and road safety authorities</a:t>
            </a:r>
          </a:p>
        </p:txBody>
      </p:sp>
      <p:sp>
        <p:nvSpPr>
          <p:cNvPr id="54" name="Text 18"/>
          <p:cNvSpPr/>
          <p:nvPr/>
        </p:nvSpPr>
        <p:spPr>
          <a:xfrm>
            <a:off x="4043382" y="3664374"/>
            <a:ext cx="7047857" cy="81695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a:ea typeface="Calibri"/>
              <a:cs typeface="Calibri"/>
            </a:endParaRPr>
          </a:p>
        </p:txBody>
      </p:sp>
      <p:sp>
        <p:nvSpPr>
          <p:cNvPr id="55" name="Text 19"/>
          <p:cNvSpPr/>
          <p:nvPr/>
        </p:nvSpPr>
        <p:spPr>
          <a:xfrm>
            <a:off x="847231" y="5197200"/>
            <a:ext cx="3071880" cy="837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dirty="0" err="1"/>
              <a:t>MoSCoW</a:t>
            </a:r>
            <a:r>
              <a:rPr dirty="0"/>
              <a:t>: Must-have features for PoC</a:t>
            </a:r>
          </a:p>
        </p:txBody>
      </p:sp>
      <p:sp>
        <p:nvSpPr>
          <p:cNvPr id="56" name="Shape 20"/>
          <p:cNvSpPr/>
          <p:nvPr/>
        </p:nvSpPr>
        <p:spPr>
          <a:xfrm>
            <a:off x="4018248" y="5374050"/>
            <a:ext cx="7154569" cy="8378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Alcohol detection using MQ3 sensor</a:t>
            </a:r>
            <a:br>
              <a:rPr lang="en-US" dirty="0"/>
            </a:br>
            <a:r>
              <a:rPr lang="en-US" dirty="0"/>
              <a:t>Crash detection using MPU6050</a:t>
            </a:r>
            <a:br>
              <a:rPr lang="en-US" dirty="0"/>
            </a:br>
            <a:r>
              <a:rPr lang="en-US" dirty="0"/>
              <a:t>Real-time alert using buzzer / GSM</a:t>
            </a:r>
          </a:p>
        </p:txBody>
      </p:sp>
      <p:sp>
        <p:nvSpPr>
          <p:cNvPr id="57" name="Text 21"/>
          <p:cNvSpPr/>
          <p:nvPr/>
        </p:nvSpPr>
        <p:spPr>
          <a:xfrm>
            <a:off x="4057494" y="4922817"/>
            <a:ext cx="7132523" cy="4500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a:ea typeface="Calibri"/>
              <a:cs typeface="Calibri"/>
            </a:endParaRPr>
          </a:p>
        </p:txBody>
      </p:sp>
      <p:sp>
        <p:nvSpPr>
          <p:cNvPr id="59" name="Text 23"/>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t>SoI Prototype Stage — Submission Deck</a:t>
            </a:r>
          </a:p>
        </p:txBody>
      </p:sp>
      <p:sp>
        <p:nvSpPr>
          <p:cNvPr id="60" name="Text 24"/>
          <p:cNvSpPr/>
          <p:nvPr/>
        </p:nvSpPr>
        <p:spPr>
          <a:xfrm>
            <a:off x="10867696" y="6560820"/>
            <a:ext cx="729344" cy="260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200"/>
              <a:t>4/23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2"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64"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5"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POC</a:t>
            </a:r>
            <a:endParaRPr lang="en-US" sz="1200" b="0" u="none" strike="noStrike">
              <a:solidFill>
                <a:srgbClr val="000000"/>
              </a:solidFill>
              <a:effectLst/>
              <a:uFillTx/>
              <a:latin typeface="Arial"/>
            </a:endParaRPr>
          </a:p>
        </p:txBody>
      </p:sp>
      <p:sp>
        <p:nvSpPr>
          <p:cNvPr id="66"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PoC Recap — What We Built &amp; Learned</a:t>
            </a:r>
            <a:endParaRPr lang="en-US" sz="3200" b="0" u="none" strike="noStrike">
              <a:solidFill>
                <a:srgbClr val="000000"/>
              </a:solidFill>
              <a:effectLst/>
              <a:uFillTx/>
              <a:latin typeface="Arial"/>
            </a:endParaRPr>
          </a:p>
        </p:txBody>
      </p:sp>
      <p:sp>
        <p:nvSpPr>
          <p:cNvPr id="67" name="Text 6"/>
          <p:cNvSpPr/>
          <p:nvPr/>
        </p:nvSpPr>
        <p:spPr>
          <a:xfrm>
            <a:off x="594360" y="141732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4B5563"/>
                </a:solidFill>
                <a:effectLst/>
                <a:uFillTx/>
                <a:latin typeface="Calibri"/>
                <a:ea typeface="Calibri"/>
              </a:rPr>
              <a:t>Summarize PoC outcomes and gaps that drive prototype.</a:t>
            </a:r>
            <a:endParaRPr lang="en-US" sz="1600" b="0" u="none" strike="noStrike">
              <a:solidFill>
                <a:srgbClr val="000000"/>
              </a:solidFill>
              <a:effectLst/>
              <a:uFillTx/>
              <a:latin typeface="Arial"/>
            </a:endParaRPr>
          </a:p>
        </p:txBody>
      </p:sp>
      <p:sp>
        <p:nvSpPr>
          <p:cNvPr id="68" name="Shape 7"/>
          <p:cNvSpPr/>
          <p:nvPr/>
        </p:nvSpPr>
        <p:spPr>
          <a:xfrm>
            <a:off x="722571" y="1774440"/>
            <a:ext cx="10972440" cy="47545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 name="Text 8"/>
          <p:cNvSpPr/>
          <p:nvPr/>
        </p:nvSpPr>
        <p:spPr>
          <a:xfrm>
            <a:off x="850320" y="1993320"/>
            <a:ext cx="1046052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a:solidFill>
                  <a:srgbClr val="111827"/>
                </a:solidFill>
                <a:effectLst/>
                <a:uFillTx/>
                <a:latin typeface="Calibri"/>
                <a:ea typeface="Calibri"/>
              </a:rPr>
              <a:t>PoC summary (fill)</a:t>
            </a:r>
            <a:endParaRPr lang="en-US" sz="1600" b="0" u="none" strike="noStrike">
              <a:solidFill>
                <a:srgbClr val="000000"/>
              </a:solidFill>
              <a:effectLst/>
              <a:uFillTx/>
              <a:latin typeface="Arial"/>
            </a:endParaRPr>
          </a:p>
        </p:txBody>
      </p:sp>
      <p:sp>
        <p:nvSpPr>
          <p:cNvPr id="70" name="Text 9"/>
          <p:cNvSpPr/>
          <p:nvPr/>
        </p:nvSpPr>
        <p:spPr>
          <a:xfrm>
            <a:off x="850320" y="2331720"/>
            <a:ext cx="10460520" cy="407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a:solidFill>
                <a:schemeClr val="dk1"/>
              </a:solidFill>
              <a:effectLst/>
              <a:uFillTx/>
              <a:latin typeface="Calibri"/>
            </a:endParaRPr>
          </a:p>
        </p:txBody>
      </p:sp>
      <p:sp>
        <p:nvSpPr>
          <p:cNvPr id="71" name="Text 10"/>
          <p:cNvSpPr/>
          <p:nvPr/>
        </p:nvSpPr>
        <p:spPr>
          <a:xfrm>
            <a:off x="847231" y="2310006"/>
            <a:ext cx="3071880" cy="99701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PoC built</a:t>
            </a:r>
            <a:endParaRPr lang="en-US" sz="1300" b="0" u="none" strike="noStrike" dirty="0">
              <a:solidFill>
                <a:srgbClr val="000000"/>
              </a:solidFill>
              <a:effectLst/>
              <a:uFillTx/>
              <a:latin typeface="Arial"/>
            </a:endParaRPr>
          </a:p>
        </p:txBody>
      </p:sp>
      <p:sp>
        <p:nvSpPr>
          <p:cNvPr id="73" name="Text 12"/>
          <p:cNvSpPr/>
          <p:nvPr/>
        </p:nvSpPr>
        <p:spPr>
          <a:xfrm>
            <a:off x="4029271" y="3292373"/>
            <a:ext cx="69490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br>
              <a:rPr lang="en-US" sz="1300">
                <a:solidFill>
                  <a:srgbClr val="111827"/>
                </a:solidFill>
                <a:ea typeface="+mn-lt"/>
                <a:cs typeface="+mn-lt"/>
              </a:rPr>
            </a:br>
            <a:br>
              <a:rPr lang="en-US" sz="1300">
                <a:solidFill>
                  <a:srgbClr val="111827"/>
                </a:solidFill>
                <a:ea typeface="+mn-lt"/>
                <a:cs typeface="+mn-lt"/>
              </a:rPr>
            </a:br>
            <a:r>
              <a:rPr lang="en-US" sz="1300">
                <a:solidFill>
                  <a:srgbClr val="111827"/>
                </a:solidFill>
                <a:ea typeface="+mn-lt"/>
                <a:cs typeface="+mn-lt"/>
              </a:rPr>
              <a:t> </a:t>
            </a:r>
            <a:endParaRPr lang="en-US"/>
          </a:p>
        </p:txBody>
      </p:sp>
      <p:sp>
        <p:nvSpPr>
          <p:cNvPr id="74" name="Text 13"/>
          <p:cNvSpPr/>
          <p:nvPr/>
        </p:nvSpPr>
        <p:spPr>
          <a:xfrm>
            <a:off x="847231" y="3429000"/>
            <a:ext cx="3071880" cy="92479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PoC focus</a:t>
            </a:r>
            <a:endParaRPr lang="en-US" sz="1300" b="0" u="none" strike="noStrike" dirty="0">
              <a:solidFill>
                <a:srgbClr val="000000"/>
              </a:solidFill>
              <a:effectLst/>
              <a:uFillTx/>
              <a:latin typeface="Arial"/>
            </a:endParaRPr>
          </a:p>
        </p:txBody>
      </p:sp>
      <p:sp>
        <p:nvSpPr>
          <p:cNvPr id="76" name="Text 15"/>
          <p:cNvSpPr/>
          <p:nvPr/>
        </p:nvSpPr>
        <p:spPr>
          <a:xfrm>
            <a:off x="4142160" y="3182040"/>
            <a:ext cx="69490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endParaRPr lang="en-US" sz="1300">
              <a:solidFill>
                <a:srgbClr val="111827"/>
              </a:solidFill>
              <a:ea typeface="Calibri"/>
              <a:cs typeface="Calibri"/>
            </a:endParaRPr>
          </a:p>
        </p:txBody>
      </p:sp>
      <p:sp>
        <p:nvSpPr>
          <p:cNvPr id="77" name="Text 16"/>
          <p:cNvSpPr/>
          <p:nvPr/>
        </p:nvSpPr>
        <p:spPr>
          <a:xfrm>
            <a:off x="847231" y="4519037"/>
            <a:ext cx="3071880" cy="59795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PoC evidence</a:t>
            </a:r>
            <a:endParaRPr lang="en-US" sz="1300" b="0" u="none" strike="noStrike" dirty="0">
              <a:solidFill>
                <a:srgbClr val="000000"/>
              </a:solidFill>
              <a:effectLst/>
              <a:uFillTx/>
              <a:latin typeface="Arial"/>
            </a:endParaRPr>
          </a:p>
        </p:txBody>
      </p:sp>
      <p:sp>
        <p:nvSpPr>
          <p:cNvPr id="79" name="Text 18"/>
          <p:cNvSpPr/>
          <p:nvPr/>
        </p:nvSpPr>
        <p:spPr>
          <a:xfrm>
            <a:off x="4142160" y="3749040"/>
            <a:ext cx="69490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endParaRPr lang="en-US" sz="1300">
              <a:solidFill>
                <a:srgbClr val="111827"/>
              </a:solidFill>
              <a:ea typeface="Calibri"/>
              <a:cs typeface="Calibri"/>
            </a:endParaRPr>
          </a:p>
        </p:txBody>
      </p:sp>
      <p:sp>
        <p:nvSpPr>
          <p:cNvPr id="80" name="Text 19"/>
          <p:cNvSpPr/>
          <p:nvPr/>
        </p:nvSpPr>
        <p:spPr>
          <a:xfrm>
            <a:off x="847231" y="5282230"/>
            <a:ext cx="3071880" cy="8716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dirty="0">
                <a:solidFill>
                  <a:srgbClr val="4B5563"/>
                </a:solidFill>
                <a:effectLst/>
                <a:uFillTx/>
                <a:latin typeface="Calibri"/>
                <a:ea typeface="Calibri"/>
              </a:rPr>
              <a:t>Key gaps</a:t>
            </a:r>
            <a:endParaRPr lang="en-US" sz="1300" b="0" u="none" strike="noStrike" dirty="0">
              <a:solidFill>
                <a:srgbClr val="000000"/>
              </a:solidFill>
              <a:effectLst/>
              <a:uFillTx/>
              <a:latin typeface="Arial"/>
            </a:endParaRPr>
          </a:p>
        </p:txBody>
      </p:sp>
      <p:sp>
        <p:nvSpPr>
          <p:cNvPr id="82" name="Text 21"/>
          <p:cNvSpPr/>
          <p:nvPr/>
        </p:nvSpPr>
        <p:spPr>
          <a:xfrm>
            <a:off x="4142160" y="4316040"/>
            <a:ext cx="69490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endParaRPr lang="en-US" sz="1300">
              <a:solidFill>
                <a:srgbClr val="111827"/>
              </a:solidFill>
              <a:ea typeface="Calibri"/>
              <a:cs typeface="Calibri"/>
            </a:endParaRPr>
          </a:p>
        </p:txBody>
      </p:sp>
      <p:sp>
        <p:nvSpPr>
          <p:cNvPr id="83" name="Shape 22"/>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4" name="Text 23"/>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85" name="Text 24"/>
          <p:cNvSpPr/>
          <p:nvPr/>
        </p:nvSpPr>
        <p:spPr>
          <a:xfrm>
            <a:off x="10972800" y="6620400"/>
            <a:ext cx="62424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5/23</a:t>
            </a:r>
          </a:p>
        </p:txBody>
      </p:sp>
      <p:sp>
        <p:nvSpPr>
          <p:cNvPr id="4" name="Rectangle 3">
            <a:extLst>
              <a:ext uri="{FF2B5EF4-FFF2-40B4-BE49-F238E27FC236}">
                <a16:creationId xmlns:a16="http://schemas.microsoft.com/office/drawing/2014/main" id="{68834DC4-269F-791B-CFBA-95DA4821366D}"/>
              </a:ext>
            </a:extLst>
          </p:cNvPr>
          <p:cNvSpPr>
            <a:spLocks noChangeArrowheads="1"/>
          </p:cNvSpPr>
          <p:nvPr/>
        </p:nvSpPr>
        <p:spPr bwMode="auto">
          <a:xfrm>
            <a:off x="3831908" y="2176089"/>
            <a:ext cx="72392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ESP32 integrated with MQ3 alcohol sensor and MPU6050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Buzzer alert for alcohol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Basic GSM alert for accident events</a:t>
            </a:r>
          </a:p>
        </p:txBody>
      </p:sp>
      <p:sp>
        <p:nvSpPr>
          <p:cNvPr id="5" name="Rectangle 4">
            <a:extLst>
              <a:ext uri="{FF2B5EF4-FFF2-40B4-BE49-F238E27FC236}">
                <a16:creationId xmlns:a16="http://schemas.microsoft.com/office/drawing/2014/main" id="{BE47612F-4C8D-9988-3FD3-476CA2C62B03}"/>
              </a:ext>
            </a:extLst>
          </p:cNvPr>
          <p:cNvSpPr>
            <a:spLocks noChangeArrowheads="1"/>
          </p:cNvSpPr>
          <p:nvPr/>
        </p:nvSpPr>
        <p:spPr bwMode="auto">
          <a:xfrm>
            <a:off x="3831907" y="3210190"/>
            <a:ext cx="72392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Validating sensor data acquisition using ESP32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Real-time detection of alcohol presence and crash events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Triggering immediate safety alerts</a:t>
            </a:r>
          </a:p>
        </p:txBody>
      </p:sp>
      <p:sp>
        <p:nvSpPr>
          <p:cNvPr id="7" name="Rectangle 6">
            <a:extLst>
              <a:ext uri="{FF2B5EF4-FFF2-40B4-BE49-F238E27FC236}">
                <a16:creationId xmlns:a16="http://schemas.microsoft.com/office/drawing/2014/main" id="{0EA1A038-D07C-79A6-3FFB-98FB34948F6B}"/>
              </a:ext>
            </a:extLst>
          </p:cNvPr>
          <p:cNvSpPr>
            <a:spLocks noChangeArrowheads="1"/>
          </p:cNvSpPr>
          <p:nvPr/>
        </p:nvSpPr>
        <p:spPr bwMode="auto">
          <a:xfrm>
            <a:off x="3831907" y="4249251"/>
            <a:ext cx="718927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Alcohol detection alert triggered during controlled tests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Crash detection events identified using motion sensor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Successful alert activation during test runs</a:t>
            </a:r>
          </a:p>
        </p:txBody>
      </p:sp>
      <p:sp>
        <p:nvSpPr>
          <p:cNvPr id="8" name="Rectangle 7">
            <a:extLst>
              <a:ext uri="{FF2B5EF4-FFF2-40B4-BE49-F238E27FC236}">
                <a16:creationId xmlns:a16="http://schemas.microsoft.com/office/drawing/2014/main" id="{F3A92704-FAF1-2B26-8C05-FFEB245FB19C}"/>
              </a:ext>
            </a:extLst>
          </p:cNvPr>
          <p:cNvSpPr>
            <a:spLocks noChangeArrowheads="1"/>
          </p:cNvSpPr>
          <p:nvPr/>
        </p:nvSpPr>
        <p:spPr bwMode="auto">
          <a:xfrm>
            <a:off x="3831907" y="5303590"/>
            <a:ext cx="706327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Vehicle ignition system not physically integrated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Sensor calibration requires refinement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GPS location sharing not implemented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7"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8"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89"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0"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PLAN</a:t>
            </a:r>
            <a:endParaRPr lang="en-US" sz="1200" b="0" u="none" strike="noStrike">
              <a:solidFill>
                <a:srgbClr val="000000"/>
              </a:solidFill>
              <a:effectLst/>
              <a:uFillTx/>
              <a:latin typeface="Arial"/>
            </a:endParaRPr>
          </a:p>
        </p:txBody>
      </p:sp>
      <p:sp>
        <p:nvSpPr>
          <p:cNvPr id="91"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Prototype Objectives &amp; Success Criteria</a:t>
            </a:r>
            <a:endParaRPr lang="en-US" sz="3200" b="0" u="none" strike="noStrike">
              <a:solidFill>
                <a:srgbClr val="000000"/>
              </a:solidFill>
              <a:effectLst/>
              <a:uFillTx/>
              <a:latin typeface="Arial"/>
            </a:endParaRPr>
          </a:p>
        </p:txBody>
      </p:sp>
      <p:sp>
        <p:nvSpPr>
          <p:cNvPr id="92" name="Text 6"/>
          <p:cNvSpPr/>
          <p:nvPr/>
        </p:nvSpPr>
        <p:spPr>
          <a:xfrm>
            <a:off x="594360" y="141732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4B5563"/>
                </a:solidFill>
                <a:effectLst/>
                <a:uFillTx/>
                <a:latin typeface="Calibri"/>
                <a:ea typeface="Calibri"/>
              </a:rPr>
              <a:t>Define what “success” means and how you will test.</a:t>
            </a:r>
            <a:endParaRPr lang="en-US" sz="1600" b="0" u="none" strike="noStrike">
              <a:solidFill>
                <a:srgbClr val="000000"/>
              </a:solidFill>
              <a:effectLst/>
              <a:uFillTx/>
              <a:latin typeface="Arial"/>
            </a:endParaRPr>
          </a:p>
        </p:txBody>
      </p:sp>
      <p:sp>
        <p:nvSpPr>
          <p:cNvPr id="93" name="Shape 7"/>
          <p:cNvSpPr/>
          <p:nvPr/>
        </p:nvSpPr>
        <p:spPr>
          <a:xfrm>
            <a:off x="594360" y="1920240"/>
            <a:ext cx="362052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4" name="Text 8"/>
          <p:cNvSpPr/>
          <p:nvPr/>
        </p:nvSpPr>
        <p:spPr>
          <a:xfrm>
            <a:off x="704160" y="2011680"/>
            <a:ext cx="340128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Prototype objective / risk to reduce</a:t>
            </a:r>
            <a:endParaRPr lang="en-US" sz="1200" b="0" u="none" strike="noStrike">
              <a:solidFill>
                <a:srgbClr val="000000"/>
              </a:solidFill>
              <a:effectLst/>
              <a:uFillTx/>
              <a:latin typeface="Arial"/>
            </a:endParaRPr>
          </a:p>
        </p:txBody>
      </p:sp>
      <p:sp>
        <p:nvSpPr>
          <p:cNvPr id="95" name="Shape 9"/>
          <p:cNvSpPr/>
          <p:nvPr/>
        </p:nvSpPr>
        <p:spPr>
          <a:xfrm>
            <a:off x="4215240" y="1920240"/>
            <a:ext cx="175536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 name="Text 10"/>
          <p:cNvSpPr/>
          <p:nvPr/>
        </p:nvSpPr>
        <p:spPr>
          <a:xfrm>
            <a:off x="4325040" y="2011680"/>
            <a:ext cx="15357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Metric</a:t>
            </a:r>
            <a:endParaRPr lang="en-US" sz="1200" b="0" u="none" strike="noStrike">
              <a:solidFill>
                <a:srgbClr val="000000"/>
              </a:solidFill>
              <a:effectLst/>
              <a:uFillTx/>
              <a:latin typeface="Arial"/>
            </a:endParaRPr>
          </a:p>
        </p:txBody>
      </p:sp>
      <p:sp>
        <p:nvSpPr>
          <p:cNvPr id="97" name="Shape 11"/>
          <p:cNvSpPr/>
          <p:nvPr/>
        </p:nvSpPr>
        <p:spPr>
          <a:xfrm>
            <a:off x="5970960" y="1920240"/>
            <a:ext cx="19746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8" name="Text 12"/>
          <p:cNvSpPr/>
          <p:nvPr/>
        </p:nvSpPr>
        <p:spPr>
          <a:xfrm>
            <a:off x="6080760" y="2011680"/>
            <a:ext cx="17553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Target</a:t>
            </a:r>
            <a:endParaRPr lang="en-US" sz="1200" b="0" u="none" strike="noStrike">
              <a:solidFill>
                <a:srgbClr val="000000"/>
              </a:solidFill>
              <a:effectLst/>
              <a:uFillTx/>
              <a:latin typeface="Arial"/>
            </a:endParaRPr>
          </a:p>
        </p:txBody>
      </p:sp>
      <p:sp>
        <p:nvSpPr>
          <p:cNvPr id="99" name="Shape 13"/>
          <p:cNvSpPr/>
          <p:nvPr/>
        </p:nvSpPr>
        <p:spPr>
          <a:xfrm>
            <a:off x="7946280" y="1920240"/>
            <a:ext cx="362052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0" name="Text 14"/>
          <p:cNvSpPr/>
          <p:nvPr/>
        </p:nvSpPr>
        <p:spPr>
          <a:xfrm>
            <a:off x="8055720" y="2011680"/>
            <a:ext cx="340128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How we will test (prototype)</a:t>
            </a:r>
            <a:endParaRPr lang="en-US" sz="1200" b="0" u="none" strike="noStrike">
              <a:solidFill>
                <a:srgbClr val="000000"/>
              </a:solidFill>
              <a:effectLst/>
              <a:uFillTx/>
              <a:latin typeface="Arial"/>
            </a:endParaRPr>
          </a:p>
        </p:txBody>
      </p:sp>
      <p:sp>
        <p:nvSpPr>
          <p:cNvPr id="101" name="Shape 15"/>
          <p:cNvSpPr/>
          <p:nvPr/>
        </p:nvSpPr>
        <p:spPr>
          <a:xfrm>
            <a:off x="594360" y="2377440"/>
            <a:ext cx="362052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Validate sensor data acquisition</a:t>
            </a:r>
            <a:endParaRPr lang="en-US" dirty="0"/>
          </a:p>
        </p:txBody>
      </p:sp>
      <p:sp>
        <p:nvSpPr>
          <p:cNvPr id="102" name="Shape 16"/>
          <p:cNvSpPr/>
          <p:nvPr/>
        </p:nvSpPr>
        <p:spPr>
          <a:xfrm>
            <a:off x="4215240" y="2377440"/>
            <a:ext cx="175536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Alcohol &amp; motion sensor accuracy</a:t>
            </a:r>
            <a:endParaRPr lang="en-US" sz="1800" b="0" u="none" strike="noStrike" dirty="0">
              <a:solidFill>
                <a:srgbClr val="000000"/>
              </a:solidFill>
              <a:effectLst/>
              <a:uFillTx/>
              <a:latin typeface="Arial"/>
            </a:endParaRPr>
          </a:p>
        </p:txBody>
      </p:sp>
      <p:sp>
        <p:nvSpPr>
          <p:cNvPr id="103" name="Shape 17"/>
          <p:cNvSpPr/>
          <p:nvPr/>
        </p:nvSpPr>
        <p:spPr>
          <a:xfrm>
            <a:off x="5970960" y="2377440"/>
            <a:ext cx="197460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Stable &amp; consistent</a:t>
            </a:r>
            <a:endParaRPr lang="en-US" sz="1800" b="0" u="none" strike="noStrike" dirty="0">
              <a:solidFill>
                <a:srgbClr val="000000"/>
              </a:solidFill>
              <a:effectLst/>
              <a:uFillTx/>
              <a:latin typeface="Arial"/>
              <a:cs typeface="Arial"/>
            </a:endParaRPr>
          </a:p>
        </p:txBody>
      </p:sp>
      <p:sp>
        <p:nvSpPr>
          <p:cNvPr id="104" name="Shape 18"/>
          <p:cNvSpPr/>
          <p:nvPr/>
        </p:nvSpPr>
        <p:spPr>
          <a:xfrm>
            <a:off x="7946280" y="2377440"/>
            <a:ext cx="362052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ESP32 serial monitoring</a:t>
            </a:r>
            <a:endParaRPr lang="en-US" dirty="0"/>
          </a:p>
        </p:txBody>
      </p:sp>
      <p:sp>
        <p:nvSpPr>
          <p:cNvPr id="105" name="Shape 19"/>
          <p:cNvSpPr/>
          <p:nvPr/>
        </p:nvSpPr>
        <p:spPr>
          <a:xfrm>
            <a:off x="594360" y="3163680"/>
            <a:ext cx="3620520" cy="785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Ensure alert triggering</a:t>
            </a:r>
            <a:endParaRPr lang="en-US" sz="1800" b="0" u="none" strike="noStrike" dirty="0">
              <a:solidFill>
                <a:srgbClr val="000000"/>
              </a:solidFill>
              <a:effectLst/>
              <a:uFillTx/>
              <a:latin typeface="Arial"/>
            </a:endParaRPr>
          </a:p>
        </p:txBody>
      </p:sp>
      <p:sp>
        <p:nvSpPr>
          <p:cNvPr id="106" name="Shape 20"/>
          <p:cNvSpPr/>
          <p:nvPr/>
        </p:nvSpPr>
        <p:spPr>
          <a:xfrm>
            <a:off x="4215240" y="3163680"/>
            <a:ext cx="1755360" cy="785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Alert response time</a:t>
            </a:r>
            <a:endParaRPr lang="en-US" dirty="0"/>
          </a:p>
        </p:txBody>
      </p:sp>
      <p:sp>
        <p:nvSpPr>
          <p:cNvPr id="107" name="Shape 21"/>
          <p:cNvSpPr/>
          <p:nvPr/>
        </p:nvSpPr>
        <p:spPr>
          <a:xfrm>
            <a:off x="5970960" y="3163680"/>
            <a:ext cx="1974600" cy="785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r>
              <a:rPr lang="en-IN" dirty="0"/>
              <a:t>≤5 seconds</a:t>
            </a:r>
            <a:endParaRPr lang="en-US" dirty="0">
              <a:ea typeface="Calibri"/>
              <a:cs typeface="Calibri"/>
            </a:endParaRPr>
          </a:p>
        </p:txBody>
      </p:sp>
      <p:sp>
        <p:nvSpPr>
          <p:cNvPr id="108" name="Shape 22"/>
          <p:cNvSpPr/>
          <p:nvPr/>
        </p:nvSpPr>
        <p:spPr>
          <a:xfrm>
            <a:off x="7946280" y="3163680"/>
            <a:ext cx="3620520" cy="785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Buzzer / GSM alert test</a:t>
            </a:r>
            <a:endParaRPr lang="en-US" dirty="0"/>
          </a:p>
        </p:txBody>
      </p:sp>
      <p:sp>
        <p:nvSpPr>
          <p:cNvPr id="109" name="Shape 23"/>
          <p:cNvSpPr/>
          <p:nvPr/>
        </p:nvSpPr>
        <p:spPr>
          <a:xfrm>
            <a:off x="594360" y="3950280"/>
            <a:ext cx="362052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Enable accident detection</a:t>
            </a:r>
            <a:endParaRPr lang="en-US" dirty="0"/>
          </a:p>
        </p:txBody>
      </p:sp>
      <p:sp>
        <p:nvSpPr>
          <p:cNvPr id="110" name="Shape 24"/>
          <p:cNvSpPr/>
          <p:nvPr/>
        </p:nvSpPr>
        <p:spPr>
          <a:xfrm>
            <a:off x="4215240" y="3950280"/>
            <a:ext cx="175536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Crash detection accuracy</a:t>
            </a:r>
            <a:endParaRPr lang="en-US" dirty="0">
              <a:ea typeface="Calibri"/>
              <a:cs typeface="Calibri"/>
            </a:endParaRPr>
          </a:p>
        </p:txBody>
      </p:sp>
      <p:sp>
        <p:nvSpPr>
          <p:cNvPr id="111" name="Shape 25"/>
          <p:cNvSpPr/>
          <p:nvPr/>
        </p:nvSpPr>
        <p:spPr>
          <a:xfrm>
            <a:off x="5970960" y="3950280"/>
            <a:ext cx="197460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r>
              <a:rPr lang="en-IN" dirty="0"/>
              <a:t>≥85%</a:t>
            </a:r>
            <a:endParaRPr lang="en-US" dirty="0">
              <a:ea typeface="Calibri"/>
              <a:cs typeface="Calibri"/>
            </a:endParaRPr>
          </a:p>
        </p:txBody>
      </p:sp>
      <p:sp>
        <p:nvSpPr>
          <p:cNvPr id="112" name="Shape 26"/>
          <p:cNvSpPr/>
          <p:nvPr/>
        </p:nvSpPr>
        <p:spPr>
          <a:xfrm>
            <a:off x="7946280" y="3950280"/>
            <a:ext cx="3620520" cy="785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Controlled motion simulation</a:t>
            </a:r>
            <a:endParaRPr lang="en-US" dirty="0"/>
          </a:p>
        </p:txBody>
      </p:sp>
      <p:sp>
        <p:nvSpPr>
          <p:cNvPr id="113" name="Shape 27"/>
          <p:cNvSpPr/>
          <p:nvPr/>
        </p:nvSpPr>
        <p:spPr>
          <a:xfrm>
            <a:off x="594360" y="4736520"/>
            <a:ext cx="3620520" cy="785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Verify system reliability</a:t>
            </a:r>
            <a:endParaRPr lang="en-US" dirty="0"/>
          </a:p>
        </p:txBody>
      </p:sp>
      <p:sp>
        <p:nvSpPr>
          <p:cNvPr id="114" name="Shape 28"/>
          <p:cNvSpPr/>
          <p:nvPr/>
        </p:nvSpPr>
        <p:spPr>
          <a:xfrm>
            <a:off x="4215240" y="4736520"/>
            <a:ext cx="1755360" cy="785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Continuous operation time</a:t>
            </a:r>
            <a:endParaRPr lang="en-US" dirty="0">
              <a:ea typeface="Calibri"/>
              <a:cs typeface="Calibri"/>
            </a:endParaRPr>
          </a:p>
        </p:txBody>
      </p:sp>
      <p:sp>
        <p:nvSpPr>
          <p:cNvPr id="115" name="Shape 29"/>
          <p:cNvSpPr/>
          <p:nvPr/>
        </p:nvSpPr>
        <p:spPr>
          <a:xfrm>
            <a:off x="5970960" y="4736520"/>
            <a:ext cx="1974600" cy="785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dirty="0">
              <a:ea typeface="Calibri"/>
              <a:cs typeface="Calibri"/>
            </a:endParaRPr>
          </a:p>
          <a:p>
            <a:r>
              <a:rPr lang="en-IN" dirty="0"/>
              <a:t>        ≥1 hours</a:t>
            </a:r>
            <a:endParaRPr lang="en-US" dirty="0">
              <a:ea typeface="Calibri"/>
              <a:cs typeface="Calibri"/>
            </a:endParaRPr>
          </a:p>
        </p:txBody>
      </p:sp>
      <p:sp>
        <p:nvSpPr>
          <p:cNvPr id="116" name="Shape 30"/>
          <p:cNvSpPr/>
          <p:nvPr/>
        </p:nvSpPr>
        <p:spPr>
          <a:xfrm>
            <a:off x="7946280" y="4736520"/>
            <a:ext cx="3620520" cy="785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dirty="0"/>
          </a:p>
          <a:p>
            <a:r>
              <a:rPr lang="en-US" dirty="0"/>
              <a:t>Continuous run test</a:t>
            </a:r>
          </a:p>
        </p:txBody>
      </p:sp>
      <p:sp>
        <p:nvSpPr>
          <p:cNvPr id="122" name="Shape 36"/>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 name="Text 37"/>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124" name="Text 38"/>
          <p:cNvSpPr/>
          <p:nvPr/>
        </p:nvSpPr>
        <p:spPr>
          <a:xfrm>
            <a:off x="10961914" y="6620400"/>
            <a:ext cx="635126"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6/23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6"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7"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128"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9"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STRATEGY</a:t>
            </a:r>
            <a:endParaRPr lang="en-US" sz="1200" b="0" u="none" strike="noStrike">
              <a:solidFill>
                <a:srgbClr val="000000"/>
              </a:solidFill>
              <a:effectLst/>
              <a:uFillTx/>
              <a:latin typeface="Arial"/>
            </a:endParaRPr>
          </a:p>
        </p:txBody>
      </p:sp>
      <p:sp>
        <p:nvSpPr>
          <p:cNvPr id="130"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dirty="0">
                <a:solidFill>
                  <a:srgbClr val="111827"/>
                </a:solidFill>
                <a:effectLst/>
                <a:uFillTx/>
                <a:latin typeface="Calibri"/>
                <a:ea typeface="Calibri"/>
              </a:rPr>
              <a:t>Choose Your Prototype Strategy</a:t>
            </a:r>
            <a:endParaRPr lang="en-US" sz="3200" b="0" u="none" strike="noStrike" dirty="0">
              <a:solidFill>
                <a:srgbClr val="000000"/>
              </a:solidFill>
              <a:effectLst/>
              <a:uFillTx/>
              <a:latin typeface="Arial"/>
            </a:endParaRPr>
          </a:p>
        </p:txBody>
      </p:sp>
      <p:sp>
        <p:nvSpPr>
          <p:cNvPr id="132" name="Shape 7"/>
          <p:cNvSpPr/>
          <p:nvPr/>
        </p:nvSpPr>
        <p:spPr>
          <a:xfrm>
            <a:off x="594360" y="1417320"/>
            <a:ext cx="10972440" cy="46177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133" name="Text 8"/>
          <p:cNvSpPr/>
          <p:nvPr/>
        </p:nvSpPr>
        <p:spPr>
          <a:xfrm>
            <a:off x="850320" y="1490040"/>
            <a:ext cx="8232720" cy="841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342900" indent="-342900">
              <a:buFont typeface="Wingdings" panose="05000000000000000000" pitchFamily="2" charset="2"/>
              <a:buChar char="q"/>
              <a:tabLst>
                <a:tab pos="0" algn="l"/>
              </a:tabLst>
            </a:pPr>
            <a:r>
              <a:rPr lang="en-IN" sz="2400" b="1" dirty="0"/>
              <a:t>Prototype Strategy: Works-like Functional</a:t>
            </a:r>
            <a:endParaRPr lang="en-US" sz="2400" b="1" u="none" strike="noStrike" dirty="0">
              <a:solidFill>
                <a:srgbClr val="000000"/>
              </a:solidFill>
              <a:effectLst/>
              <a:uFillTx/>
              <a:latin typeface="Arial"/>
              <a:ea typeface="Calibri"/>
              <a:cs typeface="Arial"/>
            </a:endParaRPr>
          </a:p>
        </p:txBody>
      </p:sp>
      <p:sp>
        <p:nvSpPr>
          <p:cNvPr id="134" name="Text 9"/>
          <p:cNvSpPr/>
          <p:nvPr/>
        </p:nvSpPr>
        <p:spPr>
          <a:xfrm>
            <a:off x="850320" y="2331720"/>
            <a:ext cx="10487880" cy="3108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10000"/>
              </a:lnSpc>
              <a:tabLst>
                <a:tab pos="0" algn="l"/>
              </a:tabLst>
            </a:pPr>
            <a:r>
              <a:rPr lang="en-US" sz="2400" b="1" dirty="0"/>
              <a:t>Focus on Integration:</a:t>
            </a:r>
            <a:r>
              <a:rPr lang="en-US" sz="2400" dirty="0"/>
              <a:t> Validates seamless integration of MQ3 alcohol sensor, MPU6050, GSM module, and ESP32.</a:t>
            </a:r>
            <a:br>
              <a:rPr lang="en-US" sz="2400" dirty="0"/>
            </a:br>
            <a:r>
              <a:rPr lang="en-US" sz="2400" b="1" dirty="0"/>
              <a:t>End-to-End Functionality:</a:t>
            </a:r>
            <a:r>
              <a:rPr lang="en-US" sz="2400" dirty="0"/>
              <a:t> Demonstrates complete flow from alcohol/crash detection to real-time alert triggering.</a:t>
            </a:r>
            <a:br>
              <a:rPr lang="en-US" sz="2400" dirty="0"/>
            </a:br>
            <a:r>
              <a:rPr lang="en-US" sz="2400" b="1" dirty="0"/>
              <a:t>Performance-Centric:</a:t>
            </a:r>
            <a:r>
              <a:rPr lang="en-US" sz="2400" dirty="0"/>
              <a:t> Evaluates detection accuracy, alert response time.</a:t>
            </a:r>
            <a:br>
              <a:rPr lang="en-US" sz="2400" dirty="0"/>
            </a:br>
            <a:r>
              <a:rPr lang="en-US" sz="2400" b="1" dirty="0"/>
              <a:t>Risk Reduction:</a:t>
            </a:r>
            <a:r>
              <a:rPr lang="en-US" sz="2400" dirty="0"/>
              <a:t> Reduces technical risks related to sensor reliability</a:t>
            </a:r>
            <a:br>
              <a:rPr lang="en-US" sz="2400" dirty="0"/>
            </a:br>
            <a:r>
              <a:rPr lang="en-US" sz="2400" b="1" dirty="0"/>
              <a:t>Best Fit For:</a:t>
            </a:r>
            <a:r>
              <a:rPr lang="en-US" sz="2400" dirty="0"/>
              <a:t> IoT and Embedded Systems–based safety prototypes.</a:t>
            </a:r>
            <a:endParaRPr lang="en-US" sz="2400" b="0" u="none" strike="noStrike" dirty="0">
              <a:solidFill>
                <a:srgbClr val="000000"/>
              </a:solidFill>
              <a:effectLst/>
              <a:uFillTx/>
              <a:latin typeface="Arial"/>
              <a:ea typeface="Calibri"/>
              <a:cs typeface="Arial"/>
            </a:endParaRPr>
          </a:p>
        </p:txBody>
      </p:sp>
      <p:sp>
        <p:nvSpPr>
          <p:cNvPr id="144" name="Shape 19"/>
          <p:cNvSpPr/>
          <p:nvPr/>
        </p:nvSpPr>
        <p:spPr>
          <a:xfrm>
            <a:off x="594360" y="6126480"/>
            <a:ext cx="10972440" cy="383760"/>
          </a:xfrm>
          <a:prstGeom prst="roundRect">
            <a:avLst>
              <a:gd name="adj" fmla="val 16667"/>
            </a:avLst>
          </a:prstGeom>
          <a:solidFill>
            <a:srgbClr val="EEF6FF"/>
          </a:solidFill>
          <a:ln w="12700">
            <a:solidFill>
              <a:srgbClr val="B9D6F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5" name="Text 20"/>
          <p:cNvSpPr/>
          <p:nvPr/>
        </p:nvSpPr>
        <p:spPr>
          <a:xfrm>
            <a:off x="822960" y="6208920"/>
            <a:ext cx="10515240" cy="237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0B2E4A"/>
                </a:solidFill>
                <a:effectLst/>
                <a:uFillTx/>
                <a:latin typeface="Calibri"/>
                <a:ea typeface="Calibri"/>
              </a:rPr>
              <a:t>Action: keep ONLY the slide for your chosen option (A/B/C/D) and delete the other 3.</a:t>
            </a:r>
            <a:endParaRPr lang="en-US" sz="1300" b="0" u="none" strike="noStrike">
              <a:solidFill>
                <a:srgbClr val="000000"/>
              </a:solidFill>
              <a:effectLst/>
              <a:uFillTx/>
              <a:latin typeface="Arial"/>
            </a:endParaRPr>
          </a:p>
        </p:txBody>
      </p:sp>
      <p:sp>
        <p:nvSpPr>
          <p:cNvPr id="146" name="Shape 21"/>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7" name="Text 22"/>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148" name="Text 23"/>
          <p:cNvSpPr/>
          <p:nvPr/>
        </p:nvSpPr>
        <p:spPr>
          <a:xfrm>
            <a:off x="10961914" y="6620400"/>
            <a:ext cx="635126" cy="237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7/23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0"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1"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292"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3"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SCOPE</a:t>
            </a:r>
            <a:endParaRPr lang="en-US" sz="1200" b="0" u="none" strike="noStrike">
              <a:solidFill>
                <a:srgbClr val="000000"/>
              </a:solidFill>
              <a:effectLst/>
              <a:uFillTx/>
              <a:latin typeface="Arial"/>
            </a:endParaRPr>
          </a:p>
        </p:txBody>
      </p:sp>
      <p:sp>
        <p:nvSpPr>
          <p:cNvPr id="294"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Prototype Scope, Requirements &amp; Constraints</a:t>
            </a:r>
            <a:endParaRPr lang="en-US" sz="3200" b="0" u="none" strike="noStrike">
              <a:solidFill>
                <a:srgbClr val="000000"/>
              </a:solidFill>
              <a:effectLst/>
              <a:uFillTx/>
              <a:latin typeface="Arial"/>
            </a:endParaRPr>
          </a:p>
        </p:txBody>
      </p:sp>
      <p:sp>
        <p:nvSpPr>
          <p:cNvPr id="296" name="Shape 7"/>
          <p:cNvSpPr/>
          <p:nvPr/>
        </p:nvSpPr>
        <p:spPr>
          <a:xfrm>
            <a:off x="561120" y="1543804"/>
            <a:ext cx="5623200" cy="486468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7" name="Text 8"/>
          <p:cNvSpPr/>
          <p:nvPr/>
        </p:nvSpPr>
        <p:spPr>
          <a:xfrm>
            <a:off x="850320" y="1672778"/>
            <a:ext cx="5111280" cy="36626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dirty="0">
                <a:solidFill>
                  <a:srgbClr val="111827"/>
                </a:solidFill>
                <a:effectLst/>
                <a:uFillTx/>
                <a:latin typeface="Calibri"/>
                <a:ea typeface="Calibri"/>
              </a:rPr>
              <a:t>Scope (fill)</a:t>
            </a:r>
            <a:endParaRPr lang="en-US" sz="2000" b="0" u="none" strike="noStrike" dirty="0">
              <a:solidFill>
                <a:srgbClr val="000000"/>
              </a:solidFill>
              <a:effectLst/>
              <a:uFillTx/>
              <a:latin typeface="Arial"/>
            </a:endParaRPr>
          </a:p>
        </p:txBody>
      </p:sp>
      <p:sp>
        <p:nvSpPr>
          <p:cNvPr id="298" name="Text 9"/>
          <p:cNvSpPr/>
          <p:nvPr/>
        </p:nvSpPr>
        <p:spPr>
          <a:xfrm>
            <a:off x="850320" y="2377440"/>
            <a:ext cx="5111280" cy="384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a:solidFill>
                <a:schemeClr val="dk1"/>
              </a:solidFill>
              <a:effectLst/>
              <a:uFillTx/>
              <a:latin typeface="Calibri"/>
            </a:endParaRPr>
          </a:p>
        </p:txBody>
      </p:sp>
      <p:sp>
        <p:nvSpPr>
          <p:cNvPr id="299" name="Text 10"/>
          <p:cNvSpPr/>
          <p:nvPr/>
        </p:nvSpPr>
        <p:spPr>
          <a:xfrm>
            <a:off x="914399" y="2189090"/>
            <a:ext cx="1221921" cy="94484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dirty="0">
                <a:solidFill>
                  <a:srgbClr val="4B5563"/>
                </a:solidFill>
                <a:effectLst/>
                <a:uFillTx/>
                <a:latin typeface="Calibri"/>
                <a:ea typeface="Calibri"/>
              </a:rPr>
              <a:t>In scope</a:t>
            </a:r>
            <a:endParaRPr lang="en-US" sz="2000" b="0" u="none" strike="noStrike" dirty="0">
              <a:solidFill>
                <a:srgbClr val="000000"/>
              </a:solidFill>
              <a:effectLst/>
              <a:uFillTx/>
              <a:latin typeface="Arial"/>
            </a:endParaRPr>
          </a:p>
        </p:txBody>
      </p:sp>
      <p:sp>
        <p:nvSpPr>
          <p:cNvPr id="301" name="Text 12"/>
          <p:cNvSpPr/>
          <p:nvPr/>
        </p:nvSpPr>
        <p:spPr>
          <a:xfrm>
            <a:off x="2392281" y="2389263"/>
            <a:ext cx="3579242" cy="74467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endParaRPr lang="en-US" sz="1300">
              <a:solidFill>
                <a:srgbClr val="111827"/>
              </a:solidFill>
              <a:ea typeface="Calibri"/>
              <a:cs typeface="Calibri"/>
            </a:endParaRPr>
          </a:p>
        </p:txBody>
      </p:sp>
      <p:sp>
        <p:nvSpPr>
          <p:cNvPr id="302" name="Text 13"/>
          <p:cNvSpPr/>
          <p:nvPr/>
        </p:nvSpPr>
        <p:spPr>
          <a:xfrm>
            <a:off x="594360" y="3344537"/>
            <a:ext cx="1541961" cy="63160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dirty="0">
                <a:solidFill>
                  <a:srgbClr val="4B5563"/>
                </a:solidFill>
                <a:effectLst/>
                <a:uFillTx/>
                <a:latin typeface="Calibri"/>
                <a:ea typeface="Calibri"/>
              </a:rPr>
              <a:t>Out of scope</a:t>
            </a:r>
            <a:endParaRPr lang="en-US" sz="2000" b="0" u="none" strike="noStrike" dirty="0">
              <a:solidFill>
                <a:srgbClr val="000000"/>
              </a:solidFill>
              <a:effectLst/>
              <a:uFillTx/>
              <a:latin typeface="Arial"/>
            </a:endParaRPr>
          </a:p>
        </p:txBody>
      </p:sp>
      <p:sp>
        <p:nvSpPr>
          <p:cNvPr id="304" name="Text 15"/>
          <p:cNvSpPr/>
          <p:nvPr/>
        </p:nvSpPr>
        <p:spPr>
          <a:xfrm>
            <a:off x="2392281" y="3194787"/>
            <a:ext cx="3494576" cy="49067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endParaRPr lang="en-US" dirty="0"/>
          </a:p>
        </p:txBody>
      </p:sp>
      <p:sp>
        <p:nvSpPr>
          <p:cNvPr id="305" name="Text 16"/>
          <p:cNvSpPr/>
          <p:nvPr/>
        </p:nvSpPr>
        <p:spPr>
          <a:xfrm>
            <a:off x="627600" y="4098058"/>
            <a:ext cx="1583760" cy="90306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dirty="0">
                <a:solidFill>
                  <a:srgbClr val="4B5563"/>
                </a:solidFill>
                <a:effectLst/>
                <a:uFillTx/>
                <a:latin typeface="Calibri"/>
                <a:ea typeface="Calibri"/>
              </a:rPr>
              <a:t>Assumptions</a:t>
            </a:r>
            <a:endParaRPr lang="en-US" sz="2000" b="0" u="none" strike="noStrike" dirty="0">
              <a:solidFill>
                <a:srgbClr val="000000"/>
              </a:solidFill>
              <a:effectLst/>
              <a:uFillTx/>
              <a:latin typeface="Arial"/>
            </a:endParaRPr>
          </a:p>
        </p:txBody>
      </p:sp>
      <p:sp>
        <p:nvSpPr>
          <p:cNvPr id="307" name="Text 18"/>
          <p:cNvSpPr/>
          <p:nvPr/>
        </p:nvSpPr>
        <p:spPr>
          <a:xfrm>
            <a:off x="2519280" y="3858840"/>
            <a:ext cx="3268800" cy="420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endParaRPr lang="en-US" dirty="0">
              <a:ea typeface="+mn-lt"/>
              <a:cs typeface="+mn-lt"/>
            </a:endParaRPr>
          </a:p>
        </p:txBody>
      </p:sp>
      <p:sp>
        <p:nvSpPr>
          <p:cNvPr id="308" name="Text 19"/>
          <p:cNvSpPr/>
          <p:nvPr/>
        </p:nvSpPr>
        <p:spPr>
          <a:xfrm>
            <a:off x="715920" y="5121595"/>
            <a:ext cx="1439159" cy="90306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dirty="0">
                <a:solidFill>
                  <a:srgbClr val="4B5563"/>
                </a:solidFill>
                <a:effectLst/>
                <a:uFillTx/>
                <a:latin typeface="Calibri"/>
                <a:ea typeface="Calibri"/>
              </a:rPr>
              <a:t>Constraints</a:t>
            </a:r>
            <a:endParaRPr lang="en-US" sz="2000" b="0" u="none" strike="noStrike" dirty="0">
              <a:solidFill>
                <a:srgbClr val="000000"/>
              </a:solidFill>
              <a:effectLst/>
              <a:uFillTx/>
              <a:latin typeface="Arial"/>
            </a:endParaRPr>
          </a:p>
        </p:txBody>
      </p:sp>
      <p:sp>
        <p:nvSpPr>
          <p:cNvPr id="310" name="Text 21"/>
          <p:cNvSpPr/>
          <p:nvPr/>
        </p:nvSpPr>
        <p:spPr>
          <a:xfrm>
            <a:off x="2519280" y="5001120"/>
            <a:ext cx="3268800" cy="67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endParaRPr lang="en-US" dirty="0"/>
          </a:p>
        </p:txBody>
      </p:sp>
      <p:sp>
        <p:nvSpPr>
          <p:cNvPr id="311" name="Shape 22"/>
          <p:cNvSpPr/>
          <p:nvPr/>
        </p:nvSpPr>
        <p:spPr>
          <a:xfrm>
            <a:off x="6492240" y="1528076"/>
            <a:ext cx="5394600" cy="4900084"/>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313" name="Text 24"/>
          <p:cNvSpPr/>
          <p:nvPr/>
        </p:nvSpPr>
        <p:spPr>
          <a:xfrm>
            <a:off x="6748200" y="1979820"/>
            <a:ext cx="5138640" cy="375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2400" b="1" dirty="0"/>
              <a:t>Acceptance checks (3–5)</a:t>
            </a:r>
          </a:p>
          <a:p>
            <a:r>
              <a:rPr lang="en-US" sz="2400" dirty="0"/>
              <a:t>Alcohol detection triggered within ≤3 s (p95)</a:t>
            </a:r>
          </a:p>
          <a:p>
            <a:r>
              <a:rPr lang="en-US" sz="2400" dirty="0"/>
              <a:t>Crash event detected within ≤5 s of simulation</a:t>
            </a:r>
          </a:p>
          <a:p>
            <a:r>
              <a:rPr lang="en-US" sz="2400" dirty="0"/>
              <a:t>Alert (buzzer/GSM) activated reliably during tests</a:t>
            </a:r>
          </a:p>
          <a:p>
            <a:r>
              <a:rPr lang="en-US" sz="2400" dirty="0"/>
              <a:t>ESP32 runs continuously for ≥30 min without reset</a:t>
            </a:r>
          </a:p>
          <a:p>
            <a:r>
              <a:rPr lang="en-US" sz="2400" dirty="0"/>
              <a:t>No critical failures during live demo</a:t>
            </a:r>
          </a:p>
        </p:txBody>
      </p:sp>
      <p:sp>
        <p:nvSpPr>
          <p:cNvPr id="314" name="Shape 25"/>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5" name="Text 26"/>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316" name="Text 27"/>
          <p:cNvSpPr/>
          <p:nvPr/>
        </p:nvSpPr>
        <p:spPr>
          <a:xfrm>
            <a:off x="10755086" y="6620400"/>
            <a:ext cx="841954"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12/23</a:t>
            </a:r>
          </a:p>
        </p:txBody>
      </p:sp>
      <p:sp>
        <p:nvSpPr>
          <p:cNvPr id="2" name="Rectangle 1">
            <a:extLst>
              <a:ext uri="{FF2B5EF4-FFF2-40B4-BE49-F238E27FC236}">
                <a16:creationId xmlns:a16="http://schemas.microsoft.com/office/drawing/2014/main" id="{9A821B56-F02B-4479-6ABA-8944C6E71F80}"/>
              </a:ext>
            </a:extLst>
          </p:cNvPr>
          <p:cNvSpPr>
            <a:spLocks noChangeArrowheads="1"/>
          </p:cNvSpPr>
          <p:nvPr/>
        </p:nvSpPr>
        <p:spPr bwMode="auto">
          <a:xfrm>
            <a:off x="2117760" y="2355950"/>
            <a:ext cx="39972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ESP32 with MQ3 alcohol sensor for alcohol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MPU6050 for crash / fall detection</a:t>
            </a:r>
          </a:p>
        </p:txBody>
      </p:sp>
      <p:sp>
        <p:nvSpPr>
          <p:cNvPr id="3" name="Rectangle 2">
            <a:extLst>
              <a:ext uri="{FF2B5EF4-FFF2-40B4-BE49-F238E27FC236}">
                <a16:creationId xmlns:a16="http://schemas.microsoft.com/office/drawing/2014/main" id="{440A26C1-A8FC-3768-A8B6-40B6A6AD8F46}"/>
              </a:ext>
            </a:extLst>
          </p:cNvPr>
          <p:cNvSpPr>
            <a:spLocks noChangeArrowheads="1"/>
          </p:cNvSpPr>
          <p:nvPr/>
        </p:nvSpPr>
        <p:spPr bwMode="auto">
          <a:xfrm>
            <a:off x="2207246" y="3285027"/>
            <a:ext cx="367961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Vehicle ignition integration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Mobile app or cloud dashboard</a:t>
            </a:r>
          </a:p>
        </p:txBody>
      </p:sp>
      <p:sp>
        <p:nvSpPr>
          <p:cNvPr id="4" name="Rectangle 3">
            <a:extLst>
              <a:ext uri="{FF2B5EF4-FFF2-40B4-BE49-F238E27FC236}">
                <a16:creationId xmlns:a16="http://schemas.microsoft.com/office/drawing/2014/main" id="{2AD0C2C2-9D04-6AE7-38D5-BC07DD0104B5}"/>
              </a:ext>
            </a:extLst>
          </p:cNvPr>
          <p:cNvSpPr>
            <a:spLocks noChangeArrowheads="1"/>
          </p:cNvSpPr>
          <p:nvPr/>
        </p:nvSpPr>
        <p:spPr bwMode="auto">
          <a:xfrm>
            <a:off x="2117761" y="4017404"/>
            <a:ext cx="39079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GSM network is available during demo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Battery power is sufficient for test duration</a:t>
            </a:r>
          </a:p>
        </p:txBody>
      </p:sp>
      <p:sp>
        <p:nvSpPr>
          <p:cNvPr id="5" name="Rectangle 4">
            <a:extLst>
              <a:ext uri="{FF2B5EF4-FFF2-40B4-BE49-F238E27FC236}">
                <a16:creationId xmlns:a16="http://schemas.microsoft.com/office/drawing/2014/main" id="{6667209E-3138-CF55-DEDB-BE75CBDAB9CB}"/>
              </a:ext>
            </a:extLst>
          </p:cNvPr>
          <p:cNvSpPr>
            <a:spLocks noChangeArrowheads="1"/>
          </p:cNvSpPr>
          <p:nvPr/>
        </p:nvSpPr>
        <p:spPr bwMode="auto">
          <a:xfrm>
            <a:off x="2207246" y="5364908"/>
            <a:ext cx="367961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Limited time and student budget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Sensor calibration sensitivity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8"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9"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320"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1"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DESIGN</a:t>
            </a:r>
            <a:endParaRPr lang="en-US" sz="1200" b="0" u="none" strike="noStrike">
              <a:solidFill>
                <a:srgbClr val="000000"/>
              </a:solidFill>
              <a:effectLst/>
              <a:uFillTx/>
              <a:latin typeface="Arial"/>
            </a:endParaRPr>
          </a:p>
        </p:txBody>
      </p:sp>
      <p:sp>
        <p:nvSpPr>
          <p:cNvPr id="322"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Prototype System Overview — Architecture / Design</a:t>
            </a:r>
            <a:endParaRPr lang="en-US" sz="3200" b="0" u="none" strike="noStrike">
              <a:solidFill>
                <a:srgbClr val="000000"/>
              </a:solidFill>
              <a:effectLst/>
              <a:uFillTx/>
              <a:latin typeface="Arial"/>
            </a:endParaRPr>
          </a:p>
        </p:txBody>
      </p:sp>
      <p:sp>
        <p:nvSpPr>
          <p:cNvPr id="323" name="Text 6"/>
          <p:cNvSpPr/>
          <p:nvPr/>
        </p:nvSpPr>
        <p:spPr>
          <a:xfrm>
            <a:off x="594360" y="141732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4B5563"/>
                </a:solidFill>
                <a:effectLst/>
                <a:uFillTx/>
                <a:latin typeface="Calibri"/>
                <a:ea typeface="Calibri"/>
              </a:rPr>
              <a:t>Show end-to-end flow. Mark simulated components clearly.</a:t>
            </a:r>
            <a:endParaRPr lang="en-US" sz="1600" b="0" u="none" strike="noStrike">
              <a:solidFill>
                <a:srgbClr val="000000"/>
              </a:solidFill>
              <a:effectLst/>
              <a:uFillTx/>
              <a:latin typeface="Arial"/>
            </a:endParaRPr>
          </a:p>
        </p:txBody>
      </p:sp>
      <p:sp>
        <p:nvSpPr>
          <p:cNvPr id="324" name="Shape 7"/>
          <p:cNvSpPr/>
          <p:nvPr/>
        </p:nvSpPr>
        <p:spPr>
          <a:xfrm>
            <a:off x="427346" y="1711473"/>
            <a:ext cx="10972440" cy="4297320"/>
          </a:xfrm>
          <a:prstGeom prst="roundRect">
            <a:avLst>
              <a:gd name="adj" fmla="val 16667"/>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Rider Breath / Motion</a:t>
            </a:r>
            <a:br>
              <a:rPr lang="en-IN" dirty="0"/>
            </a:br>
            <a:r>
              <a:rPr lang="en-IN" dirty="0"/>
              <a:t>↓</a:t>
            </a:r>
            <a:br>
              <a:rPr lang="en-IN" dirty="0"/>
            </a:br>
            <a:r>
              <a:rPr lang="en-IN" dirty="0"/>
              <a:t>MQ3 Alcohol Sensor &amp; MPU6050</a:t>
            </a:r>
            <a:br>
              <a:rPr lang="en-IN" dirty="0"/>
            </a:br>
            <a:r>
              <a:rPr lang="en-IN" dirty="0"/>
              <a:t>↓</a:t>
            </a:r>
            <a:br>
              <a:rPr lang="en-IN" dirty="0"/>
            </a:br>
            <a:r>
              <a:rPr lang="en-IN" dirty="0"/>
              <a:t>ESP32 Data Processing</a:t>
            </a:r>
            <a:br>
              <a:rPr lang="en-IN" dirty="0"/>
            </a:br>
            <a:r>
              <a:rPr lang="en-IN" dirty="0"/>
              <a:t>↓</a:t>
            </a:r>
            <a:br>
              <a:rPr lang="en-IN" dirty="0"/>
            </a:br>
            <a:r>
              <a:rPr lang="en-IN" dirty="0"/>
              <a:t>Alcohol / Crash Detection Logic</a:t>
            </a:r>
            <a:br>
              <a:rPr lang="en-IN" dirty="0"/>
            </a:br>
            <a:r>
              <a:rPr lang="en-IN" dirty="0"/>
              <a:t>↓</a:t>
            </a:r>
            <a:br>
              <a:rPr lang="en-IN" dirty="0"/>
            </a:br>
            <a:r>
              <a:rPr lang="en-IN" dirty="0"/>
              <a:t>Alert Decision</a:t>
            </a:r>
            <a:br>
              <a:rPr lang="en-IN" dirty="0"/>
            </a:br>
            <a:r>
              <a:rPr lang="en-IN" dirty="0"/>
              <a:t>↓</a:t>
            </a:r>
            <a:br>
              <a:rPr lang="en-IN" dirty="0"/>
            </a:br>
            <a:r>
              <a:rPr lang="en-IN" dirty="0"/>
              <a:t>Buzzer / GSM Alert</a:t>
            </a:r>
            <a:br>
              <a:rPr lang="en-IN" dirty="0"/>
            </a:br>
            <a:r>
              <a:rPr lang="en-IN" dirty="0"/>
              <a:t>↓</a:t>
            </a:r>
            <a:br>
              <a:rPr lang="en-IN" dirty="0"/>
            </a:br>
            <a:r>
              <a:rPr lang="en-IN" dirty="0"/>
              <a:t>System Status Indicated to User</a:t>
            </a:r>
            <a:endParaRPr lang="en-US" b="0" u="none" strike="noStrike" dirty="0">
              <a:solidFill>
                <a:srgbClr val="000000"/>
              </a:solidFill>
              <a:effectLst/>
              <a:uFillTx/>
              <a:latin typeface="Calibri"/>
              <a:ea typeface="Calibri"/>
              <a:cs typeface="Calibri"/>
            </a:endParaRPr>
          </a:p>
        </p:txBody>
      </p:sp>
      <p:sp>
        <p:nvSpPr>
          <p:cNvPr id="325" name="Text 8"/>
          <p:cNvSpPr/>
          <p:nvPr/>
        </p:nvSpPr>
        <p:spPr>
          <a:xfrm>
            <a:off x="777240" y="2030040"/>
            <a:ext cx="10606680" cy="407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tabLst>
                <a:tab pos="0" algn="l"/>
              </a:tabLst>
            </a:pPr>
            <a:endParaRPr lang="en-US" sz="1400" b="0" i="1" u="none" strike="noStrike">
              <a:solidFill>
                <a:srgbClr val="6B7280"/>
              </a:solidFill>
              <a:effectLst/>
              <a:uFillTx/>
              <a:latin typeface="Calibri"/>
              <a:ea typeface="Calibri"/>
              <a:cs typeface="Calibri"/>
            </a:endParaRPr>
          </a:p>
        </p:txBody>
      </p:sp>
      <p:sp>
        <p:nvSpPr>
          <p:cNvPr id="326" name="Shape 9"/>
          <p:cNvSpPr/>
          <p:nvPr/>
        </p:nvSpPr>
        <p:spPr>
          <a:xfrm>
            <a:off x="594360" y="6126480"/>
            <a:ext cx="10972440" cy="383760"/>
          </a:xfrm>
          <a:prstGeom prst="roundRect">
            <a:avLst>
              <a:gd name="adj" fmla="val 16667"/>
            </a:avLst>
          </a:prstGeom>
          <a:solidFill>
            <a:srgbClr val="EEF6FF"/>
          </a:solidFill>
          <a:ln w="12700">
            <a:solidFill>
              <a:srgbClr val="B9D6F5"/>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7" name="Text 10"/>
          <p:cNvSpPr/>
          <p:nvPr/>
        </p:nvSpPr>
        <p:spPr>
          <a:xfrm>
            <a:off x="850320" y="6236280"/>
            <a:ext cx="1046052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dirty="0">
                <a:solidFill>
                  <a:srgbClr val="111827"/>
                </a:solidFill>
                <a:effectLst/>
                <a:uFillTx/>
                <a:latin typeface="Calibri"/>
                <a:ea typeface="Calibri"/>
              </a:rPr>
              <a:t>Minimum expectation</a:t>
            </a:r>
            <a:endParaRPr lang="en-US" sz="1600" b="0" u="none" strike="noStrike" dirty="0">
              <a:solidFill>
                <a:srgbClr val="000000"/>
              </a:solidFill>
              <a:effectLst/>
              <a:uFillTx/>
              <a:latin typeface="Arial"/>
            </a:endParaRPr>
          </a:p>
        </p:txBody>
      </p:sp>
      <p:sp>
        <p:nvSpPr>
          <p:cNvPr id="328" name="Text 11"/>
          <p:cNvSpPr/>
          <p:nvPr/>
        </p:nvSpPr>
        <p:spPr>
          <a:xfrm>
            <a:off x="3060120" y="6260811"/>
            <a:ext cx="1046052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10000"/>
              </a:lnSpc>
              <a:tabLst>
                <a:tab pos="0" algn="l"/>
              </a:tabLst>
            </a:pPr>
            <a:r>
              <a:rPr lang="en-IN" sz="1400" dirty="0"/>
              <a:t>Input (User / Load) → System (ESP32 + PZEM-004T) → Output (Readings / Alert)</a:t>
            </a:r>
            <a:endParaRPr lang="en-US" sz="1300" dirty="0">
              <a:solidFill>
                <a:srgbClr val="000000"/>
              </a:solidFill>
              <a:latin typeface="Arial"/>
            </a:endParaRPr>
          </a:p>
        </p:txBody>
      </p:sp>
      <p:sp>
        <p:nvSpPr>
          <p:cNvPr id="329" name="Shape 12"/>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0" name="Text 13"/>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331" name="Text 14"/>
          <p:cNvSpPr/>
          <p:nvPr/>
        </p:nvSpPr>
        <p:spPr>
          <a:xfrm>
            <a:off x="10820400" y="6620400"/>
            <a:ext cx="77664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13/23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3"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4"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335"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6"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BUILD</a:t>
            </a:r>
            <a:endParaRPr lang="en-US" sz="1200" b="0" u="none" strike="noStrike">
              <a:solidFill>
                <a:srgbClr val="000000"/>
              </a:solidFill>
              <a:effectLst/>
              <a:uFillTx/>
              <a:latin typeface="Arial"/>
            </a:endParaRPr>
          </a:p>
        </p:txBody>
      </p:sp>
      <p:sp>
        <p:nvSpPr>
          <p:cNvPr id="337"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Prototype Build Plan &amp; Timeline (Sprints)</a:t>
            </a:r>
            <a:endParaRPr lang="en-US" sz="3200" b="0" u="none" strike="noStrike">
              <a:solidFill>
                <a:srgbClr val="000000"/>
              </a:solidFill>
              <a:effectLst/>
              <a:uFillTx/>
              <a:latin typeface="Arial"/>
            </a:endParaRPr>
          </a:p>
        </p:txBody>
      </p:sp>
      <p:sp>
        <p:nvSpPr>
          <p:cNvPr id="338" name="Text 6"/>
          <p:cNvSpPr/>
          <p:nvPr/>
        </p:nvSpPr>
        <p:spPr>
          <a:xfrm>
            <a:off x="594360" y="141732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4B5563"/>
                </a:solidFill>
                <a:effectLst/>
                <a:uFillTx/>
                <a:latin typeface="Calibri"/>
                <a:ea typeface="Calibri"/>
              </a:rPr>
              <a:t>Break work into 2–4 short sprints. Each ends with a demoable increment.</a:t>
            </a:r>
            <a:endParaRPr lang="en-US" sz="1600" b="0" u="none" strike="noStrike">
              <a:solidFill>
                <a:srgbClr val="000000"/>
              </a:solidFill>
              <a:effectLst/>
              <a:uFillTx/>
              <a:latin typeface="Arial"/>
            </a:endParaRPr>
          </a:p>
        </p:txBody>
      </p:sp>
      <p:sp>
        <p:nvSpPr>
          <p:cNvPr id="339" name="Shape 7"/>
          <p:cNvSpPr/>
          <p:nvPr/>
        </p:nvSpPr>
        <p:spPr>
          <a:xfrm>
            <a:off x="594360" y="1920240"/>
            <a:ext cx="19746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0" name="Text 8"/>
          <p:cNvSpPr/>
          <p:nvPr/>
        </p:nvSpPr>
        <p:spPr>
          <a:xfrm>
            <a:off x="704160" y="2011680"/>
            <a:ext cx="17553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Sprint / Week</a:t>
            </a:r>
            <a:endParaRPr lang="en-US" sz="1200" b="0" u="none" strike="noStrike">
              <a:solidFill>
                <a:srgbClr val="000000"/>
              </a:solidFill>
              <a:effectLst/>
              <a:uFillTx/>
              <a:latin typeface="Arial"/>
            </a:endParaRPr>
          </a:p>
        </p:txBody>
      </p:sp>
      <p:sp>
        <p:nvSpPr>
          <p:cNvPr id="341" name="Shape 9"/>
          <p:cNvSpPr/>
          <p:nvPr/>
        </p:nvSpPr>
        <p:spPr>
          <a:xfrm>
            <a:off x="2569320" y="1920240"/>
            <a:ext cx="460836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2" name="Text 10"/>
          <p:cNvSpPr/>
          <p:nvPr/>
        </p:nvSpPr>
        <p:spPr>
          <a:xfrm>
            <a:off x="2679120" y="2011680"/>
            <a:ext cx="43887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Key tasks &amp; deliverables</a:t>
            </a:r>
            <a:endParaRPr lang="en-US" sz="1200" b="0" u="none" strike="noStrike">
              <a:solidFill>
                <a:srgbClr val="000000"/>
              </a:solidFill>
              <a:effectLst/>
              <a:uFillTx/>
              <a:latin typeface="Arial"/>
            </a:endParaRPr>
          </a:p>
        </p:txBody>
      </p:sp>
      <p:sp>
        <p:nvSpPr>
          <p:cNvPr id="343" name="Shape 11"/>
          <p:cNvSpPr/>
          <p:nvPr/>
        </p:nvSpPr>
        <p:spPr>
          <a:xfrm>
            <a:off x="7178040" y="1920240"/>
            <a:ext cx="24138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4" name="Text 12"/>
          <p:cNvSpPr/>
          <p:nvPr/>
        </p:nvSpPr>
        <p:spPr>
          <a:xfrm>
            <a:off x="7287840" y="2011680"/>
            <a:ext cx="219420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Owner(s)</a:t>
            </a:r>
            <a:endParaRPr lang="en-US" sz="1200" b="0" u="none" strike="noStrike">
              <a:solidFill>
                <a:srgbClr val="000000"/>
              </a:solidFill>
              <a:effectLst/>
              <a:uFillTx/>
              <a:latin typeface="Arial"/>
            </a:endParaRPr>
          </a:p>
        </p:txBody>
      </p:sp>
      <p:sp>
        <p:nvSpPr>
          <p:cNvPr id="345" name="Shape 13"/>
          <p:cNvSpPr/>
          <p:nvPr/>
        </p:nvSpPr>
        <p:spPr>
          <a:xfrm>
            <a:off x="9592200" y="1920240"/>
            <a:ext cx="19746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6" name="Text 14"/>
          <p:cNvSpPr/>
          <p:nvPr/>
        </p:nvSpPr>
        <p:spPr>
          <a:xfrm>
            <a:off x="9701640" y="2011680"/>
            <a:ext cx="17553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Status</a:t>
            </a:r>
            <a:endParaRPr lang="en-US" sz="1200" b="0" u="none" strike="noStrike">
              <a:solidFill>
                <a:srgbClr val="000000"/>
              </a:solidFill>
              <a:effectLst/>
              <a:uFillTx/>
              <a:latin typeface="Arial"/>
            </a:endParaRPr>
          </a:p>
        </p:txBody>
      </p:sp>
      <p:sp>
        <p:nvSpPr>
          <p:cNvPr id="347" name="Shape 15"/>
          <p:cNvSpPr/>
          <p:nvPr/>
        </p:nvSpPr>
        <p:spPr>
          <a:xfrm>
            <a:off x="594360" y="2377440"/>
            <a:ext cx="19746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Week 1</a:t>
            </a:r>
            <a:endParaRPr lang="en-US"/>
          </a:p>
        </p:txBody>
      </p:sp>
      <p:sp>
        <p:nvSpPr>
          <p:cNvPr id="348" name="Shape 16"/>
          <p:cNvSpPr/>
          <p:nvPr/>
        </p:nvSpPr>
        <p:spPr>
          <a:xfrm>
            <a:off x="2569320" y="2377440"/>
            <a:ext cx="460836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Hardware setup (ESP32 + MQ3, MPU6050), basic wiring</a:t>
            </a:r>
          </a:p>
        </p:txBody>
      </p:sp>
      <p:sp>
        <p:nvSpPr>
          <p:cNvPr id="349" name="Shape 17"/>
          <p:cNvSpPr/>
          <p:nvPr/>
        </p:nvSpPr>
        <p:spPr>
          <a:xfrm>
            <a:off x="7178040" y="2377440"/>
            <a:ext cx="24138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Team</a:t>
            </a:r>
          </a:p>
        </p:txBody>
      </p:sp>
      <p:sp>
        <p:nvSpPr>
          <p:cNvPr id="350" name="Shape 18"/>
          <p:cNvSpPr/>
          <p:nvPr/>
        </p:nvSpPr>
        <p:spPr>
          <a:xfrm>
            <a:off x="9592200" y="2377440"/>
            <a:ext cx="19746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t>Done</a:t>
            </a:r>
          </a:p>
          <a:p>
            <a:endParaRPr lang="en-US" sz="1800" b="0" u="none" strike="noStrike">
              <a:solidFill>
                <a:srgbClr val="000000"/>
              </a:solidFill>
              <a:effectLst/>
              <a:uFillTx/>
              <a:latin typeface="Arial"/>
              <a:cs typeface="Arial"/>
            </a:endParaRPr>
          </a:p>
        </p:txBody>
      </p:sp>
      <p:sp>
        <p:nvSpPr>
          <p:cNvPr id="351" name="Shape 19"/>
          <p:cNvSpPr/>
          <p:nvPr/>
        </p:nvSpPr>
        <p:spPr>
          <a:xfrm>
            <a:off x="594360" y="3337560"/>
            <a:ext cx="19746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Week 2</a:t>
            </a:r>
            <a:endParaRPr lang="en-US"/>
          </a:p>
        </p:txBody>
      </p:sp>
      <p:sp>
        <p:nvSpPr>
          <p:cNvPr id="352" name="Shape 20"/>
          <p:cNvSpPr/>
          <p:nvPr/>
        </p:nvSpPr>
        <p:spPr>
          <a:xfrm>
            <a:off x="2569320" y="3337560"/>
            <a:ext cx="460836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Sensor data reading and serial visualization</a:t>
            </a:r>
          </a:p>
        </p:txBody>
      </p:sp>
      <p:sp>
        <p:nvSpPr>
          <p:cNvPr id="353" name="Shape 21"/>
          <p:cNvSpPr/>
          <p:nvPr/>
        </p:nvSpPr>
        <p:spPr>
          <a:xfrm>
            <a:off x="7178040" y="3337560"/>
            <a:ext cx="24138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Team</a:t>
            </a:r>
            <a:endParaRPr lang="en-US"/>
          </a:p>
        </p:txBody>
      </p:sp>
      <p:sp>
        <p:nvSpPr>
          <p:cNvPr id="354" name="Shape 22"/>
          <p:cNvSpPr/>
          <p:nvPr/>
        </p:nvSpPr>
        <p:spPr>
          <a:xfrm>
            <a:off x="9592200" y="3337560"/>
            <a:ext cx="19746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Done</a:t>
            </a:r>
          </a:p>
        </p:txBody>
      </p:sp>
      <p:sp>
        <p:nvSpPr>
          <p:cNvPr id="355" name="Shape 23"/>
          <p:cNvSpPr/>
          <p:nvPr/>
        </p:nvSpPr>
        <p:spPr>
          <a:xfrm>
            <a:off x="594360" y="4297680"/>
            <a:ext cx="19746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Week 3</a:t>
            </a:r>
            <a:endParaRPr lang="en-US">
              <a:ea typeface="+mn-lt"/>
              <a:cs typeface="+mn-lt"/>
            </a:endParaRPr>
          </a:p>
        </p:txBody>
      </p:sp>
      <p:sp>
        <p:nvSpPr>
          <p:cNvPr id="356" name="Shape 24"/>
          <p:cNvSpPr/>
          <p:nvPr/>
        </p:nvSpPr>
        <p:spPr>
          <a:xfrm>
            <a:off x="2569320" y="4297680"/>
            <a:ext cx="460836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Alcohol &amp; crash detection logic implementation</a:t>
            </a:r>
            <a:endParaRPr lang="en-US" dirty="0"/>
          </a:p>
        </p:txBody>
      </p:sp>
      <p:sp>
        <p:nvSpPr>
          <p:cNvPr id="357" name="Shape 25"/>
          <p:cNvSpPr/>
          <p:nvPr/>
        </p:nvSpPr>
        <p:spPr>
          <a:xfrm>
            <a:off x="7178040" y="4297680"/>
            <a:ext cx="24138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Team</a:t>
            </a:r>
            <a:endParaRPr lang="en-US">
              <a:ea typeface="+mn-lt"/>
              <a:cs typeface="+mn-lt"/>
            </a:endParaRPr>
          </a:p>
        </p:txBody>
      </p:sp>
      <p:sp>
        <p:nvSpPr>
          <p:cNvPr id="358" name="Shape 26"/>
          <p:cNvSpPr/>
          <p:nvPr/>
        </p:nvSpPr>
        <p:spPr>
          <a:xfrm>
            <a:off x="9592200" y="4297680"/>
            <a:ext cx="19746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ea typeface="+mn-lt"/>
                <a:cs typeface="+mn-lt"/>
              </a:rPr>
              <a:t>In Progress</a:t>
            </a:r>
          </a:p>
          <a:p>
            <a:endParaRPr lang="en-US" dirty="0">
              <a:ea typeface="+mn-lt"/>
              <a:cs typeface="+mn-lt"/>
            </a:endParaRPr>
          </a:p>
        </p:txBody>
      </p:sp>
      <p:sp>
        <p:nvSpPr>
          <p:cNvPr id="359" name="Shape 27"/>
          <p:cNvSpPr/>
          <p:nvPr/>
        </p:nvSpPr>
        <p:spPr>
          <a:xfrm>
            <a:off x="594360" y="5257800"/>
            <a:ext cx="19746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Week 4</a:t>
            </a:r>
            <a:endParaRPr lang="en-US">
              <a:ea typeface="+mn-lt"/>
              <a:cs typeface="+mn-lt"/>
            </a:endParaRPr>
          </a:p>
        </p:txBody>
      </p:sp>
      <p:sp>
        <p:nvSpPr>
          <p:cNvPr id="360" name="Shape 28"/>
          <p:cNvSpPr/>
          <p:nvPr/>
        </p:nvSpPr>
        <p:spPr>
          <a:xfrm>
            <a:off x="2569320" y="5257800"/>
            <a:ext cx="460836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GSM/Buzzer alert integration &amp; demo preparation</a:t>
            </a:r>
          </a:p>
        </p:txBody>
      </p:sp>
      <p:sp>
        <p:nvSpPr>
          <p:cNvPr id="361" name="Shape 29"/>
          <p:cNvSpPr/>
          <p:nvPr/>
        </p:nvSpPr>
        <p:spPr>
          <a:xfrm>
            <a:off x="7178040" y="5257800"/>
            <a:ext cx="24138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Team</a:t>
            </a:r>
            <a:endParaRPr lang="en-US"/>
          </a:p>
        </p:txBody>
      </p:sp>
      <p:sp>
        <p:nvSpPr>
          <p:cNvPr id="362" name="Shape 30"/>
          <p:cNvSpPr/>
          <p:nvPr/>
        </p:nvSpPr>
        <p:spPr>
          <a:xfrm>
            <a:off x="9592200" y="5257800"/>
            <a:ext cx="19746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Planned</a:t>
            </a:r>
            <a:endParaRPr lang="en-US">
              <a:ea typeface="+mn-lt"/>
              <a:cs typeface="+mn-lt"/>
            </a:endParaRPr>
          </a:p>
        </p:txBody>
      </p:sp>
      <p:sp>
        <p:nvSpPr>
          <p:cNvPr id="363" name="Text 31"/>
          <p:cNvSpPr/>
          <p:nvPr/>
        </p:nvSpPr>
        <p:spPr>
          <a:xfrm>
            <a:off x="594360" y="623628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0" i="1" u="none" strike="noStrike">
                <a:solidFill>
                  <a:srgbClr val="6B7280"/>
                </a:solidFill>
                <a:effectLst/>
                <a:uFillTx/>
                <a:latin typeface="Calibri"/>
                <a:ea typeface="Calibri"/>
              </a:rPr>
              <a:t>Tip: Use “Definition of Done” for each sprint (demoable + evidence captured).</a:t>
            </a:r>
            <a:endParaRPr lang="en-US" sz="1200" b="0" u="none" strike="noStrike">
              <a:solidFill>
                <a:srgbClr val="000000"/>
              </a:solidFill>
              <a:effectLst/>
              <a:uFillTx/>
              <a:latin typeface="Arial"/>
            </a:endParaRPr>
          </a:p>
        </p:txBody>
      </p:sp>
      <p:sp>
        <p:nvSpPr>
          <p:cNvPr id="364" name="Shape 32"/>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5" name="Text 33"/>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366" name="Text 34"/>
          <p:cNvSpPr/>
          <p:nvPr/>
        </p:nvSpPr>
        <p:spPr>
          <a:xfrm>
            <a:off x="10831286" y="6620400"/>
            <a:ext cx="765754" cy="155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14/23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8"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9"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370"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1"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RESOURCES</a:t>
            </a:r>
            <a:endParaRPr lang="en-US" sz="1200" b="0" u="none" strike="noStrike">
              <a:solidFill>
                <a:srgbClr val="000000"/>
              </a:solidFill>
              <a:effectLst/>
              <a:uFillTx/>
              <a:latin typeface="Arial"/>
            </a:endParaRPr>
          </a:p>
        </p:txBody>
      </p:sp>
      <p:sp>
        <p:nvSpPr>
          <p:cNvPr id="372"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Resources, BOM &amp; Budget</a:t>
            </a:r>
            <a:endParaRPr lang="en-US" sz="3200" b="0" u="none" strike="noStrike">
              <a:solidFill>
                <a:srgbClr val="000000"/>
              </a:solidFill>
              <a:effectLst/>
              <a:uFillTx/>
              <a:latin typeface="Arial"/>
            </a:endParaRPr>
          </a:p>
        </p:txBody>
      </p:sp>
      <p:sp>
        <p:nvSpPr>
          <p:cNvPr id="374" name="Shape 7"/>
          <p:cNvSpPr/>
          <p:nvPr/>
        </p:nvSpPr>
        <p:spPr>
          <a:xfrm>
            <a:off x="594360" y="1920240"/>
            <a:ext cx="394992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5" name="Text 8"/>
          <p:cNvSpPr/>
          <p:nvPr/>
        </p:nvSpPr>
        <p:spPr>
          <a:xfrm>
            <a:off x="704160" y="2011680"/>
            <a:ext cx="373032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Item / resource</a:t>
            </a:r>
            <a:endParaRPr lang="en-US" sz="1200" b="0" u="none" strike="noStrike">
              <a:solidFill>
                <a:srgbClr val="000000"/>
              </a:solidFill>
              <a:effectLst/>
              <a:uFillTx/>
              <a:latin typeface="Arial"/>
            </a:endParaRPr>
          </a:p>
        </p:txBody>
      </p:sp>
      <p:sp>
        <p:nvSpPr>
          <p:cNvPr id="376" name="Shape 9"/>
          <p:cNvSpPr/>
          <p:nvPr/>
        </p:nvSpPr>
        <p:spPr>
          <a:xfrm>
            <a:off x="4544640" y="1920240"/>
            <a:ext cx="153576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7" name="Text 10"/>
          <p:cNvSpPr/>
          <p:nvPr/>
        </p:nvSpPr>
        <p:spPr>
          <a:xfrm>
            <a:off x="4654440" y="2011680"/>
            <a:ext cx="131652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Qty</a:t>
            </a:r>
            <a:endParaRPr lang="en-US" sz="1200" b="0" u="none" strike="noStrike">
              <a:solidFill>
                <a:srgbClr val="000000"/>
              </a:solidFill>
              <a:effectLst/>
              <a:uFillTx/>
              <a:latin typeface="Arial"/>
            </a:endParaRPr>
          </a:p>
        </p:txBody>
      </p:sp>
      <p:sp>
        <p:nvSpPr>
          <p:cNvPr id="378" name="Shape 11"/>
          <p:cNvSpPr/>
          <p:nvPr/>
        </p:nvSpPr>
        <p:spPr>
          <a:xfrm>
            <a:off x="6080760" y="1920240"/>
            <a:ext cx="153576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9" name="Text 12"/>
          <p:cNvSpPr/>
          <p:nvPr/>
        </p:nvSpPr>
        <p:spPr>
          <a:xfrm>
            <a:off x="6190560" y="2011680"/>
            <a:ext cx="131652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Unit cost</a:t>
            </a:r>
            <a:endParaRPr lang="en-US" sz="1200" b="0" u="none" strike="noStrike">
              <a:solidFill>
                <a:srgbClr val="000000"/>
              </a:solidFill>
              <a:effectLst/>
              <a:uFillTx/>
              <a:latin typeface="Arial"/>
            </a:endParaRPr>
          </a:p>
        </p:txBody>
      </p:sp>
      <p:sp>
        <p:nvSpPr>
          <p:cNvPr id="380" name="Shape 13"/>
          <p:cNvSpPr/>
          <p:nvPr/>
        </p:nvSpPr>
        <p:spPr>
          <a:xfrm>
            <a:off x="7616880" y="1920240"/>
            <a:ext cx="19746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1" name="Text 14"/>
          <p:cNvSpPr/>
          <p:nvPr/>
        </p:nvSpPr>
        <p:spPr>
          <a:xfrm>
            <a:off x="7726680" y="2011680"/>
            <a:ext cx="17553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Source</a:t>
            </a:r>
            <a:endParaRPr lang="en-US" sz="1200" b="0" u="none" strike="noStrike">
              <a:solidFill>
                <a:srgbClr val="000000"/>
              </a:solidFill>
              <a:effectLst/>
              <a:uFillTx/>
              <a:latin typeface="Arial"/>
            </a:endParaRPr>
          </a:p>
        </p:txBody>
      </p:sp>
      <p:sp>
        <p:nvSpPr>
          <p:cNvPr id="382" name="Shape 15"/>
          <p:cNvSpPr/>
          <p:nvPr/>
        </p:nvSpPr>
        <p:spPr>
          <a:xfrm>
            <a:off x="9592200" y="1920240"/>
            <a:ext cx="19746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3" name="Text 16"/>
          <p:cNvSpPr/>
          <p:nvPr/>
        </p:nvSpPr>
        <p:spPr>
          <a:xfrm>
            <a:off x="9701640" y="2011680"/>
            <a:ext cx="17553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Notes</a:t>
            </a:r>
            <a:endParaRPr lang="en-US" sz="1200" b="0" u="none" strike="noStrike">
              <a:solidFill>
                <a:srgbClr val="000000"/>
              </a:solidFill>
              <a:effectLst/>
              <a:uFillTx/>
              <a:latin typeface="Arial"/>
            </a:endParaRPr>
          </a:p>
        </p:txBody>
      </p:sp>
      <p:sp>
        <p:nvSpPr>
          <p:cNvPr id="384" name="Shape 17"/>
          <p:cNvSpPr/>
          <p:nvPr/>
        </p:nvSpPr>
        <p:spPr>
          <a:xfrm>
            <a:off x="594360" y="2377440"/>
            <a:ext cx="394992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ESP32 Dev Board</a:t>
            </a:r>
            <a:endParaRPr lang="en-US" dirty="0">
              <a:ea typeface="+mn-lt"/>
              <a:cs typeface="+mn-lt"/>
            </a:endParaRPr>
          </a:p>
        </p:txBody>
      </p:sp>
      <p:sp>
        <p:nvSpPr>
          <p:cNvPr id="385" name="Shape 18"/>
          <p:cNvSpPr/>
          <p:nvPr/>
        </p:nvSpPr>
        <p:spPr>
          <a:xfrm>
            <a:off x="4544640" y="2377440"/>
            <a:ext cx="153576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1</a:t>
            </a:r>
            <a:endParaRPr lang="en-US"/>
          </a:p>
        </p:txBody>
      </p:sp>
      <p:sp>
        <p:nvSpPr>
          <p:cNvPr id="386" name="Shape 19"/>
          <p:cNvSpPr/>
          <p:nvPr/>
        </p:nvSpPr>
        <p:spPr>
          <a:xfrm>
            <a:off x="6080760" y="2377440"/>
            <a:ext cx="153576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₹400</a:t>
            </a:r>
            <a:endParaRPr lang="en-US" dirty="0"/>
          </a:p>
        </p:txBody>
      </p:sp>
      <p:sp>
        <p:nvSpPr>
          <p:cNvPr id="387" name="Shape 20"/>
          <p:cNvSpPr/>
          <p:nvPr/>
        </p:nvSpPr>
        <p:spPr>
          <a:xfrm>
            <a:off x="7616880" y="237744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Online</a:t>
            </a:r>
            <a:endParaRPr lang="en-US" sz="1800" b="0" u="none" strike="noStrike" dirty="0">
              <a:solidFill>
                <a:srgbClr val="000000"/>
              </a:solidFill>
              <a:effectLst/>
              <a:uFillTx/>
              <a:latin typeface="Arial"/>
            </a:endParaRPr>
          </a:p>
        </p:txBody>
      </p:sp>
      <p:sp>
        <p:nvSpPr>
          <p:cNvPr id="388" name="Shape 21"/>
          <p:cNvSpPr/>
          <p:nvPr/>
        </p:nvSpPr>
        <p:spPr>
          <a:xfrm>
            <a:off x="9592200" y="237744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r>
              <a:rPr lang="en-US" sz="1600">
                <a:ea typeface="Calibri"/>
                <a:cs typeface="Calibri"/>
              </a:rPr>
              <a:t>Main controller</a:t>
            </a:r>
            <a:endParaRPr lang="en-US" sz="1600" dirty="0">
              <a:ea typeface="Calibri"/>
              <a:cs typeface="Calibri"/>
            </a:endParaRPr>
          </a:p>
        </p:txBody>
      </p:sp>
      <p:sp>
        <p:nvSpPr>
          <p:cNvPr id="389" name="Shape 22"/>
          <p:cNvSpPr/>
          <p:nvPr/>
        </p:nvSpPr>
        <p:spPr>
          <a:xfrm>
            <a:off x="594360" y="3145680"/>
            <a:ext cx="394992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MQ3 Alcohol Sensor</a:t>
            </a:r>
            <a:endParaRPr lang="en-US" dirty="0"/>
          </a:p>
        </p:txBody>
      </p:sp>
      <p:sp>
        <p:nvSpPr>
          <p:cNvPr id="390" name="Shape 23"/>
          <p:cNvSpPr/>
          <p:nvPr/>
        </p:nvSpPr>
        <p:spPr>
          <a:xfrm>
            <a:off x="4544640" y="3145680"/>
            <a:ext cx="153576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1</a:t>
            </a:r>
            <a:endParaRPr lang="en-US"/>
          </a:p>
        </p:txBody>
      </p:sp>
      <p:sp>
        <p:nvSpPr>
          <p:cNvPr id="391" name="Shape 24"/>
          <p:cNvSpPr/>
          <p:nvPr/>
        </p:nvSpPr>
        <p:spPr>
          <a:xfrm>
            <a:off x="6080760" y="3145680"/>
            <a:ext cx="153576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₹200</a:t>
            </a:r>
            <a:endParaRPr lang="en-US" dirty="0"/>
          </a:p>
        </p:txBody>
      </p:sp>
      <p:sp>
        <p:nvSpPr>
          <p:cNvPr id="392" name="Shape 25"/>
          <p:cNvSpPr/>
          <p:nvPr/>
        </p:nvSpPr>
        <p:spPr>
          <a:xfrm>
            <a:off x="7616880" y="3145680"/>
            <a:ext cx="197460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Online</a:t>
            </a:r>
            <a:endParaRPr lang="en-US" dirty="0"/>
          </a:p>
        </p:txBody>
      </p:sp>
      <p:sp>
        <p:nvSpPr>
          <p:cNvPr id="393" name="Shape 26"/>
          <p:cNvSpPr/>
          <p:nvPr/>
        </p:nvSpPr>
        <p:spPr>
          <a:xfrm>
            <a:off x="9592200" y="3145680"/>
            <a:ext cx="197460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Alcohol detection</a:t>
            </a:r>
          </a:p>
        </p:txBody>
      </p:sp>
      <p:sp>
        <p:nvSpPr>
          <p:cNvPr id="394" name="Shape 27"/>
          <p:cNvSpPr/>
          <p:nvPr/>
        </p:nvSpPr>
        <p:spPr>
          <a:xfrm>
            <a:off x="594360" y="3913560"/>
            <a:ext cx="394992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MPU6050 Sensor</a:t>
            </a:r>
            <a:endParaRPr lang="en-US" dirty="0"/>
          </a:p>
        </p:txBody>
      </p:sp>
      <p:sp>
        <p:nvSpPr>
          <p:cNvPr id="395" name="Shape 28"/>
          <p:cNvSpPr/>
          <p:nvPr/>
        </p:nvSpPr>
        <p:spPr>
          <a:xfrm>
            <a:off x="4544640" y="3913560"/>
            <a:ext cx="153576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solidFill>
                  <a:srgbClr val="000000"/>
                </a:solidFill>
                <a:latin typeface="Arial"/>
                <a:cs typeface="Arial"/>
              </a:rPr>
              <a:t>Each - 1</a:t>
            </a:r>
            <a:endParaRPr lang="en-US" sz="1800" b="0" u="none" strike="noStrike" dirty="0">
              <a:solidFill>
                <a:srgbClr val="000000"/>
              </a:solidFill>
              <a:effectLst/>
              <a:uFillTx/>
              <a:latin typeface="Arial"/>
            </a:endParaRPr>
          </a:p>
        </p:txBody>
      </p:sp>
      <p:sp>
        <p:nvSpPr>
          <p:cNvPr id="396" name="Shape 29"/>
          <p:cNvSpPr/>
          <p:nvPr/>
        </p:nvSpPr>
        <p:spPr>
          <a:xfrm>
            <a:off x="6080760" y="3913560"/>
            <a:ext cx="153576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₹250</a:t>
            </a:r>
            <a:endParaRPr lang="en-US" sz="1800" b="0" u="none" strike="noStrike" dirty="0">
              <a:solidFill>
                <a:srgbClr val="000000"/>
              </a:solidFill>
              <a:effectLst/>
              <a:uFillTx/>
              <a:latin typeface="Arial"/>
              <a:cs typeface="Arial"/>
            </a:endParaRPr>
          </a:p>
        </p:txBody>
      </p:sp>
      <p:sp>
        <p:nvSpPr>
          <p:cNvPr id="397" name="Shape 30"/>
          <p:cNvSpPr/>
          <p:nvPr/>
        </p:nvSpPr>
        <p:spPr>
          <a:xfrm>
            <a:off x="7616880" y="391356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Online</a:t>
            </a:r>
            <a:endParaRPr lang="en-US" sz="1800" b="0" u="none" strike="noStrike" dirty="0">
              <a:solidFill>
                <a:srgbClr val="000000"/>
              </a:solidFill>
              <a:effectLst/>
              <a:uFillTx/>
              <a:latin typeface="Arial"/>
              <a:cs typeface="Arial"/>
            </a:endParaRPr>
          </a:p>
        </p:txBody>
      </p:sp>
      <p:sp>
        <p:nvSpPr>
          <p:cNvPr id="398" name="Shape 31"/>
          <p:cNvSpPr/>
          <p:nvPr/>
        </p:nvSpPr>
        <p:spPr>
          <a:xfrm>
            <a:off x="9592200" y="391356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800" b="0" u="none" strike="noStrike" dirty="0">
                <a:solidFill>
                  <a:srgbClr val="000000"/>
                </a:solidFill>
                <a:effectLst/>
                <a:uFillTx/>
                <a:latin typeface="Arial"/>
              </a:rPr>
              <a:t>Crash detection</a:t>
            </a:r>
          </a:p>
        </p:txBody>
      </p:sp>
      <p:sp>
        <p:nvSpPr>
          <p:cNvPr id="399" name="Shape 32"/>
          <p:cNvSpPr/>
          <p:nvPr/>
        </p:nvSpPr>
        <p:spPr>
          <a:xfrm>
            <a:off x="594360" y="4681800"/>
            <a:ext cx="394992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SIM800L GSM Module</a:t>
            </a:r>
            <a:endParaRPr lang="en-US" dirty="0"/>
          </a:p>
        </p:txBody>
      </p:sp>
      <p:sp>
        <p:nvSpPr>
          <p:cNvPr id="400" name="Shape 33"/>
          <p:cNvSpPr/>
          <p:nvPr/>
        </p:nvSpPr>
        <p:spPr>
          <a:xfrm>
            <a:off x="4544640" y="4681800"/>
            <a:ext cx="153576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800" b="0" u="none" strike="noStrike" dirty="0">
                <a:solidFill>
                  <a:srgbClr val="000000"/>
                </a:solidFill>
                <a:effectLst/>
                <a:uFillTx/>
                <a:latin typeface="Arial"/>
                <a:cs typeface="Arial"/>
              </a:rPr>
              <a:t>1</a:t>
            </a:r>
            <a:endParaRPr lang="en-US" sz="1800" b="0" u="none" strike="noStrike" dirty="0">
              <a:solidFill>
                <a:srgbClr val="000000"/>
              </a:solidFill>
              <a:effectLst/>
              <a:uFillTx/>
              <a:latin typeface="Arial"/>
            </a:endParaRPr>
          </a:p>
        </p:txBody>
      </p:sp>
      <p:sp>
        <p:nvSpPr>
          <p:cNvPr id="401" name="Shape 34"/>
          <p:cNvSpPr/>
          <p:nvPr/>
        </p:nvSpPr>
        <p:spPr>
          <a:xfrm>
            <a:off x="6080760" y="4681800"/>
            <a:ext cx="153576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500</a:t>
            </a:r>
          </a:p>
          <a:p>
            <a:endParaRPr lang="en-US" sz="1800" b="0" u="none" strike="noStrike" dirty="0">
              <a:solidFill>
                <a:srgbClr val="000000"/>
              </a:solidFill>
              <a:effectLst/>
              <a:uFillTx/>
              <a:latin typeface="Arial"/>
              <a:cs typeface="Arial"/>
            </a:endParaRPr>
          </a:p>
        </p:txBody>
      </p:sp>
      <p:sp>
        <p:nvSpPr>
          <p:cNvPr id="402" name="Shape 35"/>
          <p:cNvSpPr/>
          <p:nvPr/>
        </p:nvSpPr>
        <p:spPr>
          <a:xfrm>
            <a:off x="7616880" y="4681800"/>
            <a:ext cx="197460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Online</a:t>
            </a:r>
          </a:p>
        </p:txBody>
      </p:sp>
      <p:sp>
        <p:nvSpPr>
          <p:cNvPr id="403" name="Shape 36"/>
          <p:cNvSpPr/>
          <p:nvPr/>
        </p:nvSpPr>
        <p:spPr>
          <a:xfrm>
            <a:off x="9592200" y="4681800"/>
            <a:ext cx="197460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sz="1800" b="0" u="none" strike="noStrike" dirty="0">
                <a:solidFill>
                  <a:srgbClr val="000000"/>
                </a:solidFill>
                <a:effectLst/>
                <a:uFillTx/>
                <a:latin typeface="Arial"/>
                <a:cs typeface="Arial"/>
              </a:rPr>
              <a:t>SMS alert</a:t>
            </a:r>
            <a:endParaRPr lang="en-US" sz="1800" b="0" u="none" strike="noStrike" dirty="0">
              <a:solidFill>
                <a:srgbClr val="000000"/>
              </a:solidFill>
              <a:effectLst/>
              <a:uFillTx/>
              <a:latin typeface="Arial"/>
              <a:cs typeface="Arial"/>
            </a:endParaRPr>
          </a:p>
        </p:txBody>
      </p:sp>
      <p:sp>
        <p:nvSpPr>
          <p:cNvPr id="409" name="Shape 42"/>
          <p:cNvSpPr/>
          <p:nvPr/>
        </p:nvSpPr>
        <p:spPr>
          <a:xfrm>
            <a:off x="594360" y="6126480"/>
            <a:ext cx="10972440" cy="383760"/>
          </a:xfrm>
          <a:prstGeom prst="roundRect">
            <a:avLst>
              <a:gd name="adj" fmla="val 16667"/>
            </a:avLst>
          </a:prstGeom>
          <a:solidFill>
            <a:srgbClr val="F0FDF4"/>
          </a:solidFill>
          <a:ln w="12700">
            <a:solidFill>
              <a:srgbClr val="BBF7D0"/>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0" name="Text 43"/>
          <p:cNvSpPr/>
          <p:nvPr/>
        </p:nvSpPr>
        <p:spPr>
          <a:xfrm>
            <a:off x="740700" y="6203914"/>
            <a:ext cx="1046052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a:solidFill>
                  <a:srgbClr val="111827"/>
                </a:solidFill>
                <a:effectLst/>
                <a:uFillTx/>
                <a:latin typeface="Calibri"/>
                <a:ea typeface="Calibri"/>
              </a:rPr>
              <a:t>Budget tip</a:t>
            </a:r>
            <a:endParaRPr lang="en-US" sz="1600" b="0" u="none" strike="noStrike">
              <a:solidFill>
                <a:srgbClr val="000000"/>
              </a:solidFill>
              <a:effectLst/>
              <a:uFillTx/>
              <a:latin typeface="Arial"/>
            </a:endParaRPr>
          </a:p>
        </p:txBody>
      </p:sp>
      <p:sp>
        <p:nvSpPr>
          <p:cNvPr id="411" name="Text 44"/>
          <p:cNvSpPr/>
          <p:nvPr/>
        </p:nvSpPr>
        <p:spPr>
          <a:xfrm>
            <a:off x="1872342" y="6144840"/>
            <a:ext cx="9568363" cy="44254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1100" dirty="0"/>
              <a:t>Team-funded prototype using student credits and provided platforms, with minimal essential spending supported by friends and family. Future funding will be targeted from investors or end users based on the working prototype.</a:t>
            </a:r>
            <a:endParaRPr sz="1100" dirty="0"/>
          </a:p>
        </p:txBody>
      </p:sp>
      <p:sp>
        <p:nvSpPr>
          <p:cNvPr id="412" name="Shape 45"/>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3" name="Text 46"/>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414" name="Text 47"/>
          <p:cNvSpPr/>
          <p:nvPr/>
        </p:nvSpPr>
        <p:spPr>
          <a:xfrm>
            <a:off x="10831286" y="6620400"/>
            <a:ext cx="765754" cy="25095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15/23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6"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7"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418"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9"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VALIDATE</a:t>
            </a:r>
            <a:endParaRPr lang="en-US" sz="1200" b="0" u="none" strike="noStrike">
              <a:solidFill>
                <a:srgbClr val="000000"/>
              </a:solidFill>
              <a:effectLst/>
              <a:uFillTx/>
              <a:latin typeface="Arial"/>
            </a:endParaRPr>
          </a:p>
        </p:txBody>
      </p:sp>
      <p:sp>
        <p:nvSpPr>
          <p:cNvPr id="420"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Prototype Demo &amp; Validation Plan</a:t>
            </a:r>
            <a:endParaRPr lang="en-US" sz="3200" b="0" u="none" strike="noStrike">
              <a:solidFill>
                <a:srgbClr val="000000"/>
              </a:solidFill>
              <a:effectLst/>
              <a:uFillTx/>
              <a:latin typeface="Arial"/>
            </a:endParaRPr>
          </a:p>
        </p:txBody>
      </p:sp>
      <p:sp>
        <p:nvSpPr>
          <p:cNvPr id="422" name="Shape 7"/>
          <p:cNvSpPr/>
          <p:nvPr/>
        </p:nvSpPr>
        <p:spPr>
          <a:xfrm>
            <a:off x="255960" y="1490040"/>
            <a:ext cx="5901000" cy="507528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3" name="Text 8"/>
          <p:cNvSpPr/>
          <p:nvPr/>
        </p:nvSpPr>
        <p:spPr>
          <a:xfrm>
            <a:off x="850320" y="1627560"/>
            <a:ext cx="5157000" cy="576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400" b="1" u="none" strike="noStrike" dirty="0">
                <a:solidFill>
                  <a:srgbClr val="111827"/>
                </a:solidFill>
                <a:effectLst/>
                <a:uFillTx/>
                <a:latin typeface="Calibri"/>
                <a:ea typeface="Calibri"/>
              </a:rPr>
              <a:t>Demo scenario (fill)</a:t>
            </a:r>
            <a:endParaRPr lang="en-US" sz="2400" b="0" u="none" strike="noStrike" dirty="0">
              <a:solidFill>
                <a:srgbClr val="000000"/>
              </a:solidFill>
              <a:effectLst/>
              <a:uFillTx/>
              <a:latin typeface="Arial"/>
            </a:endParaRPr>
          </a:p>
        </p:txBody>
      </p:sp>
      <p:sp>
        <p:nvSpPr>
          <p:cNvPr id="424" name="Text 9"/>
          <p:cNvSpPr/>
          <p:nvPr/>
        </p:nvSpPr>
        <p:spPr>
          <a:xfrm>
            <a:off x="561120" y="2203560"/>
            <a:ext cx="5595840" cy="402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sz="2400" dirty="0"/>
              <a:t>Power ON helmet and initialize ESP32</a:t>
            </a:r>
          </a:p>
          <a:p>
            <a:r>
              <a:rPr lang="en-IN" sz="2400" dirty="0"/>
              <a:t>MQ3 sensor detects alcohol presence (simulated)</a:t>
            </a:r>
          </a:p>
          <a:p>
            <a:r>
              <a:rPr lang="en-IN" sz="2400" dirty="0"/>
              <a:t>MPU6050 monitors motion for crash detection</a:t>
            </a:r>
          </a:p>
          <a:p>
            <a:r>
              <a:rPr lang="en-IN" sz="2400" dirty="0"/>
              <a:t>Buzzer alert triggered for alcohol / crash event</a:t>
            </a:r>
          </a:p>
          <a:p>
            <a:r>
              <a:rPr lang="en-IN" sz="2400" dirty="0"/>
              <a:t>GSM module sends alert message</a:t>
            </a:r>
          </a:p>
          <a:p>
            <a:r>
              <a:rPr lang="en-IN" sz="2400" b="1" dirty="0"/>
              <a:t>Audience:</a:t>
            </a:r>
            <a:r>
              <a:rPr lang="en-IN" sz="2400" dirty="0"/>
              <a:t> Mentors &amp; Judges</a:t>
            </a:r>
            <a:br>
              <a:rPr lang="en-IN" sz="2400" dirty="0"/>
            </a:br>
            <a:r>
              <a:rPr lang="en-IN" sz="2400" b="1" dirty="0"/>
              <a:t>Duration:</a:t>
            </a:r>
            <a:r>
              <a:rPr lang="en-IN" sz="2400" dirty="0"/>
              <a:t> ≤2 minutes live demo</a:t>
            </a:r>
          </a:p>
        </p:txBody>
      </p:sp>
      <p:sp>
        <p:nvSpPr>
          <p:cNvPr id="425" name="Shape 10"/>
          <p:cNvSpPr/>
          <p:nvPr/>
        </p:nvSpPr>
        <p:spPr>
          <a:xfrm>
            <a:off x="6412620" y="1234080"/>
            <a:ext cx="5523120" cy="519408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2000" b="1" dirty="0"/>
              <a:t>Validation protocols (fill)</a:t>
            </a:r>
          </a:p>
          <a:p>
            <a:r>
              <a:rPr lang="en-US" sz="2000" b="1" dirty="0"/>
              <a:t>Test cases:</a:t>
            </a:r>
            <a:endParaRPr lang="en-US" sz="2000" dirty="0"/>
          </a:p>
          <a:p>
            <a:r>
              <a:rPr lang="en-US" sz="2000" dirty="0"/>
              <a:t>Alcohol detection scenario</a:t>
            </a:r>
          </a:p>
          <a:p>
            <a:r>
              <a:rPr lang="en-US" sz="2000" b="1" dirty="0"/>
              <a:t>Environment: </a:t>
            </a:r>
            <a:r>
              <a:rPr lang="en-US" sz="2000" dirty="0"/>
              <a:t>Indoor lab setup with controlled conditions</a:t>
            </a:r>
          </a:p>
          <a:p>
            <a:r>
              <a:rPr lang="en-US" sz="2000" b="1" dirty="0"/>
              <a:t>Runs: </a:t>
            </a:r>
            <a:r>
              <a:rPr lang="en-US" sz="2000" dirty="0"/>
              <a:t>3 repeated test runs</a:t>
            </a:r>
          </a:p>
          <a:p>
            <a:r>
              <a:rPr lang="en-US" sz="2000" b="1" dirty="0"/>
              <a:t>What we measure:</a:t>
            </a:r>
            <a:endParaRPr lang="en-US" sz="2000" dirty="0"/>
          </a:p>
          <a:p>
            <a:r>
              <a:rPr lang="en-US" sz="2000" dirty="0"/>
              <a:t>Alcohol detection response time</a:t>
            </a:r>
          </a:p>
          <a:p>
            <a:r>
              <a:rPr lang="en-US" sz="2000" dirty="0"/>
              <a:t>Crash detection accuracy</a:t>
            </a:r>
          </a:p>
          <a:p>
            <a:r>
              <a:rPr lang="en-US" sz="2000" dirty="0"/>
              <a:t>Alert triggering reliability</a:t>
            </a:r>
          </a:p>
          <a:p>
            <a:r>
              <a:rPr lang="en-US" sz="2000" dirty="0"/>
              <a:t>System stability</a:t>
            </a:r>
          </a:p>
          <a:p>
            <a:r>
              <a:rPr lang="en-US" sz="2000" b="1" dirty="0"/>
              <a:t>Pass / Fail Thresholds:</a:t>
            </a:r>
            <a:endParaRPr lang="en-US" sz="2000" dirty="0"/>
          </a:p>
          <a:p>
            <a:r>
              <a:rPr lang="en-US" sz="2000" dirty="0"/>
              <a:t>Alcohol detection within ≤3 seconds (p95)</a:t>
            </a:r>
          </a:p>
          <a:p>
            <a:r>
              <a:rPr lang="en-US" sz="2000" dirty="0"/>
              <a:t>Crash detected within ≤5 seconds</a:t>
            </a:r>
          </a:p>
          <a:p>
            <a:r>
              <a:rPr lang="en-US" sz="2000" dirty="0"/>
              <a:t>Alert triggered successfully in all test runs</a:t>
            </a:r>
          </a:p>
        </p:txBody>
      </p:sp>
      <p:sp>
        <p:nvSpPr>
          <p:cNvPr id="427" name="Text 12"/>
          <p:cNvSpPr/>
          <p:nvPr/>
        </p:nvSpPr>
        <p:spPr>
          <a:xfrm>
            <a:off x="6793920" y="2377440"/>
            <a:ext cx="4836960" cy="384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a:solidFill>
                <a:srgbClr val="4B5563"/>
              </a:solidFill>
              <a:effectLst/>
              <a:uFillTx/>
              <a:latin typeface="Calibri"/>
              <a:ea typeface="Calibri"/>
              <a:cs typeface="Calibri"/>
            </a:endParaRPr>
          </a:p>
        </p:txBody>
      </p:sp>
      <p:sp>
        <p:nvSpPr>
          <p:cNvPr id="430" name="Shape 15"/>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1" name="Text 16"/>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432" name="Text 17"/>
          <p:cNvSpPr/>
          <p:nvPr/>
        </p:nvSpPr>
        <p:spPr>
          <a:xfrm>
            <a:off x="10863942" y="6620400"/>
            <a:ext cx="733097"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16/23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4"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5"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436"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7"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EVIDENCE</a:t>
            </a:r>
            <a:endParaRPr lang="en-US" sz="1200" b="0" u="none" strike="noStrike">
              <a:solidFill>
                <a:srgbClr val="000000"/>
              </a:solidFill>
              <a:effectLst/>
              <a:uFillTx/>
              <a:latin typeface="Arial"/>
            </a:endParaRPr>
          </a:p>
        </p:txBody>
      </p:sp>
      <p:sp>
        <p:nvSpPr>
          <p:cNvPr id="438"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Evidence — Prototype Results &amp; Iterations</a:t>
            </a:r>
            <a:endParaRPr lang="en-US" sz="3200" b="0" u="none" strike="noStrike">
              <a:solidFill>
                <a:srgbClr val="000000"/>
              </a:solidFill>
              <a:effectLst/>
              <a:uFillTx/>
              <a:latin typeface="Arial"/>
            </a:endParaRPr>
          </a:p>
        </p:txBody>
      </p:sp>
      <p:sp>
        <p:nvSpPr>
          <p:cNvPr id="439" name="Text 6"/>
          <p:cNvSpPr/>
          <p:nvPr/>
        </p:nvSpPr>
        <p:spPr>
          <a:xfrm>
            <a:off x="594360" y="141732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4B5563"/>
                </a:solidFill>
                <a:effectLst/>
                <a:uFillTx/>
                <a:latin typeface="Calibri"/>
                <a:ea typeface="Calibri"/>
              </a:rPr>
              <a:t>Show what improved from v1 → v2, with evidence.</a:t>
            </a:r>
            <a:endParaRPr lang="en-US" sz="1600" b="0" u="none" strike="noStrike">
              <a:solidFill>
                <a:srgbClr val="000000"/>
              </a:solidFill>
              <a:effectLst/>
              <a:uFillTx/>
              <a:latin typeface="Arial"/>
            </a:endParaRPr>
          </a:p>
        </p:txBody>
      </p:sp>
      <p:sp>
        <p:nvSpPr>
          <p:cNvPr id="440" name="Shape 7"/>
          <p:cNvSpPr/>
          <p:nvPr/>
        </p:nvSpPr>
        <p:spPr>
          <a:xfrm>
            <a:off x="594360" y="1920240"/>
            <a:ext cx="153576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1" name="Text 8"/>
          <p:cNvSpPr/>
          <p:nvPr/>
        </p:nvSpPr>
        <p:spPr>
          <a:xfrm>
            <a:off x="704160" y="2011680"/>
            <a:ext cx="131652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Version</a:t>
            </a:r>
            <a:endParaRPr lang="en-US" sz="1200" b="0" u="none" strike="noStrike">
              <a:solidFill>
                <a:srgbClr val="000000"/>
              </a:solidFill>
              <a:effectLst/>
              <a:uFillTx/>
              <a:latin typeface="Arial"/>
            </a:endParaRPr>
          </a:p>
        </p:txBody>
      </p:sp>
      <p:sp>
        <p:nvSpPr>
          <p:cNvPr id="442" name="Shape 9"/>
          <p:cNvSpPr/>
          <p:nvPr/>
        </p:nvSpPr>
        <p:spPr>
          <a:xfrm>
            <a:off x="2130480" y="1920240"/>
            <a:ext cx="285264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3" name="Text 10"/>
          <p:cNvSpPr/>
          <p:nvPr/>
        </p:nvSpPr>
        <p:spPr>
          <a:xfrm>
            <a:off x="2240280" y="2011680"/>
            <a:ext cx="263304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What changed</a:t>
            </a:r>
            <a:endParaRPr lang="en-US" sz="1200" b="0" u="none" strike="noStrike">
              <a:solidFill>
                <a:srgbClr val="000000"/>
              </a:solidFill>
              <a:effectLst/>
              <a:uFillTx/>
              <a:latin typeface="Arial"/>
            </a:endParaRPr>
          </a:p>
        </p:txBody>
      </p:sp>
      <p:sp>
        <p:nvSpPr>
          <p:cNvPr id="444" name="Shape 11"/>
          <p:cNvSpPr/>
          <p:nvPr/>
        </p:nvSpPr>
        <p:spPr>
          <a:xfrm>
            <a:off x="4983480" y="1920240"/>
            <a:ext cx="21942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5" name="Text 12"/>
          <p:cNvSpPr/>
          <p:nvPr/>
        </p:nvSpPr>
        <p:spPr>
          <a:xfrm>
            <a:off x="5093280" y="2011680"/>
            <a:ext cx="197460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Test run</a:t>
            </a:r>
            <a:endParaRPr lang="en-US" sz="1200" b="0" u="none" strike="noStrike">
              <a:solidFill>
                <a:srgbClr val="000000"/>
              </a:solidFill>
              <a:effectLst/>
              <a:uFillTx/>
              <a:latin typeface="Arial"/>
            </a:endParaRPr>
          </a:p>
        </p:txBody>
      </p:sp>
      <p:sp>
        <p:nvSpPr>
          <p:cNvPr id="446" name="Shape 13"/>
          <p:cNvSpPr/>
          <p:nvPr/>
        </p:nvSpPr>
        <p:spPr>
          <a:xfrm>
            <a:off x="7178040" y="1920240"/>
            <a:ext cx="21942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7" name="Text 14"/>
          <p:cNvSpPr/>
          <p:nvPr/>
        </p:nvSpPr>
        <p:spPr>
          <a:xfrm>
            <a:off x="7287840" y="2011680"/>
            <a:ext cx="197460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Result</a:t>
            </a:r>
            <a:endParaRPr lang="en-US" sz="1200" b="0" u="none" strike="noStrike">
              <a:solidFill>
                <a:srgbClr val="000000"/>
              </a:solidFill>
              <a:effectLst/>
              <a:uFillTx/>
              <a:latin typeface="Arial"/>
            </a:endParaRPr>
          </a:p>
        </p:txBody>
      </p:sp>
      <p:sp>
        <p:nvSpPr>
          <p:cNvPr id="448" name="Shape 15"/>
          <p:cNvSpPr/>
          <p:nvPr/>
        </p:nvSpPr>
        <p:spPr>
          <a:xfrm>
            <a:off x="9372600" y="1920240"/>
            <a:ext cx="21942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9" name="Text 16"/>
          <p:cNvSpPr/>
          <p:nvPr/>
        </p:nvSpPr>
        <p:spPr>
          <a:xfrm>
            <a:off x="9482400" y="2011680"/>
            <a:ext cx="197460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Evidence link</a:t>
            </a:r>
            <a:endParaRPr lang="en-US" sz="1200" b="0" u="none" strike="noStrike">
              <a:solidFill>
                <a:srgbClr val="000000"/>
              </a:solidFill>
              <a:effectLst/>
              <a:uFillTx/>
              <a:latin typeface="Arial"/>
            </a:endParaRPr>
          </a:p>
        </p:txBody>
      </p:sp>
      <p:sp>
        <p:nvSpPr>
          <p:cNvPr id="450" name="Shape 17"/>
          <p:cNvSpPr/>
          <p:nvPr/>
        </p:nvSpPr>
        <p:spPr>
          <a:xfrm>
            <a:off x="594360" y="2377440"/>
            <a:ext cx="153576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v1</a:t>
            </a:r>
            <a:endParaRPr lang="en-US"/>
          </a:p>
        </p:txBody>
      </p:sp>
      <p:sp>
        <p:nvSpPr>
          <p:cNvPr id="451" name="Shape 18"/>
          <p:cNvSpPr/>
          <p:nvPr/>
        </p:nvSpPr>
        <p:spPr>
          <a:xfrm>
            <a:off x="2130480" y="2377440"/>
            <a:ext cx="285264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ESP32 integrated with MQ3 &amp; MPU6050</a:t>
            </a:r>
          </a:p>
        </p:txBody>
      </p:sp>
      <p:sp>
        <p:nvSpPr>
          <p:cNvPr id="452" name="Shape 19"/>
          <p:cNvSpPr/>
          <p:nvPr/>
        </p:nvSpPr>
        <p:spPr>
          <a:xfrm>
            <a:off x="4983480" y="2377440"/>
            <a:ext cx="21942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Normal load test</a:t>
            </a:r>
            <a:endParaRPr lang="en-US"/>
          </a:p>
        </p:txBody>
      </p:sp>
      <p:sp>
        <p:nvSpPr>
          <p:cNvPr id="453" name="Shape 20"/>
          <p:cNvSpPr/>
          <p:nvPr/>
        </p:nvSpPr>
        <p:spPr>
          <a:xfrm>
            <a:off x="7178040" y="2377440"/>
            <a:ext cx="21942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Stable sensor readings</a:t>
            </a:r>
            <a:endParaRPr lang="en-US" dirty="0"/>
          </a:p>
        </p:txBody>
      </p:sp>
      <p:sp>
        <p:nvSpPr>
          <p:cNvPr id="454" name="Shape 21"/>
          <p:cNvSpPr/>
          <p:nvPr/>
        </p:nvSpPr>
        <p:spPr>
          <a:xfrm>
            <a:off x="9372600" y="2377440"/>
            <a:ext cx="2194200" cy="95976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a:t>Serial output screenshots</a:t>
            </a:r>
            <a:endParaRPr lang="en-US" dirty="0"/>
          </a:p>
        </p:txBody>
      </p:sp>
      <p:sp>
        <p:nvSpPr>
          <p:cNvPr id="455" name="Shape 22"/>
          <p:cNvSpPr/>
          <p:nvPr/>
        </p:nvSpPr>
        <p:spPr>
          <a:xfrm>
            <a:off x="594360" y="3337560"/>
            <a:ext cx="153576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v2</a:t>
            </a:r>
            <a:endParaRPr lang="en-US"/>
          </a:p>
        </p:txBody>
      </p:sp>
      <p:sp>
        <p:nvSpPr>
          <p:cNvPr id="456" name="Shape 23"/>
          <p:cNvSpPr/>
          <p:nvPr/>
        </p:nvSpPr>
        <p:spPr>
          <a:xfrm>
            <a:off x="2130480" y="3337560"/>
            <a:ext cx="285264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Added alert mechanism (buzzer / GSM)</a:t>
            </a:r>
            <a:endParaRPr lang="en-US" sz="1800" b="0" u="none" strike="noStrike" dirty="0">
              <a:solidFill>
                <a:srgbClr val="000000"/>
              </a:solidFill>
              <a:effectLst/>
              <a:uFillTx/>
              <a:latin typeface="Arial"/>
              <a:cs typeface="Arial"/>
            </a:endParaRPr>
          </a:p>
        </p:txBody>
      </p:sp>
      <p:sp>
        <p:nvSpPr>
          <p:cNvPr id="457" name="Shape 24"/>
          <p:cNvSpPr/>
          <p:nvPr/>
        </p:nvSpPr>
        <p:spPr>
          <a:xfrm>
            <a:off x="4983480" y="3337560"/>
            <a:ext cx="21942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Alcohol &amp; crash simulation</a:t>
            </a:r>
            <a:endParaRPr lang="en-US" dirty="0"/>
          </a:p>
        </p:txBody>
      </p:sp>
      <p:sp>
        <p:nvSpPr>
          <p:cNvPr id="458" name="Shape 25"/>
          <p:cNvSpPr/>
          <p:nvPr/>
        </p:nvSpPr>
        <p:spPr>
          <a:xfrm>
            <a:off x="7178040" y="3337560"/>
            <a:ext cx="21942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Alcohol detected and alert triggered</a:t>
            </a:r>
          </a:p>
        </p:txBody>
      </p:sp>
      <p:sp>
        <p:nvSpPr>
          <p:cNvPr id="459" name="Shape 26"/>
          <p:cNvSpPr/>
          <p:nvPr/>
        </p:nvSpPr>
        <p:spPr>
          <a:xfrm>
            <a:off x="9372600" y="3337560"/>
            <a:ext cx="2194200" cy="95976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Demo video</a:t>
            </a:r>
            <a:endParaRPr lang="en-US" dirty="0"/>
          </a:p>
        </p:txBody>
      </p:sp>
      <p:sp>
        <p:nvSpPr>
          <p:cNvPr id="470" name="Text 37"/>
          <p:cNvSpPr/>
          <p:nvPr/>
        </p:nvSpPr>
        <p:spPr>
          <a:xfrm>
            <a:off x="594360" y="623628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0" i="1" u="none" strike="noStrike">
                <a:solidFill>
                  <a:srgbClr val="6B7280"/>
                </a:solidFill>
                <a:effectLst/>
                <a:uFillTx/>
                <a:latin typeface="Calibri"/>
                <a:ea typeface="Calibri"/>
              </a:rPr>
              <a:t>Include screenshots/photos/logs. Don’t hide failures — show what you learned and fixed.</a:t>
            </a:r>
            <a:endParaRPr lang="en-US" sz="1200" b="0" u="none" strike="noStrike">
              <a:solidFill>
                <a:srgbClr val="000000"/>
              </a:solidFill>
              <a:effectLst/>
              <a:uFillTx/>
              <a:latin typeface="Arial"/>
            </a:endParaRPr>
          </a:p>
        </p:txBody>
      </p:sp>
      <p:sp>
        <p:nvSpPr>
          <p:cNvPr id="471" name="Shape 38"/>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2" name="Text 39"/>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473" name="Text 40"/>
          <p:cNvSpPr/>
          <p:nvPr/>
        </p:nvSpPr>
        <p:spPr>
          <a:xfrm>
            <a:off x="10874828" y="6620400"/>
            <a:ext cx="722211" cy="155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17/23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5"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6"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477"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8"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LINKS</a:t>
            </a:r>
            <a:endParaRPr lang="en-US" sz="1200" b="0" u="none" strike="noStrike">
              <a:solidFill>
                <a:srgbClr val="000000"/>
              </a:solidFill>
              <a:effectLst/>
              <a:uFillTx/>
              <a:latin typeface="Arial"/>
            </a:endParaRPr>
          </a:p>
        </p:txBody>
      </p:sp>
      <p:sp>
        <p:nvSpPr>
          <p:cNvPr id="479"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Prototype Demo &amp; Artifacts</a:t>
            </a:r>
            <a:endParaRPr lang="en-US" sz="3200" b="0" u="none" strike="noStrike">
              <a:solidFill>
                <a:srgbClr val="000000"/>
              </a:solidFill>
              <a:effectLst/>
              <a:uFillTx/>
              <a:latin typeface="Arial"/>
            </a:endParaRPr>
          </a:p>
        </p:txBody>
      </p:sp>
      <p:sp>
        <p:nvSpPr>
          <p:cNvPr id="480" name="Text 6"/>
          <p:cNvSpPr/>
          <p:nvPr/>
        </p:nvSpPr>
        <p:spPr>
          <a:xfrm>
            <a:off x="594360" y="141732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4B5563"/>
                </a:solidFill>
                <a:effectLst/>
                <a:uFillTx/>
                <a:latin typeface="Calibri"/>
                <a:ea typeface="Calibri"/>
              </a:rPr>
              <a:t>Make it easy for reviewers to verify quickly.</a:t>
            </a:r>
            <a:endParaRPr lang="en-US" sz="1600" b="0" u="none" strike="noStrike">
              <a:solidFill>
                <a:srgbClr val="000000"/>
              </a:solidFill>
              <a:effectLst/>
              <a:uFillTx/>
              <a:latin typeface="Arial"/>
            </a:endParaRPr>
          </a:p>
        </p:txBody>
      </p:sp>
      <p:sp>
        <p:nvSpPr>
          <p:cNvPr id="481" name="Shape 7"/>
          <p:cNvSpPr/>
          <p:nvPr/>
        </p:nvSpPr>
        <p:spPr>
          <a:xfrm>
            <a:off x="594360" y="1874520"/>
            <a:ext cx="6949080" cy="45259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2" name="Text 8"/>
          <p:cNvSpPr/>
          <p:nvPr/>
        </p:nvSpPr>
        <p:spPr>
          <a:xfrm>
            <a:off x="850320" y="2039040"/>
            <a:ext cx="643716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1" u="none" strike="noStrike">
                <a:solidFill>
                  <a:srgbClr val="111827"/>
                </a:solidFill>
                <a:effectLst/>
                <a:uFillTx/>
                <a:latin typeface="Calibri"/>
                <a:ea typeface="Calibri"/>
              </a:rPr>
              <a:t>Links (paste)</a:t>
            </a:r>
            <a:endParaRPr lang="en-US" sz="1600" b="0" u="none" strike="noStrike">
              <a:solidFill>
                <a:srgbClr val="000000"/>
              </a:solidFill>
              <a:effectLst/>
              <a:uFillTx/>
              <a:latin typeface="Arial"/>
            </a:endParaRPr>
          </a:p>
        </p:txBody>
      </p:sp>
      <p:sp>
        <p:nvSpPr>
          <p:cNvPr id="483" name="Text 9"/>
          <p:cNvSpPr/>
          <p:nvPr/>
        </p:nvSpPr>
        <p:spPr>
          <a:xfrm>
            <a:off x="850320" y="2377440"/>
            <a:ext cx="6437160" cy="384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10000"/>
              </a:lnSpc>
              <a:tabLst>
                <a:tab pos="0" algn="l"/>
              </a:tabLst>
            </a:pPr>
            <a:endParaRPr lang="en-US" sz="1300" b="0" u="none" strike="noStrike">
              <a:solidFill>
                <a:schemeClr val="dk1"/>
              </a:solidFill>
              <a:effectLst/>
              <a:uFillTx/>
              <a:latin typeface="Calibri"/>
            </a:endParaRPr>
          </a:p>
        </p:txBody>
      </p:sp>
      <p:sp>
        <p:nvSpPr>
          <p:cNvPr id="484" name="Text 10"/>
          <p:cNvSpPr/>
          <p:nvPr/>
        </p:nvSpPr>
        <p:spPr>
          <a:xfrm>
            <a:off x="914400" y="2514600"/>
            <a:ext cx="189252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400"/>
              <a:t>Demo video file upload (MP4, ≤2 min)</a:t>
            </a:r>
          </a:p>
        </p:txBody>
      </p:sp>
      <p:sp>
        <p:nvSpPr>
          <p:cNvPr id="485" name="Shape 11"/>
          <p:cNvSpPr/>
          <p:nvPr/>
        </p:nvSpPr>
        <p:spPr>
          <a:xfrm>
            <a:off x="2807280" y="2569320"/>
            <a:ext cx="4416120" cy="4568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6" name="Text 12"/>
          <p:cNvSpPr/>
          <p:nvPr/>
        </p:nvSpPr>
        <p:spPr>
          <a:xfrm>
            <a:off x="2917080" y="2615040"/>
            <a:ext cx="41968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lang="en-US" sz="1400" dirty="0">
                <a:ea typeface="+mn-lt"/>
                <a:cs typeface="+mn-lt"/>
              </a:rPr>
              <a:t>https://drive.google.com/drive/folders/1ibfrT8FCifUWhfeaebh7XQHNpQMnh2Hh</a:t>
            </a:r>
            <a:endParaRPr lang="en-US" dirty="0"/>
          </a:p>
        </p:txBody>
      </p:sp>
      <p:sp>
        <p:nvSpPr>
          <p:cNvPr id="487" name="Text 13"/>
          <p:cNvSpPr/>
          <p:nvPr/>
        </p:nvSpPr>
        <p:spPr>
          <a:xfrm>
            <a:off x="914400" y="3081600"/>
            <a:ext cx="189252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4B5563"/>
                </a:solidFill>
                <a:effectLst/>
                <a:uFillTx/>
                <a:latin typeface="Calibri"/>
                <a:ea typeface="Calibri"/>
              </a:rPr>
              <a:t>Repository URL</a:t>
            </a:r>
            <a:endParaRPr lang="en-US" sz="1300" b="0" u="none" strike="noStrike">
              <a:solidFill>
                <a:srgbClr val="000000"/>
              </a:solidFill>
              <a:effectLst/>
              <a:uFillTx/>
              <a:latin typeface="Arial"/>
            </a:endParaRPr>
          </a:p>
        </p:txBody>
      </p:sp>
      <p:sp>
        <p:nvSpPr>
          <p:cNvPr id="488" name="Shape 14"/>
          <p:cNvSpPr/>
          <p:nvPr/>
        </p:nvSpPr>
        <p:spPr>
          <a:xfrm>
            <a:off x="2807280" y="3079876"/>
            <a:ext cx="4416120" cy="4568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9" name="Text 15"/>
          <p:cNvSpPr/>
          <p:nvPr/>
        </p:nvSpPr>
        <p:spPr>
          <a:xfrm>
            <a:off x="2917080" y="3182040"/>
            <a:ext cx="41968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US" sz="1300" dirty="0">
                <a:solidFill>
                  <a:srgbClr val="111827"/>
                </a:solidFill>
                <a:ea typeface="+mn-lt"/>
                <a:cs typeface="+mn-lt"/>
              </a:rPr>
              <a:t>https://github.com/Srikanth-ECE/smart-helmet.git</a:t>
            </a:r>
            <a:endParaRPr lang="en-US" dirty="0">
              <a:ea typeface="+mn-lt"/>
              <a:cs typeface="+mn-lt"/>
            </a:endParaRPr>
          </a:p>
        </p:txBody>
      </p:sp>
      <p:sp>
        <p:nvSpPr>
          <p:cNvPr id="490" name="Text 16"/>
          <p:cNvSpPr/>
          <p:nvPr/>
        </p:nvSpPr>
        <p:spPr>
          <a:xfrm>
            <a:off x="914400" y="3648600"/>
            <a:ext cx="189252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4B5563"/>
                </a:solidFill>
                <a:effectLst/>
                <a:uFillTx/>
                <a:latin typeface="Calibri"/>
                <a:ea typeface="Calibri"/>
              </a:rPr>
              <a:t>Build files (CAD/PCB)</a:t>
            </a:r>
            <a:endParaRPr lang="en-US" sz="1300" b="0" u="none" strike="noStrike">
              <a:solidFill>
                <a:srgbClr val="000000"/>
              </a:solidFill>
              <a:effectLst/>
              <a:uFillTx/>
              <a:latin typeface="Arial"/>
            </a:endParaRPr>
          </a:p>
        </p:txBody>
      </p:sp>
      <p:sp>
        <p:nvSpPr>
          <p:cNvPr id="491" name="Shape 17"/>
          <p:cNvSpPr/>
          <p:nvPr/>
        </p:nvSpPr>
        <p:spPr>
          <a:xfrm>
            <a:off x="2807280" y="3703320"/>
            <a:ext cx="4416120" cy="4568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2" name="Text 18"/>
          <p:cNvSpPr/>
          <p:nvPr/>
        </p:nvSpPr>
        <p:spPr>
          <a:xfrm>
            <a:off x="2917080" y="3749040"/>
            <a:ext cx="41968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US" sz="1300">
                <a:solidFill>
                  <a:srgbClr val="111827"/>
                </a:solidFill>
                <a:ea typeface="+mn-lt"/>
                <a:cs typeface="+mn-lt"/>
              </a:rPr>
              <a:t>Not applicable (software-only web platform).</a:t>
            </a:r>
            <a:endParaRPr lang="en-US"/>
          </a:p>
        </p:txBody>
      </p:sp>
      <p:sp>
        <p:nvSpPr>
          <p:cNvPr id="493" name="Text 19"/>
          <p:cNvSpPr/>
          <p:nvPr/>
        </p:nvSpPr>
        <p:spPr>
          <a:xfrm>
            <a:off x="914400" y="4215240"/>
            <a:ext cx="189252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4B5563"/>
                </a:solidFill>
                <a:effectLst/>
                <a:uFillTx/>
                <a:latin typeface="Calibri"/>
                <a:ea typeface="Calibri"/>
              </a:rPr>
              <a:t>Dataset / logs</a:t>
            </a:r>
            <a:endParaRPr lang="en-US" sz="1300" b="0" u="none" strike="noStrike">
              <a:solidFill>
                <a:srgbClr val="000000"/>
              </a:solidFill>
              <a:effectLst/>
              <a:uFillTx/>
              <a:latin typeface="Arial"/>
            </a:endParaRPr>
          </a:p>
        </p:txBody>
      </p:sp>
      <p:sp>
        <p:nvSpPr>
          <p:cNvPr id="494" name="Shape 20"/>
          <p:cNvSpPr/>
          <p:nvPr/>
        </p:nvSpPr>
        <p:spPr>
          <a:xfrm>
            <a:off x="2807280" y="4270320"/>
            <a:ext cx="4416120" cy="4568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5" name="Text 21"/>
          <p:cNvSpPr/>
          <p:nvPr/>
        </p:nvSpPr>
        <p:spPr>
          <a:xfrm>
            <a:off x="2917080" y="4316040"/>
            <a:ext cx="41968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en-US" sz="1300">
                <a:solidFill>
                  <a:srgbClr val="111827"/>
                </a:solidFill>
                <a:ea typeface="+mn-lt"/>
                <a:cs typeface="+mn-lt"/>
              </a:rPr>
              <a:t>Sample user profiles, session logs, and feedback data used for testing.</a:t>
            </a:r>
            <a:endParaRPr lang="en-US"/>
          </a:p>
        </p:txBody>
      </p:sp>
      <p:sp>
        <p:nvSpPr>
          <p:cNvPr id="496" name="Text 22"/>
          <p:cNvSpPr/>
          <p:nvPr/>
        </p:nvSpPr>
        <p:spPr>
          <a:xfrm>
            <a:off x="914400" y="4782240"/>
            <a:ext cx="189252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1" u="none" strike="noStrike">
                <a:solidFill>
                  <a:srgbClr val="4B5563"/>
                </a:solidFill>
                <a:effectLst/>
                <a:uFillTx/>
                <a:latin typeface="Calibri"/>
                <a:ea typeface="Calibri"/>
              </a:rPr>
              <a:t>Release / version</a:t>
            </a:r>
            <a:endParaRPr lang="en-US" sz="1300" b="0" u="none" strike="noStrike">
              <a:solidFill>
                <a:srgbClr val="000000"/>
              </a:solidFill>
              <a:effectLst/>
              <a:uFillTx/>
              <a:latin typeface="Arial"/>
            </a:endParaRPr>
          </a:p>
        </p:txBody>
      </p:sp>
      <p:sp>
        <p:nvSpPr>
          <p:cNvPr id="497" name="Shape 23"/>
          <p:cNvSpPr/>
          <p:nvPr/>
        </p:nvSpPr>
        <p:spPr>
          <a:xfrm>
            <a:off x="2807280" y="4837320"/>
            <a:ext cx="4416120" cy="45684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8" name="Text 24"/>
          <p:cNvSpPr/>
          <p:nvPr/>
        </p:nvSpPr>
        <p:spPr>
          <a:xfrm>
            <a:off x="2917080" y="4883040"/>
            <a:ext cx="41968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00" b="0" u="none" strike="noStrike">
                <a:solidFill>
                  <a:srgbClr val="111827"/>
                </a:solidFill>
                <a:effectLst/>
                <a:uFillTx/>
                <a:latin typeface="Calibri"/>
                <a:ea typeface="Calibri"/>
              </a:rPr>
              <a:t>[v1.0-prototype]</a:t>
            </a:r>
            <a:endParaRPr lang="en-US" sz="1300" b="0" u="none" strike="noStrike">
              <a:solidFill>
                <a:srgbClr val="000000"/>
              </a:solidFill>
              <a:effectLst/>
              <a:uFillTx/>
              <a:latin typeface="Arial"/>
            </a:endParaRPr>
          </a:p>
        </p:txBody>
      </p:sp>
      <p:sp>
        <p:nvSpPr>
          <p:cNvPr id="503" name="Text 29"/>
          <p:cNvSpPr/>
          <p:nvPr/>
        </p:nvSpPr>
        <p:spPr>
          <a:xfrm>
            <a:off x="8458200" y="5440680"/>
            <a:ext cx="242280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100" b="0" i="1" u="none" strike="noStrike">
              <a:solidFill>
                <a:srgbClr val="6B7280"/>
              </a:solidFill>
              <a:effectLst/>
              <a:uFillTx/>
              <a:latin typeface="Calibri"/>
              <a:ea typeface="Calibri"/>
              <a:cs typeface="Calibri"/>
            </a:endParaRPr>
          </a:p>
        </p:txBody>
      </p:sp>
      <p:sp>
        <p:nvSpPr>
          <p:cNvPr id="504" name="Shape 30"/>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5" name="Text 31"/>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506" name="Text 32"/>
          <p:cNvSpPr/>
          <p:nvPr/>
        </p:nvSpPr>
        <p:spPr>
          <a:xfrm>
            <a:off x="10881000" y="6620400"/>
            <a:ext cx="71604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18/23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8"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9"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510"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1"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RISK</a:t>
            </a:r>
            <a:endParaRPr lang="en-US" sz="1200" b="0" u="none" strike="noStrike">
              <a:solidFill>
                <a:srgbClr val="000000"/>
              </a:solidFill>
              <a:effectLst/>
              <a:uFillTx/>
              <a:latin typeface="Arial"/>
            </a:endParaRPr>
          </a:p>
        </p:txBody>
      </p:sp>
      <p:sp>
        <p:nvSpPr>
          <p:cNvPr id="512"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Risks, Limitations &amp; Mitigations</a:t>
            </a:r>
            <a:endParaRPr lang="en-US" sz="3200" b="0" u="none" strike="noStrike">
              <a:solidFill>
                <a:srgbClr val="000000"/>
              </a:solidFill>
              <a:effectLst/>
              <a:uFillTx/>
              <a:latin typeface="Arial"/>
            </a:endParaRPr>
          </a:p>
        </p:txBody>
      </p:sp>
      <p:sp>
        <p:nvSpPr>
          <p:cNvPr id="514" name="Shape 7"/>
          <p:cNvSpPr/>
          <p:nvPr/>
        </p:nvSpPr>
        <p:spPr>
          <a:xfrm>
            <a:off x="594360" y="1920240"/>
            <a:ext cx="373032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5" name="Text 8"/>
          <p:cNvSpPr/>
          <p:nvPr/>
        </p:nvSpPr>
        <p:spPr>
          <a:xfrm>
            <a:off x="704160" y="2011680"/>
            <a:ext cx="351108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Risk / limitation</a:t>
            </a:r>
            <a:endParaRPr lang="en-US" sz="1200" b="0" u="none" strike="noStrike">
              <a:solidFill>
                <a:srgbClr val="000000"/>
              </a:solidFill>
              <a:effectLst/>
              <a:uFillTx/>
              <a:latin typeface="Arial"/>
            </a:endParaRPr>
          </a:p>
        </p:txBody>
      </p:sp>
      <p:sp>
        <p:nvSpPr>
          <p:cNvPr id="516" name="Shape 9"/>
          <p:cNvSpPr/>
          <p:nvPr/>
        </p:nvSpPr>
        <p:spPr>
          <a:xfrm>
            <a:off x="4325040" y="1920240"/>
            <a:ext cx="19746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7" name="Text 10"/>
          <p:cNvSpPr/>
          <p:nvPr/>
        </p:nvSpPr>
        <p:spPr>
          <a:xfrm>
            <a:off x="4434840" y="2011680"/>
            <a:ext cx="17553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Impact (L/M/H)</a:t>
            </a:r>
            <a:endParaRPr lang="en-US" sz="1200" b="0" u="none" strike="noStrike">
              <a:solidFill>
                <a:srgbClr val="000000"/>
              </a:solidFill>
              <a:effectLst/>
              <a:uFillTx/>
              <a:latin typeface="Arial"/>
            </a:endParaRPr>
          </a:p>
        </p:txBody>
      </p:sp>
      <p:sp>
        <p:nvSpPr>
          <p:cNvPr id="518" name="Shape 11"/>
          <p:cNvSpPr/>
          <p:nvPr/>
        </p:nvSpPr>
        <p:spPr>
          <a:xfrm>
            <a:off x="6300360" y="1920240"/>
            <a:ext cx="197460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9" name="Text 12"/>
          <p:cNvSpPr/>
          <p:nvPr/>
        </p:nvSpPr>
        <p:spPr>
          <a:xfrm>
            <a:off x="6409800" y="2011680"/>
            <a:ext cx="175536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Likelihood</a:t>
            </a:r>
            <a:endParaRPr lang="en-US" sz="1200" b="0" u="none" strike="noStrike">
              <a:solidFill>
                <a:srgbClr val="000000"/>
              </a:solidFill>
              <a:effectLst/>
              <a:uFillTx/>
              <a:latin typeface="Arial"/>
            </a:endParaRPr>
          </a:p>
        </p:txBody>
      </p:sp>
      <p:sp>
        <p:nvSpPr>
          <p:cNvPr id="520" name="Shape 13"/>
          <p:cNvSpPr/>
          <p:nvPr/>
        </p:nvSpPr>
        <p:spPr>
          <a:xfrm>
            <a:off x="8275320" y="1920240"/>
            <a:ext cx="3291480" cy="456840"/>
          </a:xfrm>
          <a:prstGeom prst="rect">
            <a:avLst/>
          </a:prstGeom>
          <a:solidFill>
            <a:srgbClr val="0B2E4A"/>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1" name="Text 14"/>
          <p:cNvSpPr/>
          <p:nvPr/>
        </p:nvSpPr>
        <p:spPr>
          <a:xfrm>
            <a:off x="8385120" y="2011680"/>
            <a:ext cx="307188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en-US" sz="1200" b="1" u="none" strike="noStrike">
                <a:solidFill>
                  <a:srgbClr val="FFFFFF"/>
                </a:solidFill>
                <a:effectLst/>
                <a:uFillTx/>
                <a:latin typeface="Calibri"/>
                <a:ea typeface="Calibri"/>
              </a:rPr>
              <a:t>Mitigation / next action</a:t>
            </a:r>
            <a:endParaRPr lang="en-US" sz="1200" b="0" u="none" strike="noStrike">
              <a:solidFill>
                <a:srgbClr val="000000"/>
              </a:solidFill>
              <a:effectLst/>
              <a:uFillTx/>
              <a:latin typeface="Arial"/>
            </a:endParaRPr>
          </a:p>
        </p:txBody>
      </p:sp>
      <p:sp>
        <p:nvSpPr>
          <p:cNvPr id="522" name="Shape 15"/>
          <p:cNvSpPr/>
          <p:nvPr/>
        </p:nvSpPr>
        <p:spPr>
          <a:xfrm>
            <a:off x="594360" y="2377440"/>
            <a:ext cx="373032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Sensor false positives</a:t>
            </a:r>
            <a:endParaRPr lang="en-US" dirty="0"/>
          </a:p>
        </p:txBody>
      </p:sp>
      <p:sp>
        <p:nvSpPr>
          <p:cNvPr id="523" name="Shape 16"/>
          <p:cNvSpPr/>
          <p:nvPr/>
        </p:nvSpPr>
        <p:spPr>
          <a:xfrm>
            <a:off x="4325040" y="237744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Medium</a:t>
            </a:r>
          </a:p>
        </p:txBody>
      </p:sp>
      <p:sp>
        <p:nvSpPr>
          <p:cNvPr id="524" name="Shape 17"/>
          <p:cNvSpPr/>
          <p:nvPr/>
        </p:nvSpPr>
        <p:spPr>
          <a:xfrm>
            <a:off x="6300360" y="237744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Medium</a:t>
            </a:r>
            <a:endParaRPr lang="en-US"/>
          </a:p>
        </p:txBody>
      </p:sp>
      <p:sp>
        <p:nvSpPr>
          <p:cNvPr id="525" name="Shape 18"/>
          <p:cNvSpPr/>
          <p:nvPr/>
        </p:nvSpPr>
        <p:spPr>
          <a:xfrm>
            <a:off x="8275320" y="2377440"/>
            <a:ext cx="329148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Calibrate MQ3 sensor and fine-tune thresholds</a:t>
            </a:r>
          </a:p>
        </p:txBody>
      </p:sp>
      <p:sp>
        <p:nvSpPr>
          <p:cNvPr id="526" name="Shape 19"/>
          <p:cNvSpPr/>
          <p:nvPr/>
        </p:nvSpPr>
        <p:spPr>
          <a:xfrm>
            <a:off x="594360" y="3145680"/>
            <a:ext cx="373032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GSM alert delay</a:t>
            </a:r>
            <a:endParaRPr lang="en-US" dirty="0"/>
          </a:p>
        </p:txBody>
      </p:sp>
      <p:sp>
        <p:nvSpPr>
          <p:cNvPr id="527" name="Shape 20"/>
          <p:cNvSpPr/>
          <p:nvPr/>
        </p:nvSpPr>
        <p:spPr>
          <a:xfrm>
            <a:off x="4325040" y="3145680"/>
            <a:ext cx="197460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Medium</a:t>
            </a:r>
          </a:p>
        </p:txBody>
      </p:sp>
      <p:sp>
        <p:nvSpPr>
          <p:cNvPr id="528" name="Shape 21"/>
          <p:cNvSpPr/>
          <p:nvPr/>
        </p:nvSpPr>
        <p:spPr>
          <a:xfrm>
            <a:off x="6300360" y="3145680"/>
            <a:ext cx="197460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Medium</a:t>
            </a:r>
          </a:p>
        </p:txBody>
      </p:sp>
      <p:sp>
        <p:nvSpPr>
          <p:cNvPr id="529" name="Shape 22"/>
          <p:cNvSpPr/>
          <p:nvPr/>
        </p:nvSpPr>
        <p:spPr>
          <a:xfrm>
            <a:off x="8275320" y="3145680"/>
            <a:ext cx="3291480" cy="76788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dirty="0"/>
              <a:t>Retry logic and network testing</a:t>
            </a:r>
          </a:p>
        </p:txBody>
      </p:sp>
      <p:sp>
        <p:nvSpPr>
          <p:cNvPr id="530" name="Shape 23"/>
          <p:cNvSpPr/>
          <p:nvPr/>
        </p:nvSpPr>
        <p:spPr>
          <a:xfrm>
            <a:off x="594360" y="3913560"/>
            <a:ext cx="373032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Sensor accuracy variation</a:t>
            </a:r>
            <a:endParaRPr lang="en-US" dirty="0"/>
          </a:p>
        </p:txBody>
      </p:sp>
      <p:sp>
        <p:nvSpPr>
          <p:cNvPr id="531" name="Shape 24"/>
          <p:cNvSpPr/>
          <p:nvPr/>
        </p:nvSpPr>
        <p:spPr>
          <a:xfrm>
            <a:off x="4325040" y="391356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solidFill>
                  <a:srgbClr val="000000"/>
                </a:solidFill>
                <a:ea typeface="+mn-lt"/>
                <a:cs typeface="+mn-lt"/>
              </a:rPr>
              <a:t>Medium</a:t>
            </a:r>
            <a:endParaRPr lang="en-US"/>
          </a:p>
        </p:txBody>
      </p:sp>
      <p:sp>
        <p:nvSpPr>
          <p:cNvPr id="532" name="Shape 25"/>
          <p:cNvSpPr/>
          <p:nvPr/>
        </p:nvSpPr>
        <p:spPr>
          <a:xfrm>
            <a:off x="6300360" y="3913560"/>
            <a:ext cx="197460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a:t>Low</a:t>
            </a:r>
            <a:endParaRPr lang="en-US" sz="1800" b="0" u="none" strike="noStrike">
              <a:solidFill>
                <a:srgbClr val="000000"/>
              </a:solidFill>
              <a:effectLst/>
              <a:uFillTx/>
              <a:latin typeface="Arial"/>
            </a:endParaRPr>
          </a:p>
        </p:txBody>
      </p:sp>
      <p:sp>
        <p:nvSpPr>
          <p:cNvPr id="533" name="Shape 26"/>
          <p:cNvSpPr/>
          <p:nvPr/>
        </p:nvSpPr>
        <p:spPr>
          <a:xfrm>
            <a:off x="8275320" y="3913560"/>
            <a:ext cx="3291480" cy="767880"/>
          </a:xfrm>
          <a:prstGeom prst="rect">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dirty="0"/>
              <a:t>Test under multiple conditions</a:t>
            </a:r>
            <a:endParaRPr lang="en-US" dirty="0">
              <a:ea typeface="+mn-lt"/>
              <a:cs typeface="+mn-lt"/>
            </a:endParaRPr>
          </a:p>
        </p:txBody>
      </p:sp>
      <p:sp>
        <p:nvSpPr>
          <p:cNvPr id="542" name="Text 35"/>
          <p:cNvSpPr/>
          <p:nvPr/>
        </p:nvSpPr>
        <p:spPr>
          <a:xfrm>
            <a:off x="594360" y="6236280"/>
            <a:ext cx="10972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0" i="1" u="none" strike="noStrike">
                <a:solidFill>
                  <a:srgbClr val="6B7280"/>
                </a:solidFill>
                <a:effectLst/>
                <a:uFillTx/>
                <a:latin typeface="Calibri"/>
                <a:ea typeface="Calibri"/>
              </a:rPr>
              <a:t>Include: data access, safety, privacy, integration, performance, stakeholder approvals.</a:t>
            </a:r>
            <a:endParaRPr lang="en-US" sz="1200" b="0" u="none" strike="noStrike">
              <a:solidFill>
                <a:srgbClr val="000000"/>
              </a:solidFill>
              <a:effectLst/>
              <a:uFillTx/>
              <a:latin typeface="Arial"/>
            </a:endParaRPr>
          </a:p>
        </p:txBody>
      </p:sp>
      <p:sp>
        <p:nvSpPr>
          <p:cNvPr id="543" name="Shape 36"/>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4" name="Text 37"/>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545" name="Text 38"/>
          <p:cNvSpPr/>
          <p:nvPr/>
        </p:nvSpPr>
        <p:spPr>
          <a:xfrm>
            <a:off x="10853057" y="6620400"/>
            <a:ext cx="743982" cy="210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19/23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7"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8"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549"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50"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DECISION</a:t>
            </a:r>
            <a:endParaRPr lang="en-US" sz="1200" b="0" u="none" strike="noStrike">
              <a:solidFill>
                <a:srgbClr val="000000"/>
              </a:solidFill>
              <a:effectLst/>
              <a:uFillTx/>
              <a:latin typeface="Arial"/>
            </a:endParaRPr>
          </a:p>
        </p:txBody>
      </p:sp>
      <p:sp>
        <p:nvSpPr>
          <p:cNvPr id="551"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Go / Refine / Pivot &amp; Next Steps → MVP</a:t>
            </a:r>
            <a:endParaRPr lang="en-US" sz="3200" b="0" u="none" strike="noStrike">
              <a:solidFill>
                <a:srgbClr val="000000"/>
              </a:solidFill>
              <a:effectLst/>
              <a:uFillTx/>
              <a:latin typeface="Arial"/>
            </a:endParaRPr>
          </a:p>
        </p:txBody>
      </p:sp>
      <p:sp>
        <p:nvSpPr>
          <p:cNvPr id="552" name="Text 6"/>
          <p:cNvSpPr/>
          <p:nvPr/>
        </p:nvSpPr>
        <p:spPr>
          <a:xfrm>
            <a:off x="594360" y="141732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4B5563"/>
                </a:solidFill>
                <a:effectLst/>
                <a:uFillTx/>
                <a:latin typeface="Calibri"/>
                <a:ea typeface="Calibri"/>
              </a:rPr>
              <a:t>Decision must be tied to evidence (not opinion).</a:t>
            </a:r>
            <a:endParaRPr lang="en-US" sz="1600" b="0" u="none" strike="noStrike">
              <a:solidFill>
                <a:srgbClr val="000000"/>
              </a:solidFill>
              <a:effectLst/>
              <a:uFillTx/>
              <a:latin typeface="Arial"/>
            </a:endParaRPr>
          </a:p>
        </p:txBody>
      </p:sp>
      <p:sp>
        <p:nvSpPr>
          <p:cNvPr id="553" name="Shape 7"/>
          <p:cNvSpPr/>
          <p:nvPr/>
        </p:nvSpPr>
        <p:spPr>
          <a:xfrm>
            <a:off x="594360" y="1874520"/>
            <a:ext cx="5668920" cy="45259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4" name="Text 8"/>
          <p:cNvSpPr/>
          <p:nvPr/>
        </p:nvSpPr>
        <p:spPr>
          <a:xfrm>
            <a:off x="850320" y="2039040"/>
            <a:ext cx="515700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400" b="1" u="none" strike="noStrike" dirty="0">
                <a:solidFill>
                  <a:srgbClr val="111827"/>
                </a:solidFill>
                <a:effectLst/>
                <a:uFillTx/>
                <a:latin typeface="Calibri"/>
                <a:ea typeface="Calibri"/>
              </a:rPr>
              <a:t>Decision (fill)</a:t>
            </a:r>
            <a:endParaRPr lang="en-US" sz="2400" b="0" u="none" strike="noStrike" dirty="0">
              <a:solidFill>
                <a:srgbClr val="000000"/>
              </a:solidFill>
              <a:effectLst/>
              <a:uFillTx/>
              <a:latin typeface="Arial"/>
            </a:endParaRPr>
          </a:p>
        </p:txBody>
      </p:sp>
      <p:sp>
        <p:nvSpPr>
          <p:cNvPr id="555" name="Text 9"/>
          <p:cNvSpPr/>
          <p:nvPr/>
        </p:nvSpPr>
        <p:spPr>
          <a:xfrm>
            <a:off x="850320" y="2377440"/>
            <a:ext cx="5245680" cy="384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sz="2200" b="1" dirty="0"/>
              <a:t>Rationale (based on evidence):</a:t>
            </a:r>
          </a:p>
          <a:p>
            <a:r>
              <a:rPr lang="en-IN" sz="2200" dirty="0"/>
              <a:t>End-to-end prototype flow validated</a:t>
            </a:r>
            <a:br>
              <a:rPr lang="en-IN" sz="2200" dirty="0"/>
            </a:br>
            <a:r>
              <a:rPr lang="en-IN" sz="2200" i="1" dirty="0"/>
              <a:t>(sensing → processing → alert)</a:t>
            </a:r>
            <a:endParaRPr lang="en-IN" sz="2200" dirty="0"/>
          </a:p>
          <a:p>
            <a:r>
              <a:rPr lang="en-IN" sz="2200" dirty="0"/>
              <a:t>Stable alcohol and crash detection achieved</a:t>
            </a:r>
          </a:p>
          <a:p>
            <a:r>
              <a:rPr lang="en-IN" sz="2200" dirty="0"/>
              <a:t>Alerts triggered consistently during test runs</a:t>
            </a:r>
          </a:p>
          <a:p>
            <a:endParaRPr lang="en-IN" sz="2200" dirty="0"/>
          </a:p>
          <a:p>
            <a:r>
              <a:rPr lang="en-IN" sz="2200" b="1" dirty="0"/>
              <a:t>Evidence Metrics:</a:t>
            </a:r>
          </a:p>
          <a:p>
            <a:r>
              <a:rPr lang="en-IN" sz="2200" dirty="0"/>
              <a:t>Alcohol detection accuracy ≥90%</a:t>
            </a:r>
          </a:p>
          <a:p>
            <a:r>
              <a:rPr lang="en-IN" sz="2200" dirty="0"/>
              <a:t>Alert response time ≤5 seconds (p95)</a:t>
            </a:r>
          </a:p>
          <a:p>
            <a:r>
              <a:rPr lang="en-IN" sz="2200" dirty="0"/>
              <a:t>No critical failures during live demo</a:t>
            </a:r>
          </a:p>
        </p:txBody>
      </p:sp>
      <p:sp>
        <p:nvSpPr>
          <p:cNvPr id="556" name="Shape 10"/>
          <p:cNvSpPr/>
          <p:nvPr/>
        </p:nvSpPr>
        <p:spPr>
          <a:xfrm>
            <a:off x="6519240" y="1874520"/>
            <a:ext cx="5348880" cy="4525920"/>
          </a:xfrm>
          <a:prstGeom prst="roundRect">
            <a:avLst>
              <a:gd name="adj" fmla="val 16667"/>
            </a:avLst>
          </a:prstGeom>
          <a:solidFill>
            <a:srgbClr val="FFFFFF"/>
          </a:solidFill>
          <a:ln w="12700">
            <a:solidFill>
              <a:srgbClr val="E5E7EB"/>
            </a:solidFill>
            <a:round/>
          </a:ln>
          <a:effectLst>
            <a:outerShdw blurRad="28080" dist="19855" dir="2700000" algn="bl" rotWithShape="0">
              <a:srgbClr val="000000">
                <a:alpha val="16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7" name="Text 11"/>
          <p:cNvSpPr/>
          <p:nvPr/>
        </p:nvSpPr>
        <p:spPr>
          <a:xfrm>
            <a:off x="6793920" y="2039040"/>
            <a:ext cx="483696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dirty="0">
                <a:solidFill>
                  <a:srgbClr val="111827"/>
                </a:solidFill>
                <a:effectLst/>
                <a:uFillTx/>
                <a:latin typeface="Calibri"/>
                <a:ea typeface="Calibri"/>
              </a:rPr>
              <a:t>Next steps toward MVP (not MVP itself)</a:t>
            </a:r>
            <a:endParaRPr lang="en-US" sz="2000" b="0" u="none" strike="noStrike" dirty="0">
              <a:solidFill>
                <a:srgbClr val="000000"/>
              </a:solidFill>
              <a:effectLst/>
              <a:uFillTx/>
              <a:latin typeface="Arial"/>
            </a:endParaRPr>
          </a:p>
        </p:txBody>
      </p:sp>
      <p:sp>
        <p:nvSpPr>
          <p:cNvPr id="558" name="Text 12"/>
          <p:cNvSpPr/>
          <p:nvPr/>
        </p:nvSpPr>
        <p:spPr>
          <a:xfrm>
            <a:off x="6537960" y="2377440"/>
            <a:ext cx="5092920" cy="384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IN" sz="2400" dirty="0"/>
              <a:t>Integrate vehicle ignition control (relay-based)</a:t>
            </a:r>
          </a:p>
          <a:p>
            <a:r>
              <a:rPr lang="en-IN" sz="2400" dirty="0"/>
              <a:t>Add GPS-based location sharing</a:t>
            </a:r>
          </a:p>
          <a:p>
            <a:r>
              <a:rPr lang="en-IN" sz="2400" dirty="0"/>
              <a:t>Miniaturize hardware for helmet integration</a:t>
            </a:r>
          </a:p>
          <a:p>
            <a:endParaRPr lang="en-IN" sz="2400" dirty="0"/>
          </a:p>
          <a:p>
            <a:r>
              <a:rPr lang="en-IN" sz="2400" b="1" dirty="0"/>
              <a:t>KPIs to Track</a:t>
            </a:r>
          </a:p>
          <a:p>
            <a:r>
              <a:rPr lang="en-IN" sz="2400" dirty="0"/>
              <a:t>Detection accuracy</a:t>
            </a:r>
          </a:p>
          <a:p>
            <a:r>
              <a:rPr lang="en-IN" sz="2400" dirty="0"/>
              <a:t>Alert response time</a:t>
            </a:r>
          </a:p>
          <a:p>
            <a:r>
              <a:rPr lang="en-IN" sz="2400" dirty="0"/>
              <a:t>System uptime during extended testing</a:t>
            </a:r>
          </a:p>
        </p:txBody>
      </p:sp>
      <p:sp>
        <p:nvSpPr>
          <p:cNvPr id="560" name="Shape 14"/>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61" name="Text 15"/>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562" name="Text 16"/>
          <p:cNvSpPr/>
          <p:nvPr/>
        </p:nvSpPr>
        <p:spPr>
          <a:xfrm>
            <a:off x="10874828" y="6620400"/>
            <a:ext cx="722211" cy="237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20/23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 name="Shape 0"/>
          <p:cNvSpPr/>
          <p:nvPr/>
        </p:nvSpPr>
        <p:spPr>
          <a:xfrm>
            <a:off x="0" y="0"/>
            <a:ext cx="12191400" cy="566640"/>
          </a:xfrm>
          <a:prstGeom prst="rect">
            <a:avLst/>
          </a:prstGeom>
          <a:solidFill>
            <a:srgbClr val="0B2E4A"/>
          </a:solidFill>
          <a:ln w="12700">
            <a:solidFill>
              <a:srgbClr val="0B2E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4" name="Shape 1"/>
          <p:cNvSpPr/>
          <p:nvPr/>
        </p:nvSpPr>
        <p:spPr>
          <a:xfrm>
            <a:off x="0" y="0"/>
            <a:ext cx="145800" cy="566640"/>
          </a:xfrm>
          <a:prstGeom prst="rect">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5" name="Text 2"/>
          <p:cNvSpPr/>
          <p:nvPr/>
        </p:nvSpPr>
        <p:spPr>
          <a:xfrm>
            <a:off x="594360" y="109800"/>
            <a:ext cx="11002680" cy="31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400" b="1" u="none" strike="noStrike">
                <a:solidFill>
                  <a:srgbClr val="FFFFFF"/>
                </a:solidFill>
                <a:effectLst/>
                <a:uFillTx/>
                <a:latin typeface="Calibri"/>
                <a:ea typeface="Calibri"/>
              </a:rPr>
              <a:t>SoI Innovation Pipeline</a:t>
            </a:r>
            <a:endParaRPr lang="en-US" sz="1400" b="0" u="none" strike="noStrike">
              <a:solidFill>
                <a:srgbClr val="000000"/>
              </a:solidFill>
              <a:effectLst/>
              <a:uFillTx/>
              <a:latin typeface="Arial"/>
            </a:endParaRPr>
          </a:p>
        </p:txBody>
      </p:sp>
      <p:sp>
        <p:nvSpPr>
          <p:cNvPr id="566" name="Shape 3"/>
          <p:cNvSpPr/>
          <p:nvPr/>
        </p:nvSpPr>
        <p:spPr>
          <a:xfrm>
            <a:off x="594360" y="658440"/>
            <a:ext cx="1919880" cy="292320"/>
          </a:xfrm>
          <a:prstGeom prst="roundRect">
            <a:avLst>
              <a:gd name="adj" fmla="val 16667"/>
            </a:avLst>
          </a:prstGeom>
          <a:solidFill>
            <a:srgbClr val="2F6FB3"/>
          </a:solidFill>
          <a:ln w="12700">
            <a:solidFill>
              <a:srgbClr val="2F6FB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7" name="Text 4"/>
          <p:cNvSpPr/>
          <p:nvPr/>
        </p:nvSpPr>
        <p:spPr>
          <a:xfrm>
            <a:off x="594360" y="704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REFS</a:t>
            </a:r>
            <a:endParaRPr lang="en-US" sz="1200" b="0" u="none" strike="noStrike">
              <a:solidFill>
                <a:srgbClr val="000000"/>
              </a:solidFill>
              <a:effectLst/>
              <a:uFillTx/>
              <a:latin typeface="Arial"/>
            </a:endParaRPr>
          </a:p>
        </p:txBody>
      </p:sp>
      <p:sp>
        <p:nvSpPr>
          <p:cNvPr id="568" name="Text 5"/>
          <p:cNvSpPr/>
          <p:nvPr/>
        </p:nvSpPr>
        <p:spPr>
          <a:xfrm>
            <a:off x="594360" y="822960"/>
            <a:ext cx="11002680"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200" b="1" u="none" strike="noStrike">
                <a:solidFill>
                  <a:srgbClr val="111827"/>
                </a:solidFill>
                <a:effectLst/>
                <a:uFillTx/>
                <a:latin typeface="Calibri"/>
                <a:ea typeface="Calibri"/>
              </a:rPr>
              <a:t>References</a:t>
            </a:r>
            <a:endParaRPr lang="en-US" sz="3200" b="0" u="none" strike="noStrike">
              <a:solidFill>
                <a:srgbClr val="000000"/>
              </a:solidFill>
              <a:effectLst/>
              <a:uFillTx/>
              <a:latin typeface="Arial"/>
            </a:endParaRPr>
          </a:p>
        </p:txBody>
      </p:sp>
      <p:sp>
        <p:nvSpPr>
          <p:cNvPr id="569" name="Text 6"/>
          <p:cNvSpPr/>
          <p:nvPr/>
        </p:nvSpPr>
        <p:spPr>
          <a:xfrm>
            <a:off x="594360" y="1417320"/>
            <a:ext cx="11002680" cy="36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4B5563"/>
                </a:solidFill>
                <a:effectLst/>
                <a:uFillTx/>
                <a:latin typeface="Calibri"/>
                <a:ea typeface="Calibri"/>
              </a:rPr>
              <a:t>Cite datasets, papers, APIs, libraries, and external assets.</a:t>
            </a:r>
            <a:endParaRPr lang="en-US" sz="1600" b="0" u="none" strike="noStrike">
              <a:solidFill>
                <a:srgbClr val="000000"/>
              </a:solidFill>
              <a:effectLst/>
              <a:uFillTx/>
              <a:latin typeface="Arial"/>
            </a:endParaRPr>
          </a:p>
        </p:txBody>
      </p:sp>
      <p:sp>
        <p:nvSpPr>
          <p:cNvPr id="571" name="Text 8"/>
          <p:cNvSpPr/>
          <p:nvPr/>
        </p:nvSpPr>
        <p:spPr>
          <a:xfrm>
            <a:off x="777240" y="2075760"/>
            <a:ext cx="10606680" cy="4260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a:ea typeface="Calibri"/>
              <a:cs typeface="Calibri"/>
            </a:endParaRPr>
          </a:p>
        </p:txBody>
      </p:sp>
      <p:sp>
        <p:nvSpPr>
          <p:cNvPr id="573" name="Shape 10"/>
          <p:cNvSpPr/>
          <p:nvPr/>
        </p:nvSpPr>
        <p:spPr>
          <a:xfrm>
            <a:off x="0" y="6565320"/>
            <a:ext cx="12191400" cy="292320"/>
          </a:xfrm>
          <a:prstGeom prst="rect">
            <a:avLst/>
          </a:prstGeom>
          <a:solidFill>
            <a:srgbClr val="FFFFFF"/>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4" name="Text 11"/>
          <p:cNvSpPr/>
          <p:nvPr/>
        </p:nvSpPr>
        <p:spPr>
          <a:xfrm>
            <a:off x="594360" y="6620400"/>
            <a:ext cx="11002680"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u="none" strike="noStrike">
                <a:solidFill>
                  <a:srgbClr val="6B7280"/>
                </a:solidFill>
                <a:effectLst/>
                <a:uFillTx/>
                <a:latin typeface="Calibri"/>
                <a:ea typeface="Calibri"/>
              </a:rPr>
              <a:t>SoI Prototype Stage — Submission Deck</a:t>
            </a:r>
            <a:endParaRPr lang="en-US" sz="1000" b="0" u="none" strike="noStrike">
              <a:solidFill>
                <a:srgbClr val="000000"/>
              </a:solidFill>
              <a:effectLst/>
              <a:uFillTx/>
              <a:latin typeface="Arial"/>
            </a:endParaRPr>
          </a:p>
        </p:txBody>
      </p:sp>
      <p:sp>
        <p:nvSpPr>
          <p:cNvPr id="575" name="Text 12"/>
          <p:cNvSpPr/>
          <p:nvPr/>
        </p:nvSpPr>
        <p:spPr>
          <a:xfrm>
            <a:off x="10961914" y="6620400"/>
            <a:ext cx="635126" cy="20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sz="1100"/>
              <a:t>21/23</a:t>
            </a:r>
          </a:p>
        </p:txBody>
      </p:sp>
      <p:sp>
        <p:nvSpPr>
          <p:cNvPr id="2" name="Rectangle 1">
            <a:extLst>
              <a:ext uri="{FF2B5EF4-FFF2-40B4-BE49-F238E27FC236}">
                <a16:creationId xmlns:a16="http://schemas.microsoft.com/office/drawing/2014/main" id="{DF6675A2-9751-5885-031D-792DA05644AC}"/>
              </a:ext>
            </a:extLst>
          </p:cNvPr>
          <p:cNvSpPr>
            <a:spLocks noChangeArrowheads="1"/>
          </p:cNvSpPr>
          <p:nvPr/>
        </p:nvSpPr>
        <p:spPr bwMode="auto">
          <a:xfrm>
            <a:off x="777240" y="2064722"/>
            <a:ext cx="1159764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MQ-3 Alcohol Sensor Datasheet</a:t>
            </a:r>
            <a:r>
              <a:rPr kumimoji="0" lang="en-US" altLang="en-US" sz="1800" b="0" i="0" u="none" strike="noStrike" cap="none" normalizeH="0" baseline="0" dirty="0">
                <a:ln>
                  <a:noFill/>
                </a:ln>
                <a:solidFill>
                  <a:schemeClr val="tx1"/>
                </a:solidFill>
                <a:effectLst/>
                <a:latin typeface="Arial" panose="020B0604020202020204" pitchFamily="34" charset="0"/>
              </a:rPr>
              <a:t> — Alcohol detection characteristics and calibration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3"/>
              </a:rPr>
              <a:t>https://www.pololu.com/file/0j310/mq3.pdf</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ESP32 Technical Reference Manual</a:t>
            </a:r>
            <a:r>
              <a:rPr kumimoji="0" lang="en-US" altLang="en-US" sz="1800" b="0" i="0" u="none" strike="noStrike" cap="none" normalizeH="0" baseline="0" dirty="0">
                <a:ln>
                  <a:noFill/>
                </a:ln>
                <a:solidFill>
                  <a:schemeClr val="tx1"/>
                </a:solidFill>
                <a:effectLst/>
                <a:latin typeface="Arial" panose="020B0604020202020204" pitchFamily="34" charset="0"/>
              </a:rPr>
              <a:t> — Microcontroller features and GPIO usage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https://www.espressif.com/en/products/socs/esp32/resources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MPU6050 Accelerometer &amp; Gyroscope Datasheet</a:t>
            </a:r>
            <a:r>
              <a:rPr kumimoji="0" lang="en-US" altLang="en-US" sz="1800" b="0" i="0" u="none" strike="noStrike" cap="none" normalizeH="0" baseline="0" dirty="0">
                <a:ln>
                  <a:noFill/>
                </a:ln>
                <a:solidFill>
                  <a:schemeClr val="tx1"/>
                </a:solidFill>
                <a:effectLst/>
                <a:latin typeface="Arial" panose="020B0604020202020204" pitchFamily="34" charset="0"/>
              </a:rPr>
              <a:t> — Motion and crash detection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https://invensense.tdk.com/products/motion-tracking/6-axis/mpu-6050/</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SIM800L GSM Module Documentation</a:t>
            </a:r>
            <a:r>
              <a:rPr kumimoji="0" lang="en-US" altLang="en-US" sz="1800" b="0" i="0" u="none" strike="noStrike" cap="none" normalizeH="0" baseline="0" dirty="0">
                <a:ln>
                  <a:noFill/>
                </a:ln>
                <a:solidFill>
                  <a:schemeClr val="tx1"/>
                </a:solidFill>
                <a:effectLst/>
                <a:latin typeface="Arial" panose="020B0604020202020204" pitchFamily="34" charset="0"/>
              </a:rPr>
              <a:t> — SMS-based alert communication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https://simcom.ee/documents/SIM800L/</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Research Paper: Ignition Interlock Device for Motorcycles</a:t>
            </a:r>
            <a:r>
              <a:rPr kumimoji="0" lang="en-US" altLang="en-US" sz="1800" b="0" i="0" u="none" strike="noStrike" cap="none" normalizeH="0" baseline="0" dirty="0">
                <a:ln>
                  <a:noFill/>
                </a:ln>
                <a:solidFill>
                  <a:schemeClr val="tx1"/>
                </a:solidFill>
                <a:effectLst/>
                <a:latin typeface="Arial" panose="020B0604020202020204" pitchFamily="34" charset="0"/>
              </a:rPr>
              <a:t> — Concept feasibility and challenges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7"/>
              </a:rPr>
              <a:t>https://www.researchgate.net/publication/326446749_Ignition_Interlock_Device_for_Motorcycles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AD9324C02AF684081B0638F841F77A7" ma:contentTypeVersion="11" ma:contentTypeDescription="Create a new document." ma:contentTypeScope="" ma:versionID="1b13ff4ea17d3374a00a7341d7b90113">
  <xsd:schema xmlns:xsd="http://www.w3.org/2001/XMLSchema" xmlns:xs="http://www.w3.org/2001/XMLSchema" xmlns:p="http://schemas.microsoft.com/office/2006/metadata/properties" xmlns:ns2="8f4bcbf8-e4fe-49fe-9064-aa6724e1aff7" xmlns:ns3="83df3408-28af-437f-b204-b64d5303919d" targetNamespace="http://schemas.microsoft.com/office/2006/metadata/properties" ma:root="true" ma:fieldsID="222875a54dc1d524ea3fa857575deade" ns2:_="" ns3:_="">
    <xsd:import namespace="8f4bcbf8-e4fe-49fe-9064-aa6724e1aff7"/>
    <xsd:import namespace="83df3408-28af-437f-b204-b64d530391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4bcbf8-e4fe-49fe-9064-aa6724e1af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7d36ee0-516a-46d7-9c37-891188aa7a36"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df3408-28af-437f-b204-b64d5303919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7261d6e-d725-4d9d-b8b3-d7d7b2a3ce19}" ma:internalName="TaxCatchAll" ma:showField="CatchAllData" ma:web="83df3408-28af-437f-b204-b64d530391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f4bcbf8-e4fe-49fe-9064-aa6724e1aff7">
      <Terms xmlns="http://schemas.microsoft.com/office/infopath/2007/PartnerControls"/>
    </lcf76f155ced4ddcb4097134ff3c332f>
    <TaxCatchAll xmlns="83df3408-28af-437f-b204-b64d5303919d" xsi:nil="true"/>
  </documentManagement>
</p:properties>
</file>

<file path=customXml/itemProps1.xml><?xml version="1.0" encoding="utf-8"?>
<ds:datastoreItem xmlns:ds="http://schemas.openxmlformats.org/officeDocument/2006/customXml" ds:itemID="{43204B68-5F55-42A9-8C1A-F12F7C518977}">
  <ds:schemaRefs>
    <ds:schemaRef ds:uri="83df3408-28af-437f-b204-b64d5303919d"/>
    <ds:schemaRef ds:uri="8f4bcbf8-e4fe-49fe-9064-aa6724e1aff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0FD2371-FB4E-47C0-87B5-C051B9AC3E01}">
  <ds:schemaRefs>
    <ds:schemaRef ds:uri="http://schemas.microsoft.com/sharepoint/v3/contenttype/forms"/>
  </ds:schemaRefs>
</ds:datastoreItem>
</file>

<file path=customXml/itemProps3.xml><?xml version="1.0" encoding="utf-8"?>
<ds:datastoreItem xmlns:ds="http://schemas.openxmlformats.org/officeDocument/2006/customXml" ds:itemID="{CD21D785-60B4-4286-8C4E-9EABFB07EBE9}">
  <ds:schemaRefs>
    <ds:schemaRef ds:uri="83df3408-28af-437f-b204-b64d5303919d"/>
    <ds:schemaRef ds:uri="8f4bcbf8-e4fe-49fe-9064-aa6724e1aff7"/>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314</TotalTime>
  <Words>1963</Words>
  <Application>Microsoft Office PowerPoint</Application>
  <PresentationFormat>Widescreen</PresentationFormat>
  <Paragraphs>341</Paragraphs>
  <Slides>16</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Thiruvaazhi Uloli</dc:creator>
  <cp:lastModifiedBy>sk srikanth</cp:lastModifiedBy>
  <cp:revision>16</cp:revision>
  <dcterms:modified xsi:type="dcterms:W3CDTF">2026-02-05T09:09:44Z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2025-12-25T17:28:54Z</dcterms:created>
  <dc:creator>SoI Projects</dc:creator>
  <dc:description/>
  <dc:language>en-US</dc:language>
  <cp:lastModifiedBy>SoI Projects</cp:lastModifiedBy>
  <dcterms:modified xsi:type="dcterms:W3CDTF">2025-12-25T17:28:54Z</dcterms:modified>
  <cp:revision>1</cp:revision>
  <dc:subject>SoI Prototype Stage</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On-screen Show (16:9)</vt:lpwstr>
  </property>
  <property fmtid="{D5CDD505-2E9C-101B-9397-08002B2CF9AE}" pid="4" name="Slides">
    <vt:r8>21</vt:r8>
  </property>
  <property fmtid="{D5CDD505-2E9C-101B-9397-08002B2CF9AE}" pid="5" name="ContentTypeId">
    <vt:lpwstr>0x0101004AD9324C02AF684081B0638F841F77A7</vt:lpwstr>
  </property>
  <property fmtid="{D5CDD505-2E9C-101B-9397-08002B2CF9AE}" pid="6" name="MediaServiceImageTags">
    <vt:lpwstr/>
  </property>
</Properties>
</file>