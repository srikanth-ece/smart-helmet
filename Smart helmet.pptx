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5"/>
  </p:notesMasterIdLst>
  <p:sldIdLst>
    <p:sldId id="256" r:id="rId5"/>
    <p:sldId id="258" r:id="rId6"/>
    <p:sldId id="267" r:id="rId7"/>
    <p:sldId id="268" r:id="rId8"/>
    <p:sldId id="269" r:id="rId9"/>
    <p:sldId id="259" r:id="rId10"/>
    <p:sldId id="261" r:id="rId11"/>
    <p:sldId id="262" r:id="rId12"/>
    <p:sldId id="263" r:id="rId13"/>
    <p:sldId id="265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A16583-A825-7D18-2A4C-C205C67AB328}" v="171" dt="2025-09-16T04:06:14.151"/>
    <p1510:client id="{275AF5A4-3130-2A92-0D77-06B71819D166}" v="3" dt="2025-09-16T04:32:47.741"/>
    <p1510:client id="{2E562E43-93B1-14C6-4CD3-9E5C7D0DCA09}" v="365" dt="2025-09-16T04:12:27.423"/>
    <p1510:client id="{3839BAAF-2344-9016-624C-ABAC5159C8D7}" v="7" dt="2025-09-17T03:04:55.817"/>
    <p1510:client id="{395F1EA3-96D5-2AC1-77E3-AB9FFDA3C53C}" v="35" dt="2025-09-16T02:58:04.630"/>
    <p1510:client id="{40ED718B-2F61-6329-FC63-715EED4D0D68}" v="2" dt="2025-09-16T04:55:32.302"/>
    <p1510:client id="{4F7CE7E4-98AA-235B-9770-E5BCD84B27F8}" v="233" dt="2025-09-16T03:19:50.885"/>
    <p1510:client id="{752A3C73-2931-8988-BDEA-24452410E723}" v="44" dt="2025-09-16T03:04:24.445"/>
    <p1510:client id="{8B72D9E7-2C81-967C-1CE2-94CE456203DB}" v="110" dt="2025-09-17T03:34:13.630"/>
    <p1510:client id="{99509DC9-CE3C-D310-B312-2A475707FEC5}" v="117" dt="2025-09-16T04:11:08.357"/>
    <p1510:client id="{AC6840E1-8C4B-A180-F0DF-C0CB4B7C9EEE}" v="3" dt="2025-09-16T03:13:33.085"/>
    <p1510:client id="{FB24CDA9-8750-AF73-6FCF-F7B237DCE487}" v="54" dt="2025-09-16T02:48:34.79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54" d="100"/>
          <a:sy n="54" d="100"/>
        </p:scale>
        <p:origin x="2043" y="6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D6B968-9307-4FCD-B53D-E94D757EBAC2}" type="datetimeFigureOut">
              <a:rPr lang="en-IN" smtClean="0"/>
              <a:t>17-09-2025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5AB76E-7194-47E7-A9B6-B48A91EE78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82558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 Sep 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 Sep 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 Sep 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 Sep 2025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 Sep 2025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 Sep 2025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 Sep 2025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 Sep 2025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 Sep 2025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 Sep 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 Sep 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10 Sep 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74077" y="981564"/>
            <a:ext cx="7772400" cy="1470025"/>
          </a:xfrm>
        </p:spPr>
        <p:txBody>
          <a:bodyPr/>
          <a:lstStyle/>
          <a:p>
            <a:r>
              <a:t>SoI Student Project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59877" y="2913185"/>
            <a:ext cx="6400800" cy="1752600"/>
          </a:xfrm>
        </p:spPr>
        <p:txBody>
          <a:bodyPr vert="horz" lIns="91440" tIns="45720" rIns="91440" bIns="45720" rtlCol="0" anchor="t">
            <a:noAutofit/>
          </a:bodyPr>
          <a:lstStyle/>
          <a:p>
            <a:pPr lvl="1"/>
            <a:r>
              <a:rPr lang="en-IN" sz="2000" b="1" dirty="0"/>
              <a:t>Smart Helmet for Rider Safety using IoT &amp; Sensors</a:t>
            </a:r>
          </a:p>
          <a:p>
            <a:pPr lvl="1"/>
            <a:r>
              <a:rPr lang="en-US" sz="20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Team: META-HACKS | Lead:</a:t>
            </a:r>
            <a:r>
              <a:rPr lang="en-GB" sz="20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 RAGHUL G</a:t>
            </a:r>
          </a:p>
          <a:p>
            <a:pPr lvl="1"/>
            <a:r>
              <a:rPr lang="en-GB" sz="20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Members</a:t>
            </a:r>
            <a:r>
              <a:rPr lang="en-US" sz="20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: NANDHA KUMAR C S, SANJAY T M, VISHNU VARDHAN A, SRIKANTH M</a:t>
            </a:r>
          </a:p>
          <a:p>
            <a:pPr lvl="1"/>
            <a:r>
              <a:rPr lang="en-US" sz="2000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SoI</a:t>
            </a:r>
            <a:r>
              <a:rPr lang="en-US" sz="20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Mentor: SRI RAM.R | </a:t>
            </a:r>
            <a:r>
              <a:rPr lang="en-IN" sz="2000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SoI</a:t>
            </a:r>
            <a:r>
              <a:rPr lang="en-IN" sz="20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Vertical: EI</a:t>
            </a:r>
            <a:r>
              <a:rPr lang="en-US" sz="20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|</a:t>
            </a:r>
            <a:endParaRPr lang="en-IN" sz="20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lvl="1"/>
            <a:r>
              <a:rPr lang="en-US" sz="20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Cohort/Batch: 2024 -  2028</a:t>
            </a:r>
            <a:endParaRPr lang="en-US" sz="2000" i="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D4F345-D588-019F-33ED-31300B042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 Sep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60261"/>
            <a:ext cx="8229600" cy="1114245"/>
          </a:xfrm>
        </p:spPr>
        <p:txBody>
          <a:bodyPr/>
          <a:lstStyle/>
          <a:p>
            <a:r>
              <a:t>Problem &amp; End User Identification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2785" y="1388713"/>
            <a:ext cx="8761562" cy="4580133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None/>
            </a:pPr>
            <a:r>
              <a:rPr lang="en-US" sz="2000" b="1" dirty="0">
                <a:ea typeface="+mn-lt"/>
                <a:cs typeface="+mn-lt"/>
              </a:rPr>
              <a:t>Problem:</a:t>
            </a:r>
            <a:br>
              <a:rPr lang="en-US" sz="2000" b="1" dirty="0">
                <a:ea typeface="+mn-lt"/>
                <a:cs typeface="+mn-lt"/>
              </a:rPr>
            </a:br>
            <a:r>
              <a:rPr lang="en-US" sz="2000" b="1" dirty="0">
                <a:ea typeface="+mn-lt"/>
                <a:cs typeface="+mn-lt"/>
              </a:rPr>
              <a:t> </a:t>
            </a:r>
            <a:r>
              <a:rPr lang="en-US" sz="2000" dirty="0"/>
              <a:t>Road safety is a </a:t>
            </a:r>
            <a:r>
              <a:rPr lang="en-US" sz="2000" b="1" dirty="0"/>
              <a:t>critical challenge in India</a:t>
            </a:r>
            <a:r>
              <a:rPr lang="en-US" sz="2000" dirty="0"/>
              <a:t>, with millions of riders depending on two-wheelers. Many fatalities occur due to </a:t>
            </a:r>
            <a:r>
              <a:rPr lang="en-US" sz="2000" b="1" dirty="0"/>
              <a:t>alcohol consumption, drowsiness, and delayed medical response</a:t>
            </a:r>
            <a:r>
              <a:rPr lang="en-US" sz="2000" dirty="0"/>
              <a:t>. Current helmets only offer </a:t>
            </a:r>
            <a:r>
              <a:rPr lang="en-US" sz="2000" b="1" dirty="0"/>
              <a:t>passive protection</a:t>
            </a:r>
            <a:r>
              <a:rPr lang="en-US" sz="2000" dirty="0"/>
              <a:t>, not </a:t>
            </a:r>
            <a:r>
              <a:rPr lang="en-US" sz="2000" b="1" dirty="0"/>
              <a:t>active accident prevention or emergency support</a:t>
            </a:r>
            <a:r>
              <a:rPr lang="en-US" sz="2000" dirty="0"/>
              <a:t>.</a:t>
            </a:r>
            <a:endParaRPr lang="en-US" sz="2000" b="1" dirty="0">
              <a:ea typeface="+mn-lt"/>
              <a:cs typeface="+mn-lt"/>
            </a:endParaRPr>
          </a:p>
          <a:p>
            <a:pPr>
              <a:buNone/>
            </a:pPr>
            <a:r>
              <a:rPr lang="en-US" sz="2000" b="1" dirty="0">
                <a:ea typeface="+mn-lt"/>
                <a:cs typeface="+mn-lt"/>
              </a:rPr>
              <a:t>End Users</a:t>
            </a:r>
          </a:p>
          <a:p>
            <a:pPr>
              <a:buNone/>
            </a:pPr>
            <a:endParaRPr lang="en-US" sz="1800" dirty="0">
              <a:ea typeface="Calibri"/>
              <a:cs typeface="Calibri"/>
            </a:endParaRPr>
          </a:p>
          <a:p>
            <a:pPr lvl="1">
              <a:buNone/>
            </a:pPr>
            <a:endParaRPr lang="en-US" sz="1800" dirty="0">
              <a:ea typeface="Calibri"/>
              <a:cs typeface="Calibri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211C09-4453-61F4-3C58-BFFA37015E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 Sep 2025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7ACB3933-7D3B-D460-2172-7FE9F2CCD9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6948" y="3429000"/>
            <a:ext cx="7515840" cy="25237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Primary Users: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Two-wheeler riders who need enhanced safety.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Secondary Users: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Families of riders (who receive alerts).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Traffic police (to detect violations).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Hospitals &amp; emergency services (for immediate rescue).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Government authorities (to reduce road fatalities).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358A8-8CFC-F148-1429-A001F0062C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89657"/>
            <a:ext cx="8229600" cy="1459301"/>
          </a:xfrm>
        </p:spPr>
        <p:txBody>
          <a:bodyPr>
            <a:normAutofit/>
          </a:bodyPr>
          <a:lstStyle/>
          <a:p>
            <a:pPr algn="l">
              <a:spcBef>
                <a:spcPct val="20000"/>
              </a:spcBef>
            </a:pPr>
            <a:r>
              <a:rPr lang="en-US" sz="3600">
                <a:ea typeface="Calibri"/>
                <a:cs typeface="Calibri"/>
              </a:rPr>
              <a:t>What situation triggers the problem?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39540-E9EB-3304-6E97-CB3B5A8999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15219"/>
            <a:ext cx="8229600" cy="4410944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None/>
            </a:pPr>
            <a:endParaRPr lang="en-US" sz="2000" dirty="0">
              <a:ea typeface="+mn-lt"/>
              <a:cs typeface="+mn-lt"/>
            </a:endParaRPr>
          </a:p>
          <a:p>
            <a:pPr>
              <a:buNone/>
            </a:pPr>
            <a:r>
              <a:rPr lang="en-US" sz="2200" dirty="0"/>
              <a:t>The problem is triggered when riders operate two-wheelers under the influence of alcohol, leading to impaired judgment and accidents.</a:t>
            </a:r>
          </a:p>
          <a:p>
            <a:r>
              <a:rPr lang="en-US" sz="2200" b="1" dirty="0"/>
              <a:t>Alcohol consumption before or while driving</a:t>
            </a:r>
            <a:r>
              <a:rPr lang="en-US" sz="2200" dirty="0"/>
              <a:t> → causes accidents.</a:t>
            </a:r>
          </a:p>
          <a:p>
            <a:r>
              <a:rPr lang="en-US" sz="2200" b="1" dirty="0"/>
              <a:t>Rider fatigue or drowsiness</a:t>
            </a:r>
            <a:r>
              <a:rPr lang="en-US" sz="2200" dirty="0"/>
              <a:t> → loss of focus on the road.</a:t>
            </a:r>
          </a:p>
          <a:p>
            <a:r>
              <a:rPr lang="en-US" sz="2200" b="1" dirty="0"/>
              <a:t>Accidents in remote areas</a:t>
            </a:r>
            <a:r>
              <a:rPr lang="en-US" sz="2200" dirty="0"/>
              <a:t> → rider may be unconscious, delaying medical help.</a:t>
            </a:r>
          </a:p>
          <a:p>
            <a:r>
              <a:rPr lang="en-US" sz="2200" b="1" dirty="0"/>
              <a:t>No existing helmet feature</a:t>
            </a:r>
            <a:r>
              <a:rPr lang="en-US" sz="2200" dirty="0"/>
              <a:t> to automatically notify emergency contacts.</a:t>
            </a:r>
          </a:p>
          <a:p>
            <a:r>
              <a:rPr lang="en-US" sz="2200" b="1" dirty="0"/>
              <a:t>Rapid urbanization &amp; high two-wheeler dependency</a:t>
            </a:r>
            <a:r>
              <a:rPr lang="en-US" sz="2200" dirty="0"/>
              <a:t> → increases accident risks.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151761-A54D-515A-E59D-AA64AF6083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 Sep 2025</a:t>
            </a:r>
          </a:p>
        </p:txBody>
      </p:sp>
    </p:spTree>
    <p:extLst>
      <p:ext uri="{BB962C8B-B14F-4D97-AF65-F5344CB8AC3E}">
        <p14:creationId xmlns:p14="http://schemas.microsoft.com/office/powerpoint/2010/main" val="6404118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7F7AF-77AC-435E-E9BC-16C0687FD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>
              <a:spcBef>
                <a:spcPct val="20000"/>
              </a:spcBef>
            </a:pPr>
            <a:r>
              <a:rPr lang="en-US" sz="3600">
                <a:ea typeface="Calibri"/>
                <a:cs typeface="Calibri"/>
              </a:rPr>
              <a:t>Evidence of problem existence: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DF0C94-0266-F904-9642-4ADAE24BF7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 Sep 2025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68BE35CD-D361-B8E0-EB09-9CED613541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086" y="1925469"/>
            <a:ext cx="8859914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WHO Report (2023):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India accounts for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11% of global road deaths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MoRTH Data (2022):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Over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1.5 lakh deaths/year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due to road accidents.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Alcohol-related accidents: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Account for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16% of road crashes in India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Surveys: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Riders and families want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proactive safety solutions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Research Gap: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Most helmets only provide </a:t>
            </a:r>
            <a:r>
              <a:rPr kumimoji="0" lang="en-US" altLang="en-US" sz="2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impact resistance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;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IoT-enabled helmets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are rare in adoption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470811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66F2E-6511-042A-8E87-418B05537B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spcBef>
                <a:spcPct val="20000"/>
              </a:spcBef>
            </a:pPr>
            <a:r>
              <a:rPr lang="en-US" sz="4000">
                <a:ea typeface="Calibri"/>
                <a:cs typeface="Calibri"/>
              </a:rPr>
              <a:t>Success metric(s): </a:t>
            </a:r>
            <a:endParaRPr lang="en-US"/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B59DEF-A7A8-D7CF-B387-B0F4F48969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54419"/>
            <a:ext cx="8229600" cy="5273585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400" b="1" dirty="0"/>
              <a:t>Accident Prevention:</a:t>
            </a:r>
            <a:r>
              <a:rPr lang="en-US" sz="2400" dirty="0"/>
              <a:t> Reduction in drunk/fatigue-related crashes.</a:t>
            </a:r>
          </a:p>
          <a:p>
            <a:r>
              <a:rPr lang="en-US" sz="2400" b="1" dirty="0"/>
              <a:t>Emergency Response Time:</a:t>
            </a:r>
            <a:r>
              <a:rPr lang="en-US" sz="2400" dirty="0"/>
              <a:t> Immediate SMS/GSM alerts sent to families or hospitals.</a:t>
            </a:r>
          </a:p>
          <a:p>
            <a:r>
              <a:rPr lang="en-US" sz="2400" b="1" dirty="0"/>
              <a:t>System Reliability:</a:t>
            </a:r>
            <a:r>
              <a:rPr lang="en-US" sz="2400" dirty="0"/>
              <a:t> IoT-based monitoring with low failure rates.</a:t>
            </a:r>
          </a:p>
          <a:p>
            <a:r>
              <a:rPr lang="en-US" sz="2400" b="1" dirty="0"/>
              <a:t>User Acceptance:</a:t>
            </a:r>
            <a:r>
              <a:rPr lang="en-US" sz="2400" dirty="0"/>
              <a:t> Comfortable, affordable, and easy-to-use helmet.</a:t>
            </a:r>
          </a:p>
          <a:p>
            <a:r>
              <a:rPr lang="en-US" sz="2400" b="1" dirty="0"/>
              <a:t>Scalability:</a:t>
            </a:r>
            <a:r>
              <a:rPr lang="en-US" sz="2400" dirty="0"/>
              <a:t> Can be adopted widely in urban &amp; rural regions.</a:t>
            </a:r>
          </a:p>
          <a:p>
            <a:r>
              <a:rPr lang="en-US" sz="2400" b="1" dirty="0"/>
              <a:t>Sustainability:</a:t>
            </a:r>
            <a:r>
              <a:rPr lang="en-US" sz="2400" dirty="0"/>
              <a:t> Supports </a:t>
            </a:r>
            <a:r>
              <a:rPr lang="en-US" sz="2400" i="1" dirty="0"/>
              <a:t>Digital India</a:t>
            </a:r>
            <a:r>
              <a:rPr lang="en-US" sz="2400" dirty="0"/>
              <a:t> and </a:t>
            </a:r>
            <a:r>
              <a:rPr lang="en-US" sz="2400" i="1" dirty="0"/>
              <a:t>Smart City</a:t>
            </a:r>
            <a:r>
              <a:rPr lang="en-US" sz="2400" dirty="0"/>
              <a:t> initiatives.</a:t>
            </a: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628870-6A4D-1D92-A410-27C009000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 Sep 2025</a:t>
            </a:r>
          </a:p>
        </p:txBody>
      </p:sp>
    </p:spTree>
    <p:extLst>
      <p:ext uri="{BB962C8B-B14F-4D97-AF65-F5344CB8AC3E}">
        <p14:creationId xmlns:p14="http://schemas.microsoft.com/office/powerpoint/2010/main" val="35944875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Description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98864"/>
            <a:ext cx="8229600" cy="5333260"/>
          </a:xfrm>
        </p:spPr>
        <p:txBody>
          <a:bodyPr vert="horz" lIns="91440" tIns="45720" rIns="91440" bIns="45720" rtlCol="0" anchor="t">
            <a:noAutofit/>
          </a:bodyPr>
          <a:lstStyle/>
          <a:p>
            <a:endParaRPr lang="en-US" sz="2400" dirty="0">
              <a:solidFill>
                <a:srgbClr val="000000"/>
              </a:solidFill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2200" dirty="0"/>
              <a:t>A </a:t>
            </a:r>
            <a:r>
              <a:rPr lang="en-US" sz="2200" b="1" dirty="0"/>
              <a:t>traditional helmet</a:t>
            </a:r>
            <a:r>
              <a:rPr lang="en-US" sz="2200" dirty="0"/>
              <a:t> only protects during </a:t>
            </a:r>
            <a:r>
              <a:rPr lang="en-US" sz="2200" b="1" dirty="0"/>
              <a:t>impact</a:t>
            </a:r>
            <a:r>
              <a:rPr lang="en-US" sz="2200" dirty="0"/>
              <a:t>, but it does not prevent the cause of accidents or help after a crash.</a:t>
            </a:r>
          </a:p>
          <a:p>
            <a:r>
              <a:rPr lang="en-US" sz="2200" dirty="0"/>
              <a:t>The </a:t>
            </a:r>
            <a:r>
              <a:rPr lang="en-US" sz="2200" b="1" dirty="0"/>
              <a:t>Smart Helmet</a:t>
            </a:r>
            <a:r>
              <a:rPr lang="en-US" sz="2200" dirty="0"/>
              <a:t> introduces active safety features:</a:t>
            </a:r>
          </a:p>
          <a:p>
            <a:r>
              <a:rPr lang="en-US" sz="2200" b="1" dirty="0"/>
              <a:t>Alcohol detection sensor:</a:t>
            </a:r>
            <a:r>
              <a:rPr lang="en-US" sz="2200" dirty="0"/>
              <a:t> Prevents drunk driving.</a:t>
            </a:r>
          </a:p>
          <a:p>
            <a:r>
              <a:rPr lang="en-US" sz="2200" b="1" dirty="0"/>
              <a:t>Fatigue sensor (eye blink/heart rate):</a:t>
            </a:r>
            <a:r>
              <a:rPr lang="en-US" sz="2200" dirty="0"/>
              <a:t> Alerts rider if drowsy.</a:t>
            </a:r>
          </a:p>
          <a:p>
            <a:r>
              <a:rPr lang="en-US" sz="2200" b="1" dirty="0"/>
              <a:t>Crash detection (accelerometer/gyroscope):</a:t>
            </a:r>
            <a:r>
              <a:rPr lang="en-US" sz="2200" dirty="0"/>
              <a:t> Detects accidents instantly.</a:t>
            </a:r>
          </a:p>
          <a:p>
            <a:r>
              <a:rPr lang="en-US" sz="2200" b="1" dirty="0"/>
              <a:t>GSM/GPS module:</a:t>
            </a:r>
            <a:r>
              <a:rPr lang="en-US" sz="2200" dirty="0"/>
              <a:t> Sends emergency location &amp; rider status to family/hospitals.</a:t>
            </a:r>
          </a:p>
          <a:p>
            <a:r>
              <a:rPr lang="en-US" sz="2200" b="1" dirty="0"/>
              <a:t>IoT connectivity:</a:t>
            </a:r>
            <a:r>
              <a:rPr lang="en-US" sz="2200" dirty="0"/>
              <a:t> Enables real-time monitoring and data analysis.</a:t>
            </a:r>
          </a:p>
          <a:p>
            <a:r>
              <a:rPr lang="en-US" sz="2200" dirty="0"/>
              <a:t>Thus, the Smart Helmet is </a:t>
            </a:r>
            <a:r>
              <a:rPr lang="en-US" sz="2200" b="1" dirty="0"/>
              <a:t>not just protection gear, but a life-saving system</a:t>
            </a:r>
            <a:r>
              <a:rPr lang="en-US" sz="2200" dirty="0"/>
              <a:t>.</a:t>
            </a:r>
          </a:p>
          <a:p>
            <a:endParaRPr lang="en-US" sz="1800" dirty="0">
              <a:solidFill>
                <a:srgbClr val="000000"/>
              </a:solidFill>
              <a:ea typeface="Calibri"/>
              <a:cs typeface="Calibri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AC7CB9-EDB8-F2C3-9D5E-850BFD183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 Sep 2025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0744455"/>
              </p:ext>
            </p:extLst>
          </p:nvPr>
        </p:nvGraphicFramePr>
        <p:xfrm>
          <a:off x="457200" y="45720"/>
          <a:ext cx="8328936" cy="6766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27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35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89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461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875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89858">
                <a:tc>
                  <a:txBody>
                    <a:bodyPr/>
                    <a:lstStyle/>
                    <a:p>
                      <a:r>
                        <a:rPr b="1"/>
                        <a:t>Feature / Criteria</a:t>
                      </a:r>
                    </a:p>
                    <a:p>
                      <a:pPr lvl="0">
                        <a:buNone/>
                      </a:pPr>
                      <a:endParaRPr lang="en-US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/>
                        <a:t>Product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/>
                        <a:t>Product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/>
                        <a:t>Product 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Our Approach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89858">
                <a:tc>
                  <a:txBody>
                    <a:bodyPr/>
                    <a:lstStyle/>
                    <a:p>
                      <a:r>
                        <a:t>Target User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General two-wheeler riders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Riders needing call/music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Premium riders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All two-wheeler riders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89858">
                <a:tc>
                  <a:txBody>
                    <a:bodyPr/>
                    <a:lstStyle/>
                    <a:p>
                      <a:r>
                        <a:t>Core Function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Head protection only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Communication &amp; music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Basic crash alert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err="1"/>
                        <a:t>Alcohol</a:t>
                      </a:r>
                      <a:r>
                        <a:rPr lang="fr-FR" dirty="0"/>
                        <a:t> + Fatigue + Crash </a:t>
                      </a:r>
                      <a:r>
                        <a:rPr lang="fr-FR" dirty="0" err="1"/>
                        <a:t>detection</a:t>
                      </a:r>
                      <a:r>
                        <a:rPr lang="fr-FR" dirty="0"/>
                        <a:t> + IoT </a:t>
                      </a:r>
                      <a:r>
                        <a:rPr lang="fr-FR" dirty="0" err="1"/>
                        <a:t>alerts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2901">
                <a:tc>
                  <a:txBody>
                    <a:bodyPr/>
                    <a:lstStyle/>
                    <a:p>
                      <a:r>
                        <a:t>Accuracy/Performance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Low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Medium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Medium-high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High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2901">
                <a:tc>
                  <a:txBody>
                    <a:bodyPr/>
                    <a:lstStyle/>
                    <a:p>
                      <a:r>
                        <a:t>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₹800–2000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₹3000–6000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₹4000–7000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₹4000–8000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89858">
                <a:tc>
                  <a:txBody>
                    <a:bodyPr/>
                    <a:lstStyle/>
                    <a:p>
                      <a:r>
                        <a:t>Deployment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Widely available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Limited markets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Imported, rare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Local design, scalable in India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2901">
                <a:tc>
                  <a:txBody>
                    <a:bodyPr/>
                    <a:lstStyle/>
                    <a:p>
                      <a:r>
                        <a:t>Data/Privacy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None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Call/music data only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Limited IoT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dirty="0"/>
                        <a:t>Secure alerts via GSM/IoT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156816">
                <a:tc>
                  <a:txBody>
                    <a:bodyPr/>
                    <a:lstStyle/>
                    <a:p>
                      <a:r>
                        <a:t>Known Limitations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No smart features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Distraction risk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not locally available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Needs GSM coverage, early prototype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B1FB90-27F0-6B8C-342C-6273ED32F6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 Sep 2025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Our Unique Selling Proposition (USP)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b="1" dirty="0"/>
              <a:t>Value Proposition:</a:t>
            </a:r>
            <a:r>
              <a:rPr lang="en-US" dirty="0"/>
              <a:t> Smart helmet that </a:t>
            </a:r>
            <a:r>
              <a:rPr lang="en-US" b="1" dirty="0"/>
              <a:t>prevents accidents</a:t>
            </a:r>
            <a:r>
              <a:rPr lang="en-US" dirty="0"/>
              <a:t> and ensures </a:t>
            </a:r>
            <a:r>
              <a:rPr lang="en-US" b="1" dirty="0"/>
              <a:t>instant emergency alerts</a:t>
            </a:r>
            <a:r>
              <a:rPr lang="en-US" dirty="0"/>
              <a:t>.</a:t>
            </a:r>
          </a:p>
          <a:p>
            <a:r>
              <a:rPr lang="en-US" b="1" dirty="0"/>
              <a:t>Key Differentiators:</a:t>
            </a:r>
            <a:r>
              <a:rPr lang="en-US" dirty="0"/>
              <a:t> Alcohol detection • Fatigue monitoring • Crash alerts via GSM/GPS • IoT real-time monitoring • Affordable design.</a:t>
            </a:r>
          </a:p>
          <a:p>
            <a:r>
              <a:rPr lang="en-US" b="1" dirty="0"/>
              <a:t>Why Now:</a:t>
            </a:r>
            <a:r>
              <a:rPr lang="en-US" dirty="0"/>
              <a:t> Rising road accidents • Govt. push for smart safety • Low-cost IoT components available.</a:t>
            </a:r>
          </a:p>
          <a:p>
            <a:r>
              <a:rPr lang="en-US" b="1" dirty="0"/>
              <a:t>Evidence:</a:t>
            </a:r>
            <a:r>
              <a:rPr lang="en-US" dirty="0"/>
              <a:t> WHO &amp; MoRTH reports • Pilot studies show rider acceptance • Safety demand in smart cities.</a:t>
            </a:r>
          </a:p>
          <a:p>
            <a:r>
              <a:rPr lang="en-US" b="1" dirty="0"/>
              <a:t>Feasibility:</a:t>
            </a:r>
            <a:r>
              <a:rPr lang="en-US" dirty="0"/>
              <a:t> Uses ESP32, GSM, MQ3, MPU6050 • Proven IoT tech • Low integration risk.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DD1DC5-1FA6-2173-A07E-0C9B243B2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 Sep 2025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88845"/>
            <a:ext cx="8229600" cy="1143000"/>
          </a:xfrm>
        </p:spPr>
        <p:txBody>
          <a:bodyPr/>
          <a:lstStyle/>
          <a:p>
            <a:r>
              <a:rPr dirty="0"/>
              <a:t>Project Plan &amp; Timeline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1927893"/>
              </p:ext>
            </p:extLst>
          </p:nvPr>
        </p:nvGraphicFramePr>
        <p:xfrm>
          <a:off x="124286" y="683580"/>
          <a:ext cx="8886547" cy="6221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74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97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422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67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17589">
                <a:tc>
                  <a:txBody>
                    <a:bodyPr/>
                    <a:lstStyle/>
                    <a:p>
                      <a:r>
                        <a:rPr b="1"/>
                        <a:t>Phase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/>
                        <a:t>Start–End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/>
                        <a:t>Milestones/Deliverables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/>
                        <a:t>Evidence of Validation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82270">
                <a:tc>
                  <a:txBody>
                    <a:bodyPr/>
                    <a:lstStyle/>
                    <a:p>
                      <a:r>
                        <a:rPr dirty="0"/>
                        <a:t>Problem &amp; Customer Validation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SEP 2025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Accident statistics analysis, user interviews with riders, survey on helmet safety needs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WHO/MoRTH stats, survey results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82270">
                <a:tc>
                  <a:txBody>
                    <a:bodyPr/>
                    <a:lstStyle/>
                    <a:p>
                      <a:r>
                        <a:rPr dirty="0"/>
                        <a:t>Ideation (multiple concepts)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SEP 2025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Brainstormed multiple helmet concepts (alcohol detection, fatigue monitoring, crash alert, IoT integration)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Concept notes, mentor review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82270">
                <a:tc>
                  <a:txBody>
                    <a:bodyPr/>
                    <a:lstStyle/>
                    <a:p>
                      <a:r>
                        <a:rPr dirty="0"/>
                        <a:t>Proof of Concept (PoC)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OCT 2025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Breadboard setup with MQ3 alcohol sensor, MPU6050 accelerometer, GSM module connected to ESP32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Lab tests, SMS alerts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7589">
                <a:tc>
                  <a:txBody>
                    <a:bodyPr/>
                    <a:lstStyle/>
                    <a:p>
                      <a:r>
                        <a:rPr dirty="0"/>
                        <a:t>Prototype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JAN 2026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Integrated system inside helmet with sensors + ESP32 + GSM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Demo video, test results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46950">
                <a:tc>
                  <a:txBody>
                    <a:bodyPr/>
                    <a:lstStyle/>
                    <a:p>
                      <a:r>
                        <a:rPr dirty="0"/>
                        <a:t>Minimum Viable Product (MVP)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MAR 2026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Working smart helmet with all features (alcohol, fatigue, crash alert, IoT dashboard)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Field trials, user feedback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08959">
                <a:tc>
                  <a:txBody>
                    <a:bodyPr/>
                    <a:lstStyle/>
                    <a:p>
                      <a:r>
                        <a:rPr dirty="0"/>
                        <a:t>Final Product / Solution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MAY 2026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Fully functional helmet with ergonomic design, IoT monitoring, emergency alert integration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Final demo, report, validation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88CE1B-BF61-42AE-2607-4DD8BC4400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 Sep 2025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7E046D-3E37-AAF1-3FC6-69210E6E6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 Sep 2025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C12900CD-D8FC-B8E0-DE07-F62B25DFF14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68424" y="1496936"/>
            <a:ext cx="8003219" cy="1785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WHO Global Road Safety Report, 2023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MoRTH Road Accident Report, Govt. of India, 2022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IEEE research papers on IoT-based smart helmets.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Studies on alcohol and fatigue detection in transportation.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IoT &amp; embedded systems safety applications.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AD9324C02AF684081B0638F841F77A7" ma:contentTypeVersion="7" ma:contentTypeDescription="Create a new document." ma:contentTypeScope="" ma:versionID="34167c692540df5cdfea6741fa766840">
  <xsd:schema xmlns:xsd="http://www.w3.org/2001/XMLSchema" xmlns:xs="http://www.w3.org/2001/XMLSchema" xmlns:p="http://schemas.microsoft.com/office/2006/metadata/properties" xmlns:ns2="8f4bcbf8-e4fe-49fe-9064-aa6724e1aff7" targetNamespace="http://schemas.microsoft.com/office/2006/metadata/properties" ma:root="true" ma:fieldsID="94b216459a23529f925433b6a1c2b6ee" ns2:_="">
    <xsd:import namespace="8f4bcbf8-e4fe-49fe-9064-aa6724e1aff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f4bcbf8-e4fe-49fe-9064-aa6724e1aff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1D72F49-5F3C-4D71-AB91-42E9712889BE}">
  <ds:schemaRefs>
    <ds:schemaRef ds:uri="8f4bcbf8-e4fe-49fe-9064-aa6724e1aff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652D0EF4-0591-428F-A050-E87D1A412278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C05C212F-1E20-4A12-BFEC-503F6EE443B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957</Words>
  <Application>Microsoft Office PowerPoint</Application>
  <PresentationFormat>On-screen Show (4:3)</PresentationFormat>
  <Paragraphs>139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Calibri</vt:lpstr>
      <vt:lpstr>Office Theme</vt:lpstr>
      <vt:lpstr>SoI Student Project Review</vt:lpstr>
      <vt:lpstr>Problem &amp; End User Identification</vt:lpstr>
      <vt:lpstr>What situation triggers the problem?</vt:lpstr>
      <vt:lpstr>Evidence of problem existence:</vt:lpstr>
      <vt:lpstr>Success metric(s):  </vt:lpstr>
      <vt:lpstr>Problem Description </vt:lpstr>
      <vt:lpstr>PowerPoint Presentation</vt:lpstr>
      <vt:lpstr>Our Unique Selling Proposition (USP)</vt:lpstr>
      <vt:lpstr>Project Plan &amp; Timeline</vt:lpstr>
      <vt:lpstr>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Thiruvaazhi Uloli</dc:creator>
  <cp:keywords/>
  <dc:description>generated using python-pptx</dc:description>
  <cp:lastModifiedBy>sanjay sanjay</cp:lastModifiedBy>
  <cp:revision>2</cp:revision>
  <dcterms:created xsi:type="dcterms:W3CDTF">2013-01-27T09:14:16Z</dcterms:created>
  <dcterms:modified xsi:type="dcterms:W3CDTF">2025-09-17T04:28:28Z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0x0101004AD9324C02AF684081B0638F841F77A7</vt:lpwstr>
  </property>
</Properties>
</file>